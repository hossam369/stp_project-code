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C469-6883-84FA-97FC-0DF25D30A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20F54-EF13-422F-E771-FDC9D1B36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AC9D4-FA89-70A6-FACA-8E25C315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B3A1-D55A-242A-3AE4-EE0D31DC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3CA2-C0E6-8E2F-7E20-EF2BE7E0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1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E724-9CBA-7750-C7E8-7CB6F927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1EA71-329A-23CA-F9E4-19CF8FC1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4029-1E02-E403-D8AD-8579B0D4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457D6-C56A-B11B-8CEF-D4AA3C56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D8BD0-5666-5300-ED6F-C60442C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6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A886-3C85-6EC7-5028-6E90A63E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C043-2783-F903-0215-DDF631015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410E5-291C-F24E-4ED4-620B01B3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96CA4-F3DE-69D1-AF17-74522740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15848-8A39-1406-CCF7-247A7387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2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A96C-F646-A189-B51A-8B856529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D6F0-1DD3-944D-F1FF-05F6880C3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74E37-A1A3-7DE0-1E16-53D6B7065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56988-23F6-96B6-4C79-A3E24ACF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AD798-D235-198B-5E08-79181626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A42EE-9EF6-7B6B-EE5C-D3C09923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8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B145-AF25-89F7-C4F3-5A865D42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B9392-847A-9407-497A-08B39DB22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F604C-D5E4-5356-5720-938B3CE24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01776-5D61-C4F3-EFDC-B652FE295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E3E12-1CE5-3529-3919-641EC091E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BD0E2-DEE7-7815-6BD1-AD1D61DB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4E3DB-0386-F0F0-6838-A467B627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FD232-0E42-F792-E6A8-D1FD9089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8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6D78-9FB0-6D12-B9B8-3AC48EDF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A03A2-C2E2-EEEA-B630-422F8790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0E7FA-AD14-25F5-0A5F-12F558CE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02841-D80B-8005-CE32-FE97C5B0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5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69652-017F-1FED-5F43-B3CC989C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08D46-62E7-F843-BD14-E6DDBC93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A266A-8A87-3F27-286C-429886F9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526F-67D4-0B32-7751-7954640B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7664E-7EBF-1388-B376-174E646CE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C2403-0745-1207-2078-3B846A6D9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32CEB-996F-8D5D-4BE0-50EB80B7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E687C-5676-1571-4C75-041FD4C5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CF8B2-1552-15B9-2006-41CC5F52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5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6446-75E8-4335-8D83-6D9568E1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96790-2F4D-63F4-4A9E-6701B61DE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6A48C-FFE5-FD02-08A5-6BC895362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40453-3135-485D-610E-031C73F3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E09A7-3BF2-B4C1-1D66-25B20BC1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75A03-CFE1-F793-FA0B-49528BF8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0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976B-23FD-5659-0E3A-D8B5EF44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0CC06-F7B9-3916-6926-0440E62BC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85C8A-396F-7D1A-D2C7-E6688CCB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B650B-109E-DF8E-803C-05E987E8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65186-1A44-E3A9-1280-BB2789B1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9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ACE06-4490-D448-EAA9-4AE47B479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A174E-8E13-7676-11E4-236D594CF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99C5-29A7-86BD-55C7-7AEA809A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0932-659B-6EB9-F15C-2193FC78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93F2-4D53-9B2F-21E7-72508FB7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2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859BA-304B-F578-CE06-0933FD7B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1B92C-5419-AF87-7428-49C6DE7A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D4C35-E3C8-D1CE-AB3C-F9B28619A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3CA19-71D2-460A-A702-F2668997789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DFD0-E92C-A34A-491A-BA73CCB44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49480-8949-7984-6B5C-7BA640362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BA342-6912-48EF-903A-B0A1806A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3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A3D2-F055-C010-A683-5390A95E6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143955"/>
            <a:ext cx="9144000" cy="2387600"/>
          </a:xfrm>
        </p:spPr>
        <p:txBody>
          <a:bodyPr/>
          <a:lstStyle/>
          <a:p>
            <a:r>
              <a:rPr lang="en-US" dirty="0"/>
              <a:t>Taxi Fare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EE617-CB6D-A53E-91C3-B5726A13F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4" y="3318574"/>
            <a:ext cx="9144000" cy="942530"/>
          </a:xfrm>
        </p:spPr>
        <p:txBody>
          <a:bodyPr/>
          <a:lstStyle/>
          <a:p>
            <a:r>
              <a:rPr lang="en-US" dirty="0"/>
              <a:t>Data Analysis, Feature Engineering, and Predictive Modeling on NYC Taxi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CF566-F78C-760E-B548-6871A4505CC1}"/>
              </a:ext>
            </a:extLst>
          </p:cNvPr>
          <p:cNvSpPr txBox="1"/>
          <p:nvPr/>
        </p:nvSpPr>
        <p:spPr>
          <a:xfrm>
            <a:off x="1441704" y="4852339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Prepared by: </a:t>
            </a:r>
          </a:p>
          <a:p>
            <a:pPr lvl="1"/>
            <a:r>
              <a:rPr lang="en-US" dirty="0"/>
              <a:t>1-Hossam Nady Mohamed </a:t>
            </a:r>
          </a:p>
          <a:p>
            <a:pPr lvl="1"/>
            <a:r>
              <a:rPr lang="en-US" dirty="0"/>
              <a:t>2- Mohamed </a:t>
            </a:r>
            <a:r>
              <a:rPr lang="en-US" dirty="0" err="1"/>
              <a:t>naser</a:t>
            </a:r>
            <a:endParaRPr lang="en-US" dirty="0"/>
          </a:p>
          <a:p>
            <a:r>
              <a:rPr lang="en-US" dirty="0"/>
              <a:t>Date: 14/2/2026</a:t>
            </a:r>
          </a:p>
        </p:txBody>
      </p:sp>
    </p:spTree>
    <p:extLst>
      <p:ext uri="{BB962C8B-B14F-4D97-AF65-F5344CB8AC3E}">
        <p14:creationId xmlns:p14="http://schemas.microsoft.com/office/powerpoint/2010/main" val="16132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5094-5FF0-3646-076A-1EDEA94B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1-Project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F121-344E-D421-616F-E969EF85E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This project analyzes NYC taxi trip data to understand travel behavior and build machine learning models capable of predicting taxi fares accurately.</a:t>
            </a:r>
          </a:p>
          <a:p>
            <a:pPr>
              <a:buNone/>
            </a:pPr>
            <a:r>
              <a:rPr lang="en-US" dirty="0"/>
              <a:t>The work combines:</a:t>
            </a:r>
          </a:p>
          <a:p>
            <a:r>
              <a:rPr lang="en-US" dirty="0"/>
              <a:t>Data cleaning and preprocessing</a:t>
            </a:r>
          </a:p>
          <a:p>
            <a:r>
              <a:rPr lang="en-US" dirty="0"/>
              <a:t>Exploratory data analysis (EDA)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Machine learning modeling</a:t>
            </a:r>
          </a:p>
          <a:p>
            <a:r>
              <a:rPr lang="en-US" dirty="0"/>
              <a:t>Model evaluation and comparison</a:t>
            </a:r>
          </a:p>
          <a:p>
            <a:pPr>
              <a:buNone/>
            </a:pPr>
            <a:r>
              <a:rPr lang="en-US" dirty="0"/>
              <a:t>Goal: transform raw trip data into actionable pricing insights and predictive capability.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62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D814-A0D3-5563-053D-377A4538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365125"/>
            <a:ext cx="11960352" cy="117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1-Project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93E6D-4C6B-0346-8DB4-F5683092A866}"/>
              </a:ext>
            </a:extLst>
          </p:cNvPr>
          <p:cNvSpPr txBox="1"/>
          <p:nvPr/>
        </p:nvSpPr>
        <p:spPr>
          <a:xfrm>
            <a:off x="560070" y="1636776"/>
            <a:ext cx="113545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This project analyzes NYC taxi trip data to understand travel behavior and build machine learning models capable of predicting taxi fares accurately.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The work combines: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cleaning and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Exploratory data analysis (EDA)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Machine learning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Model evaluation and comparison</a:t>
            </a:r>
          </a:p>
          <a:p>
            <a:pPr>
              <a:buNone/>
            </a:pPr>
            <a:r>
              <a:rPr lang="en-US" sz="2000" dirty="0"/>
              <a:t>Goal: transform raw trip data into actionable pricing insights and predictive capability.</a:t>
            </a:r>
          </a:p>
        </p:txBody>
      </p:sp>
    </p:spTree>
    <p:extLst>
      <p:ext uri="{BB962C8B-B14F-4D97-AF65-F5344CB8AC3E}">
        <p14:creationId xmlns:p14="http://schemas.microsoft.com/office/powerpoint/2010/main" val="56521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1CB2-CAF9-262A-138D-757DA3CD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2-Business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D996-A34B-7B77-E242-DDD30032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Companies need accurate fare prediction to:</a:t>
            </a:r>
          </a:p>
          <a:p>
            <a:r>
              <a:rPr lang="en-US" dirty="0"/>
              <a:t>Improve pricing strategies</a:t>
            </a:r>
          </a:p>
          <a:p>
            <a:r>
              <a:rPr lang="en-US" dirty="0"/>
              <a:t>Estimate trip revenue</a:t>
            </a:r>
          </a:p>
          <a:p>
            <a:r>
              <a:rPr lang="en-US" dirty="0"/>
              <a:t>Optimize operations and demand planning</a:t>
            </a:r>
          </a:p>
          <a:p>
            <a:r>
              <a:rPr lang="en-US" dirty="0"/>
              <a:t>Understand customer travel patterns</a:t>
            </a:r>
          </a:p>
          <a:p>
            <a:r>
              <a:rPr lang="en-US" dirty="0"/>
              <a:t>This project builds a data-driven system to estimate taxi fare based on trip characteristics.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9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E874-19C6-219B-C6BC-EE03398D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3-Dataset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30E50-31CB-A571-DBD3-22DB706AA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Pickup and drop-off timestamps</a:t>
            </a:r>
          </a:p>
          <a:p>
            <a:r>
              <a:rPr lang="en-US" dirty="0"/>
              <a:t>Geographic coordinates</a:t>
            </a:r>
          </a:p>
          <a:p>
            <a:r>
              <a:rPr lang="en-US" dirty="0"/>
              <a:t>Trip distance and duration</a:t>
            </a:r>
          </a:p>
          <a:p>
            <a:r>
              <a:rPr lang="en-US" dirty="0"/>
              <a:t>Passenger count</a:t>
            </a:r>
          </a:p>
          <a:p>
            <a:r>
              <a:rPr lang="en-US" dirty="0"/>
              <a:t>Payment type</a:t>
            </a:r>
          </a:p>
          <a:p>
            <a:r>
              <a:rPr lang="en-US" dirty="0"/>
              <a:t>Fare amount and total cost</a:t>
            </a:r>
          </a:p>
          <a:p>
            <a:r>
              <a:rPr lang="en-US" dirty="0"/>
              <a:t>These variables help model the relationship between trip behavior and pricing.</a:t>
            </a:r>
          </a:p>
        </p:txBody>
      </p:sp>
    </p:spTree>
    <p:extLst>
      <p:ext uri="{BB962C8B-B14F-4D97-AF65-F5344CB8AC3E}">
        <p14:creationId xmlns:p14="http://schemas.microsoft.com/office/powerpoint/2010/main" val="420161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FD93-FF20-924E-B722-57C2C46B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4-Tools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D1A0-0DC5-AAF5-507A-448A69D8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1-Programming &amp; Analysis: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Pandas, NumPy</a:t>
            </a:r>
          </a:p>
          <a:p>
            <a:pPr marL="0" indent="0">
              <a:buNone/>
            </a:pPr>
            <a:r>
              <a:rPr lang="en-US" dirty="0"/>
              <a:t>2-Visualization:</a:t>
            </a:r>
          </a:p>
          <a:p>
            <a:pPr lvl="1"/>
            <a:r>
              <a:rPr lang="en-US" dirty="0"/>
              <a:t>Matplotlib</a:t>
            </a:r>
          </a:p>
          <a:p>
            <a:pPr lvl="1"/>
            <a:r>
              <a:rPr lang="en-US" dirty="0"/>
              <a:t>Seaborn</a:t>
            </a:r>
          </a:p>
          <a:p>
            <a:pPr marL="0" indent="0">
              <a:buNone/>
            </a:pPr>
            <a:r>
              <a:rPr lang="en-US" dirty="0"/>
              <a:t>3-Machine Learning:</a:t>
            </a:r>
          </a:p>
          <a:p>
            <a:pPr lvl="1"/>
            <a:r>
              <a:rPr lang="en-US" dirty="0"/>
              <a:t>Scikit-learn</a:t>
            </a:r>
          </a:p>
          <a:p>
            <a:pPr marL="0" indent="0">
              <a:buNone/>
            </a:pPr>
            <a:r>
              <a:rPr lang="en-US" dirty="0"/>
              <a:t>4-Geospatial Processing:</a:t>
            </a:r>
          </a:p>
          <a:p>
            <a:pPr lvl="1"/>
            <a:r>
              <a:rPr lang="en-US" dirty="0" err="1"/>
              <a:t>GeoPandas</a:t>
            </a:r>
            <a:endParaRPr lang="en-US" dirty="0"/>
          </a:p>
          <a:p>
            <a:pPr lvl="1"/>
            <a:r>
              <a:rPr lang="en-US" dirty="0"/>
              <a:t>Shapely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0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3DDC-5704-7236-6637-2D35A9EE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75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5-Data Loading &amp; Initial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5444-492A-7FCF-602C-34849EF1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727448"/>
          </a:xfrm>
        </p:spPr>
        <p:txBody>
          <a:bodyPr/>
          <a:lstStyle/>
          <a:p>
            <a:r>
              <a:rPr lang="en-US" dirty="0"/>
              <a:t>Steps performed:</a:t>
            </a:r>
          </a:p>
          <a:p>
            <a:pPr marL="457200" lvl="1" indent="0">
              <a:buNone/>
            </a:pPr>
            <a:r>
              <a:rPr lang="en-US" dirty="0"/>
              <a:t>1-Loaded dataset from Google Drive</a:t>
            </a:r>
          </a:p>
          <a:p>
            <a:pPr marL="457200" lvl="1" indent="0">
              <a:buNone/>
            </a:pPr>
            <a:r>
              <a:rPr lang="en-US" dirty="0"/>
              <a:t>2-Examined:</a:t>
            </a:r>
          </a:p>
          <a:p>
            <a:pPr lvl="2"/>
            <a:r>
              <a:rPr lang="en-US" dirty="0"/>
              <a:t>Data types</a:t>
            </a:r>
          </a:p>
          <a:p>
            <a:pPr lvl="2"/>
            <a:r>
              <a:rPr lang="en-US" dirty="0"/>
              <a:t>Shape</a:t>
            </a:r>
          </a:p>
          <a:p>
            <a:pPr lvl="2"/>
            <a:r>
              <a:rPr lang="en-US" dirty="0"/>
              <a:t>Summary statistics</a:t>
            </a:r>
          </a:p>
          <a:p>
            <a:pPr lvl="2"/>
            <a:r>
              <a:rPr lang="en-US" dirty="0"/>
              <a:t>Missing values</a:t>
            </a:r>
          </a:p>
          <a:p>
            <a:pPr marL="457200" lvl="1" indent="0">
              <a:buNone/>
            </a:pPr>
            <a:r>
              <a:rPr lang="en-US" dirty="0"/>
              <a:t>3-Identified duplicates and anomalies</a:t>
            </a:r>
          </a:p>
          <a:p>
            <a:r>
              <a:rPr lang="en-US" dirty="0">
                <a:highlight>
                  <a:srgbClr val="00FF00"/>
                </a:highlight>
              </a:rPr>
              <a:t>Purpose: understand structure and data quality before modeling.</a:t>
            </a:r>
          </a:p>
        </p:txBody>
      </p:sp>
    </p:spTree>
    <p:extLst>
      <p:ext uri="{BB962C8B-B14F-4D97-AF65-F5344CB8AC3E}">
        <p14:creationId xmlns:p14="http://schemas.microsoft.com/office/powerpoint/2010/main" val="255031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7BE4-11CA-16B4-EA13-83261E6D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6-Data Quality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3DEDE-DFD4-8E25-7B94-2ED9AD77A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analyzed: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Duplicate rows</a:t>
            </a:r>
          </a:p>
          <a:p>
            <a:pPr lvl="1"/>
            <a:r>
              <a:rPr lang="en-US" dirty="0"/>
              <a:t>Outliers</a:t>
            </a:r>
          </a:p>
          <a:p>
            <a:pPr lvl="1"/>
            <a:r>
              <a:rPr lang="en-US" dirty="0"/>
              <a:t>Invalid values</a:t>
            </a:r>
          </a:p>
          <a:p>
            <a:pPr marL="0" indent="0">
              <a:buNone/>
            </a:pPr>
            <a:r>
              <a:rPr lang="en-US" dirty="0"/>
              <a:t>Key checks:</a:t>
            </a:r>
          </a:p>
          <a:p>
            <a:pPr lvl="1"/>
            <a:r>
              <a:rPr lang="en-US" dirty="0"/>
              <a:t>Negative fares</a:t>
            </a:r>
          </a:p>
          <a:p>
            <a:pPr lvl="1"/>
            <a:r>
              <a:rPr lang="en-US" dirty="0"/>
              <a:t>Zero trip duration</a:t>
            </a:r>
          </a:p>
          <a:p>
            <a:pPr lvl="1"/>
            <a:r>
              <a:rPr lang="en-US" dirty="0"/>
              <a:t>Abnormal trip distances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This ensured the dataset was reliable before training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2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52DB-4450-961D-7417-43760229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7-Feature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E2721-B87E-9117-CE22-F1B8FBA4B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New variables were created to enhance model performance:</a:t>
            </a:r>
          </a:p>
          <a:p>
            <a:pPr marL="0" indent="0">
              <a:buNone/>
            </a:pPr>
            <a:r>
              <a:rPr lang="en-US" dirty="0"/>
              <a:t>1-Time-based features:</a:t>
            </a:r>
          </a:p>
          <a:p>
            <a:pPr lvl="1"/>
            <a:r>
              <a:rPr lang="en-US" dirty="0"/>
              <a:t>Pickup hour</a:t>
            </a:r>
          </a:p>
          <a:p>
            <a:pPr lvl="1"/>
            <a:r>
              <a:rPr lang="en-US" dirty="0"/>
              <a:t>Day of week</a:t>
            </a:r>
          </a:p>
          <a:p>
            <a:pPr lvl="1"/>
            <a:r>
              <a:rPr lang="en-US" dirty="0"/>
              <a:t>Weekend indicator</a:t>
            </a:r>
          </a:p>
          <a:p>
            <a:pPr lvl="1"/>
            <a:r>
              <a:rPr lang="en-US" dirty="0"/>
              <a:t>Rush hour indicator</a:t>
            </a:r>
          </a:p>
          <a:p>
            <a:pPr marL="0" indent="0">
              <a:buNone/>
            </a:pPr>
            <a:r>
              <a:rPr lang="en-US" dirty="0"/>
              <a:t>2-Trip features:</a:t>
            </a:r>
          </a:p>
          <a:p>
            <a:pPr lvl="1"/>
            <a:r>
              <a:rPr lang="en-US" dirty="0"/>
              <a:t>Trip duration</a:t>
            </a:r>
          </a:p>
          <a:p>
            <a:pPr lvl="1"/>
            <a:r>
              <a:rPr lang="en-US" dirty="0"/>
              <a:t>Same borough indicator</a:t>
            </a:r>
          </a:p>
          <a:p>
            <a:pPr lvl="1"/>
            <a:r>
              <a:rPr lang="en-US" dirty="0"/>
              <a:t>Manhattan-only trip flag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These features help capture real-world travel behavior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41A-0041-B9C7-27DB-BF25AE61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8-Geospatial Feature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2CB1-63CD-5AD8-6D04-E2E2C16AE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mapped coordinates to taxi zones using spatial joins.</a:t>
            </a:r>
          </a:p>
          <a:p>
            <a:r>
              <a:rPr lang="en-US" dirty="0"/>
              <a:t>Process:</a:t>
            </a:r>
          </a:p>
          <a:p>
            <a:pPr lvl="1"/>
            <a:r>
              <a:rPr lang="en-US" dirty="0"/>
              <a:t>Converted longitude &amp; latitude into geographic points</a:t>
            </a:r>
          </a:p>
          <a:p>
            <a:pPr lvl="1"/>
            <a:r>
              <a:rPr lang="en-US" dirty="0"/>
              <a:t>Matched each trip with its taxi zone</a:t>
            </a:r>
          </a:p>
          <a:p>
            <a:pPr lvl="1"/>
            <a:r>
              <a:rPr lang="en-US" dirty="0"/>
              <a:t>Added:</a:t>
            </a:r>
          </a:p>
          <a:p>
            <a:pPr lvl="2"/>
            <a:r>
              <a:rPr lang="en-US" dirty="0"/>
              <a:t>Pickup borough</a:t>
            </a:r>
          </a:p>
          <a:p>
            <a:pPr lvl="2"/>
            <a:r>
              <a:rPr lang="en-US" dirty="0"/>
              <a:t>Drop-off borough</a:t>
            </a:r>
          </a:p>
          <a:p>
            <a:pPr lvl="2"/>
            <a:r>
              <a:rPr lang="en-US" dirty="0"/>
              <a:t>Service zones</a:t>
            </a:r>
          </a:p>
          <a:p>
            <a:r>
              <a:rPr lang="en-US" dirty="0">
                <a:highlight>
                  <a:srgbClr val="00FF00"/>
                </a:highlight>
              </a:rPr>
              <a:t>This added location intelligence to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08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25E0-7242-7CB5-3516-94E4150A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9-Exploratory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79CF-21F5-DFB1-02FC-B7AE16EF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analyzed patterns in:</a:t>
            </a:r>
          </a:p>
          <a:p>
            <a:pPr lvl="1"/>
            <a:r>
              <a:rPr lang="en-US" dirty="0"/>
              <a:t>Trips per vendor</a:t>
            </a:r>
          </a:p>
          <a:p>
            <a:pPr lvl="1"/>
            <a:r>
              <a:rPr lang="en-US" dirty="0"/>
              <a:t>Trips by passenger count</a:t>
            </a:r>
          </a:p>
          <a:p>
            <a:pPr lvl="1"/>
            <a:r>
              <a:rPr lang="en-US" dirty="0"/>
              <a:t>Revenue by hour</a:t>
            </a:r>
          </a:p>
          <a:p>
            <a:pPr lvl="1"/>
            <a:r>
              <a:rPr lang="en-US" dirty="0"/>
              <a:t>Fare distribution</a:t>
            </a:r>
          </a:p>
          <a:p>
            <a:pPr lvl="1"/>
            <a:r>
              <a:rPr lang="en-US" dirty="0"/>
              <a:t>Payment type behavior</a:t>
            </a:r>
          </a:p>
          <a:p>
            <a:pPr lvl="1"/>
            <a:r>
              <a:rPr lang="en-US" dirty="0"/>
              <a:t>Borough travel patterns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EDA helped identify important factors affecting pricing.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7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61AB-415A-1C25-ECD9-C608E534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10-Key Insights from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BBEB-C686-6623-7F0C-1A3AAFF7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Major findings:</a:t>
            </a:r>
          </a:p>
          <a:p>
            <a:pPr lvl="1"/>
            <a:r>
              <a:rPr lang="en-US" dirty="0"/>
              <a:t>Trip distance strongly influences fare</a:t>
            </a:r>
          </a:p>
          <a:p>
            <a:pPr lvl="1"/>
            <a:r>
              <a:rPr lang="en-US" dirty="0"/>
              <a:t>Rush hours increase revenue</a:t>
            </a:r>
          </a:p>
          <a:p>
            <a:pPr lvl="1"/>
            <a:r>
              <a:rPr lang="en-US" dirty="0"/>
              <a:t>Manhattan trips have higher average fares</a:t>
            </a:r>
          </a:p>
          <a:p>
            <a:pPr lvl="1"/>
            <a:r>
              <a:rPr lang="en-US" dirty="0"/>
              <a:t>Payment type correlates with trip behavior</a:t>
            </a:r>
          </a:p>
          <a:p>
            <a:pPr lvl="1"/>
            <a:r>
              <a:rPr lang="en-US" dirty="0"/>
              <a:t>Trip duration impacts pricing significantly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These insights guided feature selection.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7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E7F4-EB25-AFBB-D8DC-9AB3E59E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11-Data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626E-DACB-CBF1-FFD1-325D04A7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Cleaning steps applied:</a:t>
            </a:r>
          </a:p>
          <a:p>
            <a:pPr lvl="1"/>
            <a:r>
              <a:rPr lang="en-US" dirty="0"/>
              <a:t>Removed negative and zero fares</a:t>
            </a:r>
          </a:p>
          <a:p>
            <a:pPr lvl="1"/>
            <a:r>
              <a:rPr lang="en-US" dirty="0"/>
              <a:t>Filtered unrealistic trip durations</a:t>
            </a:r>
          </a:p>
          <a:p>
            <a:pPr lvl="1"/>
            <a:r>
              <a:rPr lang="en-US" dirty="0"/>
              <a:t>Removed extreme outliers</a:t>
            </a:r>
          </a:p>
          <a:p>
            <a:pPr lvl="1"/>
            <a:r>
              <a:rPr lang="en-US" dirty="0"/>
              <a:t>Dropped duplicates</a:t>
            </a:r>
          </a:p>
          <a:p>
            <a:pPr lvl="1"/>
            <a:r>
              <a:rPr lang="en-US" dirty="0"/>
              <a:t>Handled missing borough values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Result: cleaner dataset with reliable training inputs.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00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3761-2C3C-908B-3973-E3E3DA4C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12-Modeling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6B5D-F220-61C7-AFA4-9859F3D00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We used supervised learning to predict fare amount.</a:t>
            </a:r>
          </a:p>
          <a:p>
            <a:pPr marL="0" indent="0">
              <a:buNone/>
            </a:pPr>
            <a:r>
              <a:rPr lang="en-US" dirty="0"/>
              <a:t>1-Models implemented: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Ridge Regression</a:t>
            </a:r>
          </a:p>
          <a:p>
            <a:pPr lvl="1"/>
            <a:r>
              <a:rPr lang="en-US" dirty="0"/>
              <a:t>Random Forest</a:t>
            </a:r>
          </a:p>
          <a:p>
            <a:pPr marL="0" indent="0">
              <a:buNone/>
            </a:pPr>
            <a:r>
              <a:rPr lang="en-US" dirty="0"/>
              <a:t>2-Pipeline included:</a:t>
            </a:r>
          </a:p>
          <a:p>
            <a:pPr lvl="1"/>
            <a:r>
              <a:rPr lang="en-US" dirty="0"/>
              <a:t>Scaling numeric features</a:t>
            </a:r>
          </a:p>
          <a:p>
            <a:pPr lvl="1"/>
            <a:r>
              <a:rPr lang="en-US" dirty="0"/>
              <a:t>Encoding categorical variables</a:t>
            </a:r>
          </a:p>
          <a:p>
            <a:pPr lvl="1"/>
            <a:r>
              <a:rPr lang="en-US" dirty="0"/>
              <a:t>Model training and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803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F144-5AAB-0152-B9B0-3F2D1009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13-Evaluation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4D951-C328-864D-7761-FFD60209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Models were evaluated using:</a:t>
            </a:r>
          </a:p>
          <a:p>
            <a:pPr marL="0" indent="0">
              <a:buNone/>
            </a:pPr>
            <a:r>
              <a:rPr lang="en-US" dirty="0"/>
              <a:t>1-RMSE (Root Mean Squared Error)</a:t>
            </a:r>
          </a:p>
          <a:p>
            <a:pPr lvl="1"/>
            <a:r>
              <a:rPr lang="en-US" dirty="0"/>
              <a:t>Measures prediction error</a:t>
            </a:r>
          </a:p>
          <a:p>
            <a:pPr marL="0" indent="0">
              <a:buNone/>
            </a:pPr>
            <a:r>
              <a:rPr lang="en-US" dirty="0"/>
              <a:t>2-R² Score</a:t>
            </a:r>
          </a:p>
          <a:p>
            <a:pPr lvl="1"/>
            <a:r>
              <a:rPr lang="en-US" dirty="0"/>
              <a:t>Measures how well the model explains variance</a:t>
            </a:r>
          </a:p>
          <a:p>
            <a:r>
              <a:rPr lang="en-US" dirty="0">
                <a:highlight>
                  <a:srgbClr val="00FF00"/>
                </a:highlight>
              </a:rPr>
              <a:t>These metrics helped compare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16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0427-E503-A910-55AB-57B69400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14-Model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3736-0BF5-56D2-3D05-DD764DC9F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Observations:</a:t>
            </a:r>
          </a:p>
          <a:p>
            <a:pPr lvl="1"/>
            <a:r>
              <a:rPr lang="en-US" dirty="0"/>
              <a:t>Linear Regression captured general trends</a:t>
            </a:r>
          </a:p>
          <a:p>
            <a:pPr lvl="1"/>
            <a:r>
              <a:rPr lang="en-US" dirty="0"/>
              <a:t>Ridge Regression improved stability</a:t>
            </a:r>
          </a:p>
          <a:p>
            <a:pPr lvl="1"/>
            <a:r>
              <a:rPr lang="en-US" dirty="0"/>
              <a:t>Random Forest produced the highest accuracy</a:t>
            </a:r>
          </a:p>
          <a:p>
            <a:pPr lvl="1"/>
            <a:r>
              <a:rPr lang="en-US" dirty="0"/>
              <a:t>Random Forest handled nonlinear relationships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8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D4F3-8413-DA21-052D-6E4CDB647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15-Feature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C533-E2D8-1CDA-3CDE-D75B64F74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drivers of taxi fare:</a:t>
            </a:r>
          </a:p>
          <a:p>
            <a:pPr lvl="1"/>
            <a:r>
              <a:rPr lang="en-US" dirty="0"/>
              <a:t>Trip distance</a:t>
            </a:r>
          </a:p>
          <a:p>
            <a:pPr lvl="1"/>
            <a:r>
              <a:rPr lang="en-US" dirty="0"/>
              <a:t>Trip duration</a:t>
            </a:r>
          </a:p>
          <a:p>
            <a:pPr lvl="1"/>
            <a:r>
              <a:rPr lang="en-US" dirty="0"/>
              <a:t>Pickup hour</a:t>
            </a:r>
          </a:p>
          <a:p>
            <a:pPr lvl="1"/>
            <a:r>
              <a:rPr lang="en-US" dirty="0"/>
              <a:t>Borough location</a:t>
            </a:r>
          </a:p>
          <a:p>
            <a:pPr lvl="1"/>
            <a:r>
              <a:rPr lang="en-US" dirty="0"/>
              <a:t>Rush hour indicator</a:t>
            </a:r>
          </a:p>
          <a:p>
            <a:r>
              <a:rPr lang="en-US" dirty="0">
                <a:highlight>
                  <a:srgbClr val="00FF00"/>
                </a:highlight>
              </a:rPr>
              <a:t>Distance and duration were the strongest predictors.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09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3962-B7FC-198E-B712-61D25BBB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16-Model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A9F6-D6A4-67C3-D659-ABD08F228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improved performance by:</a:t>
            </a:r>
          </a:p>
          <a:p>
            <a:pPr lvl="1"/>
            <a:r>
              <a:rPr lang="en-US" dirty="0"/>
              <a:t>Adding time-based features</a:t>
            </a:r>
          </a:p>
          <a:p>
            <a:pPr lvl="1"/>
            <a:r>
              <a:rPr lang="en-US" dirty="0"/>
              <a:t>Adding location features</a:t>
            </a:r>
          </a:p>
          <a:p>
            <a:pPr lvl="1"/>
            <a:r>
              <a:rPr lang="en-US" dirty="0"/>
              <a:t>Encoding categorical variables</a:t>
            </a:r>
          </a:p>
          <a:p>
            <a:pPr lvl="1"/>
            <a:r>
              <a:rPr lang="en-US" dirty="0"/>
              <a:t>Removing noisy features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This increased prediction accuracy significantly.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165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F7F0-2A7A-FD9F-C570-9B0B26F8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17-Final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4307B-F9E5-6A4E-8D4B-8B57FF4D5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performing model: Random Forest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Handles complex patterns</a:t>
            </a:r>
          </a:p>
          <a:p>
            <a:pPr lvl="1"/>
            <a:r>
              <a:rPr lang="en-US" dirty="0"/>
              <a:t>Works well with mixed feature types</a:t>
            </a:r>
          </a:p>
          <a:p>
            <a:pPr lvl="1"/>
            <a:r>
              <a:rPr lang="en-US" dirty="0"/>
              <a:t>Captures nonlinear relationships</a:t>
            </a:r>
          </a:p>
          <a:p>
            <a:pPr lvl="1"/>
            <a:r>
              <a:rPr lang="en-US" dirty="0"/>
              <a:t>Produces reliable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1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E0B9-7F40-1919-7F8F-D29CAB12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18-Business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D8B6-DE87-5C05-32C5-69397284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can help organizations:</a:t>
            </a:r>
          </a:p>
          <a:p>
            <a:pPr lvl="1"/>
            <a:r>
              <a:rPr lang="en-US" dirty="0"/>
              <a:t>Predict trip fares before the ride</a:t>
            </a:r>
          </a:p>
          <a:p>
            <a:pPr lvl="1"/>
            <a:r>
              <a:rPr lang="en-US" dirty="0"/>
              <a:t>Estimate demand and revenue</a:t>
            </a:r>
          </a:p>
          <a:p>
            <a:pPr lvl="1"/>
            <a:r>
              <a:rPr lang="en-US" dirty="0"/>
              <a:t>Optimize taxi deployment</a:t>
            </a:r>
          </a:p>
          <a:p>
            <a:pPr lvl="1"/>
            <a:r>
              <a:rPr lang="en-US" dirty="0"/>
              <a:t>Improve customer pricing transparency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7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8F77-8E5C-748D-51F3-4E703B51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19-Challenges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EFA4F-905A-F057-586D-7E7D84315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geographic information</a:t>
            </a:r>
          </a:p>
          <a:p>
            <a:r>
              <a:rPr lang="en-US" dirty="0"/>
              <a:t>Outliers in trip data</a:t>
            </a:r>
          </a:p>
          <a:p>
            <a:r>
              <a:rPr lang="en-US" dirty="0"/>
              <a:t>Data imbalance in payment types</a:t>
            </a:r>
          </a:p>
          <a:p>
            <a:r>
              <a:rPr lang="en-US" dirty="0"/>
              <a:t>Computational cost of spatial mapping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69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D367-FC4B-CCFF-DB49-C9D5AD6F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20-Future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63D1-AE7D-8C2D-F985-0F97E02FF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enhancements:</a:t>
            </a:r>
          </a:p>
          <a:p>
            <a:pPr lvl="1"/>
            <a:r>
              <a:rPr lang="en-US" dirty="0"/>
              <a:t>Add weather data</a:t>
            </a:r>
          </a:p>
          <a:p>
            <a:pPr lvl="1"/>
            <a:r>
              <a:rPr lang="en-US" dirty="0"/>
              <a:t>Use deep learning models</a:t>
            </a:r>
          </a:p>
          <a:p>
            <a:pPr lvl="1"/>
            <a:r>
              <a:rPr lang="en-US" dirty="0"/>
              <a:t>Real-time prediction system</a:t>
            </a:r>
          </a:p>
          <a:p>
            <a:pPr lvl="1"/>
            <a:r>
              <a:rPr lang="en-US" dirty="0"/>
              <a:t>Dynamic pricing engine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01DC-13FA-E79C-7942-48D48D83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21-Conclusion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D926-D212-D5A5-0CEF-F8FC258A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6704" cy="4351338"/>
          </a:xfrm>
        </p:spPr>
        <p:txBody>
          <a:bodyPr/>
          <a:lstStyle/>
          <a:p>
            <a:r>
              <a:rPr lang="en-US" dirty="0"/>
              <a:t>This project demonstrates how data science can transform taxi trip data into predictive insights.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By combining data cleaning, feature engineering, EDA, and machine learning:</a:t>
            </a:r>
          </a:p>
          <a:p>
            <a:pPr lvl="1"/>
            <a:r>
              <a:rPr lang="en-US" dirty="0"/>
              <a:t>We identified key pricing drivers</a:t>
            </a:r>
          </a:p>
          <a:p>
            <a:pPr lvl="1"/>
            <a:r>
              <a:rPr lang="en-US" dirty="0"/>
              <a:t>Built accurate prediction models</a:t>
            </a:r>
          </a:p>
          <a:p>
            <a:pPr lvl="1"/>
            <a:r>
              <a:rPr lang="en-US" dirty="0"/>
              <a:t>Delivered actionable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68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4A8F63-EFA2-BC52-1151-39773212F216}"/>
              </a:ext>
            </a:extLst>
          </p:cNvPr>
          <p:cNvSpPr txBox="1"/>
          <p:nvPr/>
        </p:nvSpPr>
        <p:spPr>
          <a:xfrm>
            <a:off x="3047238" y="3244334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025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794</Words>
  <Application>Microsoft Office PowerPoint</Application>
  <PresentationFormat>Widescreen</PresentationFormat>
  <Paragraphs>190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Taxi Fare Prediction Using Machine Learning</vt:lpstr>
      <vt:lpstr>1-Project Overview</vt:lpstr>
      <vt:lpstr>1-Project Overview</vt:lpstr>
      <vt:lpstr>2-Business Objective</vt:lpstr>
      <vt:lpstr>3-Dataset Description</vt:lpstr>
      <vt:lpstr>4-Tools &amp; Technologies</vt:lpstr>
      <vt:lpstr>5-Data Loading &amp; Initial Inspection</vt:lpstr>
      <vt:lpstr>6-Data Quality Assessment</vt:lpstr>
      <vt:lpstr>7-Feature Engineering</vt:lpstr>
      <vt:lpstr>8-Geospatial Feature Creation</vt:lpstr>
      <vt:lpstr>9-Exploratory Data Analysis (EDA)</vt:lpstr>
      <vt:lpstr>10-Key Insights from EDA</vt:lpstr>
      <vt:lpstr>11-Data Cleaning</vt:lpstr>
      <vt:lpstr>12-Modeling Approach</vt:lpstr>
      <vt:lpstr>13-Evaluation Metrics</vt:lpstr>
      <vt:lpstr>14-Model Results</vt:lpstr>
      <vt:lpstr>15-Feature Importance</vt:lpstr>
      <vt:lpstr>16-Model Optimization</vt:lpstr>
      <vt:lpstr>17-Final Model</vt:lpstr>
      <vt:lpstr>18-Business Impact</vt:lpstr>
      <vt:lpstr>19-Challenges</vt:lpstr>
      <vt:lpstr>20-Future Improvements</vt:lpstr>
      <vt:lpstr>21-Conclusion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Hossam Nady</dc:creator>
  <cp:lastModifiedBy>Hossam Nady</cp:lastModifiedBy>
  <cp:revision>1</cp:revision>
  <dcterms:created xsi:type="dcterms:W3CDTF">2026-02-13T05:53:00Z</dcterms:created>
  <dcterms:modified xsi:type="dcterms:W3CDTF">2026-02-13T06:33:44Z</dcterms:modified>
</cp:coreProperties>
</file>