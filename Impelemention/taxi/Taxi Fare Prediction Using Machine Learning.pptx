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Quattrocento Sans" charset="-122" pitchFamily="34"/>
      <p:regular r:id="rId31"/>
    </p:embeddedFont>
    <p:embeddedFont>
      <p:font typeface="Liter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73536d5871a4d206db152919d05f8fdc6fc2862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8499" b="849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98245"/>
            <a:ext cx="3086100" cy="419100"/>
          </a:xfrm>
          <a:custGeom>
            <a:avLst/>
            <a:gdLst/>
            <a:ahLst/>
            <a:cxnLst/>
            <a:rect l="l" t="t" r="r" b="b"/>
            <a:pathLst>
              <a:path w="3086100" h="419100">
                <a:moveTo>
                  <a:pt x="0" y="0"/>
                </a:moveTo>
                <a:lnTo>
                  <a:pt x="3086100" y="0"/>
                </a:lnTo>
                <a:lnTo>
                  <a:pt x="3086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9824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274445"/>
            <a:ext cx="277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135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22145"/>
            <a:ext cx="117729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Taxi Fare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73570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Analysis, Feature Engineering, and Predictive Modeling on NYC Taxi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6007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9055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Hossam Nady Mohamed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103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Mohamed Naser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386179" y="58674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29029" y="6134100"/>
            <a:ext cx="1485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D8A2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14/2/2026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1295400" cy="381000"/>
          </a:xfrm>
          <a:custGeom>
            <a:avLst/>
            <a:gdLst/>
            <a:ahLst/>
            <a:cxnLst/>
            <a:rect l="l" t="t" r="r" b="b"/>
            <a:pathLst>
              <a:path w="1295400" h="381000">
                <a:moveTo>
                  <a:pt x="0" y="0"/>
                </a:moveTo>
                <a:lnTo>
                  <a:pt x="1295400" y="0"/>
                </a:lnTo>
                <a:lnTo>
                  <a:pt x="1295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5720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764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764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790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9" name="Text 7"/>
          <p:cNvSpPr/>
          <p:nvPr/>
        </p:nvSpPr>
        <p:spPr>
          <a:xfrm>
            <a:off x="495300" y="1790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182880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2860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2860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495300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438400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Objective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8956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8956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Text 17"/>
          <p:cNvSpPr/>
          <p:nvPr/>
        </p:nvSpPr>
        <p:spPr>
          <a:xfrm>
            <a:off x="495300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3048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5052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35052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495300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2500" y="365760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41148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41148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533400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495300" y="4229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2500" y="42672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Loading &amp; Initial Inspection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50" y="47244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" y="47244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Shape 31"/>
          <p:cNvSpPr/>
          <p:nvPr/>
        </p:nvSpPr>
        <p:spPr>
          <a:xfrm>
            <a:off x="533400" y="4838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495300" y="4838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2500" y="48768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 Assessment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53340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0050" y="53340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/>
          <p:cNvSpPr/>
          <p:nvPr/>
        </p:nvSpPr>
        <p:spPr>
          <a:xfrm>
            <a:off x="533400" y="5448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9" name="Text 37"/>
          <p:cNvSpPr/>
          <p:nvPr/>
        </p:nvSpPr>
        <p:spPr>
          <a:xfrm>
            <a:off x="495300" y="5448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52500" y="5486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60771" y="16764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260771" y="16764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3" name="Shape 41"/>
          <p:cNvSpPr/>
          <p:nvPr/>
        </p:nvSpPr>
        <p:spPr>
          <a:xfrm>
            <a:off x="4394121" y="1790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4" name="Text 42"/>
          <p:cNvSpPr/>
          <p:nvPr/>
        </p:nvSpPr>
        <p:spPr>
          <a:xfrm>
            <a:off x="4356021" y="1790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13221" y="182880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Geospatial Feature Creation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60771" y="22860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260771" y="22860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8" name="Shape 46"/>
          <p:cNvSpPr/>
          <p:nvPr/>
        </p:nvSpPr>
        <p:spPr>
          <a:xfrm>
            <a:off x="4394121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9" name="Text 47"/>
          <p:cNvSpPr/>
          <p:nvPr/>
        </p:nvSpPr>
        <p:spPr>
          <a:xfrm>
            <a:off x="4356021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813221" y="243840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 (EDA)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60771" y="28956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260771" y="28956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3" name="Shape 51"/>
          <p:cNvSpPr/>
          <p:nvPr/>
        </p:nvSpPr>
        <p:spPr>
          <a:xfrm>
            <a:off x="4394121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4" name="Text 52"/>
          <p:cNvSpPr/>
          <p:nvPr/>
        </p:nvSpPr>
        <p:spPr>
          <a:xfrm>
            <a:off x="4356021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813221" y="30480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 from EDA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260771" y="35052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260771" y="35052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8" name="Shape 56"/>
          <p:cNvSpPr/>
          <p:nvPr/>
        </p:nvSpPr>
        <p:spPr>
          <a:xfrm>
            <a:off x="4394121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9" name="Text 57"/>
          <p:cNvSpPr/>
          <p:nvPr/>
        </p:nvSpPr>
        <p:spPr>
          <a:xfrm>
            <a:off x="4356021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813221" y="36576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60771" y="41148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260771" y="41148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3" name="Shape 61"/>
          <p:cNvSpPr/>
          <p:nvPr/>
        </p:nvSpPr>
        <p:spPr>
          <a:xfrm>
            <a:off x="4394121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4" name="Text 62"/>
          <p:cNvSpPr/>
          <p:nvPr/>
        </p:nvSpPr>
        <p:spPr>
          <a:xfrm>
            <a:off x="4356021" y="4229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813221" y="4267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Modeling Approach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260771" y="47244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260771" y="47244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8" name="Shape 66"/>
          <p:cNvSpPr/>
          <p:nvPr/>
        </p:nvSpPr>
        <p:spPr>
          <a:xfrm>
            <a:off x="4394121" y="4838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9" name="Text 67"/>
          <p:cNvSpPr/>
          <p:nvPr/>
        </p:nvSpPr>
        <p:spPr>
          <a:xfrm>
            <a:off x="4356021" y="4838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813221" y="487680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260771" y="53340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260771" y="53340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73" name="Shape 71"/>
          <p:cNvSpPr/>
          <p:nvPr/>
        </p:nvSpPr>
        <p:spPr>
          <a:xfrm>
            <a:off x="4394121" y="5448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74" name="Text 72"/>
          <p:cNvSpPr/>
          <p:nvPr/>
        </p:nvSpPr>
        <p:spPr>
          <a:xfrm>
            <a:off x="4356021" y="5448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813221" y="54864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Results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121611" y="16764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121611" y="16764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78" name="Shape 76"/>
          <p:cNvSpPr/>
          <p:nvPr/>
        </p:nvSpPr>
        <p:spPr>
          <a:xfrm>
            <a:off x="8254961" y="1790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79" name="Text 77"/>
          <p:cNvSpPr/>
          <p:nvPr/>
        </p:nvSpPr>
        <p:spPr>
          <a:xfrm>
            <a:off x="8216861" y="1790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674061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121611" y="22860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121611" y="22860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83" name="Shape 81"/>
          <p:cNvSpPr/>
          <p:nvPr/>
        </p:nvSpPr>
        <p:spPr>
          <a:xfrm>
            <a:off x="8254961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84" name="Text 82"/>
          <p:cNvSpPr/>
          <p:nvPr/>
        </p:nvSpPr>
        <p:spPr>
          <a:xfrm>
            <a:off x="8216861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674061" y="2438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8121611" y="28956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8121611" y="28956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88" name="Shape 86"/>
          <p:cNvSpPr/>
          <p:nvPr/>
        </p:nvSpPr>
        <p:spPr>
          <a:xfrm>
            <a:off x="8254961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89" name="Text 87"/>
          <p:cNvSpPr/>
          <p:nvPr/>
        </p:nvSpPr>
        <p:spPr>
          <a:xfrm>
            <a:off x="8216861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674061" y="304800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Model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121611" y="35052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121611" y="35052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93" name="Shape 91"/>
          <p:cNvSpPr/>
          <p:nvPr/>
        </p:nvSpPr>
        <p:spPr>
          <a:xfrm>
            <a:off x="8254961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94" name="Text 92"/>
          <p:cNvSpPr/>
          <p:nvPr/>
        </p:nvSpPr>
        <p:spPr>
          <a:xfrm>
            <a:off x="8216861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8674061" y="36576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8121611" y="41148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121611" y="41148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98" name="Shape 96"/>
          <p:cNvSpPr/>
          <p:nvPr/>
        </p:nvSpPr>
        <p:spPr>
          <a:xfrm>
            <a:off x="8254961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99" name="Text 97"/>
          <p:cNvSpPr/>
          <p:nvPr/>
        </p:nvSpPr>
        <p:spPr>
          <a:xfrm>
            <a:off x="8216861" y="4229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8674061" y="426720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121611" y="47244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121611" y="47244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254961" y="4838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04" name="Text 102"/>
          <p:cNvSpPr/>
          <p:nvPr/>
        </p:nvSpPr>
        <p:spPr>
          <a:xfrm>
            <a:off x="8216861" y="4838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8674061" y="48768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8121611" y="5334000"/>
            <a:ext cx="3686175" cy="533400"/>
          </a:xfrm>
          <a:custGeom>
            <a:avLst/>
            <a:gdLst/>
            <a:ahLst/>
            <a:cxnLst/>
            <a:rect l="l" t="t" r="r" b="b"/>
            <a:pathLst>
              <a:path w="3686175" h="533400">
                <a:moveTo>
                  <a:pt x="38100" y="0"/>
                </a:moveTo>
                <a:lnTo>
                  <a:pt x="3648074" y="0"/>
                </a:lnTo>
                <a:cubicBezTo>
                  <a:pt x="3669117" y="0"/>
                  <a:pt x="3686175" y="17058"/>
                  <a:pt x="3686175" y="38101"/>
                </a:cubicBezTo>
                <a:lnTo>
                  <a:pt x="3686175" y="495299"/>
                </a:lnTo>
                <a:cubicBezTo>
                  <a:pt x="3686175" y="516342"/>
                  <a:pt x="3669117" y="533400"/>
                  <a:pt x="3648074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8121611" y="53340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254961" y="5448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09" name="Text 107"/>
          <p:cNvSpPr/>
          <p:nvPr/>
        </p:nvSpPr>
        <p:spPr>
          <a:xfrm>
            <a:off x="8216861" y="5448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8674061" y="54864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883" y="344650"/>
            <a:ext cx="1077032" cy="344650"/>
          </a:xfrm>
          <a:custGeom>
            <a:avLst/>
            <a:gdLst/>
            <a:ahLst/>
            <a:cxnLst/>
            <a:rect l="l" t="t" r="r" b="b"/>
            <a:pathLst>
              <a:path w="1077032" h="344650">
                <a:moveTo>
                  <a:pt x="0" y="0"/>
                </a:moveTo>
                <a:lnTo>
                  <a:pt x="1077032" y="0"/>
                </a:lnTo>
                <a:lnTo>
                  <a:pt x="1077032" y="344650"/>
                </a:lnTo>
                <a:lnTo>
                  <a:pt x="0" y="34465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1883" y="344650"/>
            <a:ext cx="34465" cy="344650"/>
          </a:xfrm>
          <a:custGeom>
            <a:avLst/>
            <a:gdLst/>
            <a:ahLst/>
            <a:cxnLst/>
            <a:rect l="l" t="t" r="r" b="b"/>
            <a:pathLst>
              <a:path w="34465" h="344650">
                <a:moveTo>
                  <a:pt x="0" y="0"/>
                </a:moveTo>
                <a:lnTo>
                  <a:pt x="34465" y="0"/>
                </a:lnTo>
                <a:lnTo>
                  <a:pt x="34465" y="344650"/>
                </a:lnTo>
                <a:lnTo>
                  <a:pt x="0" y="34465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16975" y="413580"/>
            <a:ext cx="85300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spc="54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4650" y="827160"/>
            <a:ext cx="11709490" cy="413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883" y="1447531"/>
            <a:ext cx="5635030" cy="1171811"/>
          </a:xfrm>
          <a:custGeom>
            <a:avLst/>
            <a:gdLst/>
            <a:ahLst/>
            <a:cxnLst/>
            <a:rect l="l" t="t" r="r" b="b"/>
            <a:pathLst>
              <a:path w="5635030" h="1171811">
                <a:moveTo>
                  <a:pt x="34463" y="0"/>
                </a:moveTo>
                <a:lnTo>
                  <a:pt x="5600567" y="0"/>
                </a:lnTo>
                <a:cubicBezTo>
                  <a:pt x="5619601" y="0"/>
                  <a:pt x="5635030" y="15430"/>
                  <a:pt x="5635030" y="34463"/>
                </a:cubicBezTo>
                <a:lnTo>
                  <a:pt x="5635030" y="1137348"/>
                </a:lnTo>
                <a:cubicBezTo>
                  <a:pt x="5635030" y="1156381"/>
                  <a:pt x="5619601" y="1171811"/>
                  <a:pt x="5600567" y="1171811"/>
                </a:cubicBezTo>
                <a:lnTo>
                  <a:pt x="34463" y="1171811"/>
                </a:lnTo>
                <a:cubicBezTo>
                  <a:pt x="15430" y="1171811"/>
                  <a:pt x="0" y="1156381"/>
                  <a:pt x="0" y="1137348"/>
                </a:cubicBezTo>
                <a:lnTo>
                  <a:pt x="0" y="34463"/>
                </a:lnTo>
                <a:cubicBezTo>
                  <a:pt x="0" y="15442"/>
                  <a:pt x="15442" y="0"/>
                  <a:pt x="3446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1883" y="1447531"/>
            <a:ext cx="34465" cy="1171811"/>
          </a:xfrm>
          <a:custGeom>
            <a:avLst/>
            <a:gdLst/>
            <a:ahLst/>
            <a:cxnLst/>
            <a:rect l="l" t="t" r="r" b="b"/>
            <a:pathLst>
              <a:path w="34465" h="1171811">
                <a:moveTo>
                  <a:pt x="34465" y="0"/>
                </a:moveTo>
                <a:lnTo>
                  <a:pt x="34465" y="0"/>
                </a:lnTo>
                <a:lnTo>
                  <a:pt x="34465" y="1171811"/>
                </a:lnTo>
                <a:lnTo>
                  <a:pt x="34465" y="1171811"/>
                </a:lnTo>
                <a:cubicBezTo>
                  <a:pt x="15431" y="1171811"/>
                  <a:pt x="0" y="1156380"/>
                  <a:pt x="0" y="113734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51440" y="1619856"/>
            <a:ext cx="5376543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1440" y="1998864"/>
            <a:ext cx="5342078" cy="44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analyzes NYC taxi trip data to understand travel behavior and build machine learning models capable of predicting taxi fares accurately.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4650" y="2757094"/>
            <a:ext cx="573842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D8A2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8097" y="3105191"/>
            <a:ext cx="5641923" cy="592798"/>
          </a:xfrm>
          <a:custGeom>
            <a:avLst/>
            <a:gdLst/>
            <a:ahLst/>
            <a:cxnLst/>
            <a:rect l="l" t="t" r="r" b="b"/>
            <a:pathLst>
              <a:path w="5641923" h="592798">
                <a:moveTo>
                  <a:pt x="34465" y="0"/>
                </a:moveTo>
                <a:lnTo>
                  <a:pt x="5607458" y="0"/>
                </a:lnTo>
                <a:cubicBezTo>
                  <a:pt x="5626493" y="0"/>
                  <a:pt x="5641923" y="15431"/>
                  <a:pt x="5641923" y="34465"/>
                </a:cubicBezTo>
                <a:lnTo>
                  <a:pt x="5641923" y="558333"/>
                </a:lnTo>
                <a:cubicBezTo>
                  <a:pt x="5641923" y="577368"/>
                  <a:pt x="5626493" y="592798"/>
                  <a:pt x="5607458" y="592798"/>
                </a:cubicBezTo>
                <a:lnTo>
                  <a:pt x="34465" y="592798"/>
                </a:lnTo>
                <a:cubicBezTo>
                  <a:pt x="15431" y="592798"/>
                  <a:pt x="0" y="577368"/>
                  <a:pt x="0" y="55833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786" y="3246497"/>
            <a:ext cx="174479" cy="155093"/>
          </a:xfrm>
          <a:custGeom>
            <a:avLst/>
            <a:gdLst/>
            <a:ahLst/>
            <a:cxnLst/>
            <a:rect l="l" t="t" r="r" b="b"/>
            <a:pathLst>
              <a:path w="174479" h="155093">
                <a:moveTo>
                  <a:pt x="171632" y="16539"/>
                </a:moveTo>
                <a:cubicBezTo>
                  <a:pt x="175418" y="12753"/>
                  <a:pt x="175418" y="6604"/>
                  <a:pt x="171632" y="2817"/>
                </a:cubicBezTo>
                <a:cubicBezTo>
                  <a:pt x="167845" y="-969"/>
                  <a:pt x="161696" y="-969"/>
                  <a:pt x="157910" y="2817"/>
                </a:cubicBezTo>
                <a:lnTo>
                  <a:pt x="99750" y="60977"/>
                </a:lnTo>
                <a:lnTo>
                  <a:pt x="89239" y="50466"/>
                </a:lnTo>
                <a:cubicBezTo>
                  <a:pt x="87967" y="49193"/>
                  <a:pt x="86210" y="48466"/>
                  <a:pt x="84392" y="48466"/>
                </a:cubicBezTo>
                <a:cubicBezTo>
                  <a:pt x="80606" y="48466"/>
                  <a:pt x="77546" y="51526"/>
                  <a:pt x="77546" y="55312"/>
                </a:cubicBezTo>
                <a:lnTo>
                  <a:pt x="77546" y="64127"/>
                </a:lnTo>
                <a:lnTo>
                  <a:pt x="110352" y="96933"/>
                </a:lnTo>
                <a:lnTo>
                  <a:pt x="119167" y="96933"/>
                </a:lnTo>
                <a:cubicBezTo>
                  <a:pt x="122953" y="96933"/>
                  <a:pt x="126013" y="93873"/>
                  <a:pt x="126013" y="90087"/>
                </a:cubicBezTo>
                <a:cubicBezTo>
                  <a:pt x="126013" y="88269"/>
                  <a:pt x="125286" y="86513"/>
                  <a:pt x="124013" y="85240"/>
                </a:cubicBezTo>
                <a:lnTo>
                  <a:pt x="113502" y="74729"/>
                </a:lnTo>
                <a:lnTo>
                  <a:pt x="171662" y="16569"/>
                </a:lnTo>
                <a:close/>
                <a:moveTo>
                  <a:pt x="103324" y="107050"/>
                </a:moveTo>
                <a:lnTo>
                  <a:pt x="67429" y="71155"/>
                </a:lnTo>
                <a:cubicBezTo>
                  <a:pt x="54494" y="70034"/>
                  <a:pt x="41621" y="74699"/>
                  <a:pt x="32351" y="83968"/>
                </a:cubicBezTo>
                <a:lnTo>
                  <a:pt x="29928" y="86391"/>
                </a:lnTo>
                <a:cubicBezTo>
                  <a:pt x="23173" y="93146"/>
                  <a:pt x="19387" y="102294"/>
                  <a:pt x="19387" y="111836"/>
                </a:cubicBezTo>
                <a:cubicBezTo>
                  <a:pt x="19387" y="113896"/>
                  <a:pt x="21537" y="115229"/>
                  <a:pt x="23385" y="114320"/>
                </a:cubicBezTo>
                <a:lnTo>
                  <a:pt x="38864" y="106596"/>
                </a:lnTo>
                <a:cubicBezTo>
                  <a:pt x="40379" y="105839"/>
                  <a:pt x="41742" y="107838"/>
                  <a:pt x="40500" y="108989"/>
                </a:cubicBezTo>
                <a:lnTo>
                  <a:pt x="2211" y="143400"/>
                </a:lnTo>
                <a:cubicBezTo>
                  <a:pt x="818" y="144672"/>
                  <a:pt x="0" y="146490"/>
                  <a:pt x="0" y="148398"/>
                </a:cubicBezTo>
                <a:cubicBezTo>
                  <a:pt x="0" y="152094"/>
                  <a:pt x="2999" y="155093"/>
                  <a:pt x="6694" y="155093"/>
                </a:cubicBezTo>
                <a:lnTo>
                  <a:pt x="59190" y="155093"/>
                </a:lnTo>
                <a:cubicBezTo>
                  <a:pt x="70943" y="155093"/>
                  <a:pt x="82181" y="150428"/>
                  <a:pt x="90511" y="142128"/>
                </a:cubicBezTo>
                <a:cubicBezTo>
                  <a:pt x="99780" y="132859"/>
                  <a:pt x="104415" y="119985"/>
                  <a:pt x="103324" y="10705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3" name="Text 11"/>
          <p:cNvSpPr/>
          <p:nvPr/>
        </p:nvSpPr>
        <p:spPr>
          <a:xfrm>
            <a:off x="752199" y="3212032"/>
            <a:ext cx="2421167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&amp; Preprocessing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2199" y="3418822"/>
            <a:ext cx="2412551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Removing inconsistencies and preparing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8097" y="3808277"/>
            <a:ext cx="5641923" cy="592798"/>
          </a:xfrm>
          <a:custGeom>
            <a:avLst/>
            <a:gdLst/>
            <a:ahLst/>
            <a:cxnLst/>
            <a:rect l="l" t="t" r="r" b="b"/>
            <a:pathLst>
              <a:path w="5641923" h="592798">
                <a:moveTo>
                  <a:pt x="34465" y="0"/>
                </a:moveTo>
                <a:lnTo>
                  <a:pt x="5607458" y="0"/>
                </a:lnTo>
                <a:cubicBezTo>
                  <a:pt x="5626493" y="0"/>
                  <a:pt x="5641923" y="15431"/>
                  <a:pt x="5641923" y="34465"/>
                </a:cubicBezTo>
                <a:lnTo>
                  <a:pt x="5641923" y="558333"/>
                </a:lnTo>
                <a:cubicBezTo>
                  <a:pt x="5641923" y="577368"/>
                  <a:pt x="5626493" y="592798"/>
                  <a:pt x="5607458" y="592798"/>
                </a:cubicBezTo>
                <a:lnTo>
                  <a:pt x="34465" y="592798"/>
                </a:lnTo>
                <a:cubicBezTo>
                  <a:pt x="15431" y="592798"/>
                  <a:pt x="0" y="577368"/>
                  <a:pt x="0" y="55833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6479" y="3949584"/>
            <a:ext cx="155093" cy="155093"/>
          </a:xfrm>
          <a:custGeom>
            <a:avLst/>
            <a:gdLst/>
            <a:ahLst/>
            <a:cxnLst/>
            <a:rect l="l" t="t" r="r" b="b"/>
            <a:pathLst>
              <a:path w="155093" h="155093">
                <a:moveTo>
                  <a:pt x="19387" y="19387"/>
                </a:moveTo>
                <a:cubicBezTo>
                  <a:pt x="19387" y="14025"/>
                  <a:pt x="15055" y="9693"/>
                  <a:pt x="9693" y="9693"/>
                </a:cubicBezTo>
                <a:cubicBezTo>
                  <a:pt x="4332" y="9693"/>
                  <a:pt x="0" y="14025"/>
                  <a:pt x="0" y="19387"/>
                </a:cubicBezTo>
                <a:lnTo>
                  <a:pt x="0" y="121166"/>
                </a:lnTo>
                <a:cubicBezTo>
                  <a:pt x="0" y="134555"/>
                  <a:pt x="10844" y="145399"/>
                  <a:pt x="24233" y="145399"/>
                </a:cubicBezTo>
                <a:lnTo>
                  <a:pt x="145399" y="145399"/>
                </a:lnTo>
                <a:cubicBezTo>
                  <a:pt x="150761" y="145399"/>
                  <a:pt x="155093" y="141068"/>
                  <a:pt x="155093" y="135706"/>
                </a:cubicBezTo>
                <a:cubicBezTo>
                  <a:pt x="155093" y="130344"/>
                  <a:pt x="150761" y="126013"/>
                  <a:pt x="145399" y="126013"/>
                </a:cubicBezTo>
                <a:lnTo>
                  <a:pt x="24233" y="126013"/>
                </a:lnTo>
                <a:cubicBezTo>
                  <a:pt x="21568" y="126013"/>
                  <a:pt x="19387" y="123832"/>
                  <a:pt x="19387" y="121166"/>
                </a:cubicBezTo>
                <a:lnTo>
                  <a:pt x="19387" y="19387"/>
                </a:lnTo>
                <a:close/>
                <a:moveTo>
                  <a:pt x="142552" y="45619"/>
                </a:moveTo>
                <a:cubicBezTo>
                  <a:pt x="146338" y="41833"/>
                  <a:pt x="146338" y="35683"/>
                  <a:pt x="142552" y="31897"/>
                </a:cubicBezTo>
                <a:cubicBezTo>
                  <a:pt x="138765" y="28111"/>
                  <a:pt x="132616" y="28111"/>
                  <a:pt x="128830" y="31897"/>
                </a:cubicBezTo>
                <a:lnTo>
                  <a:pt x="96933" y="63824"/>
                </a:lnTo>
                <a:lnTo>
                  <a:pt x="79546" y="46467"/>
                </a:lnTo>
                <a:cubicBezTo>
                  <a:pt x="75759" y="42681"/>
                  <a:pt x="69610" y="42681"/>
                  <a:pt x="65823" y="46467"/>
                </a:cubicBezTo>
                <a:lnTo>
                  <a:pt x="36744" y="75547"/>
                </a:lnTo>
                <a:cubicBezTo>
                  <a:pt x="32957" y="79333"/>
                  <a:pt x="32957" y="85483"/>
                  <a:pt x="36744" y="89269"/>
                </a:cubicBezTo>
                <a:cubicBezTo>
                  <a:pt x="40530" y="93056"/>
                  <a:pt x="46679" y="93056"/>
                  <a:pt x="50466" y="89269"/>
                </a:cubicBezTo>
                <a:lnTo>
                  <a:pt x="72700" y="67035"/>
                </a:lnTo>
                <a:lnTo>
                  <a:pt x="90087" y="84422"/>
                </a:lnTo>
                <a:cubicBezTo>
                  <a:pt x="93873" y="88209"/>
                  <a:pt x="100023" y="88209"/>
                  <a:pt x="103809" y="84422"/>
                </a:cubicBezTo>
                <a:lnTo>
                  <a:pt x="142582" y="45649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7" name="Text 15"/>
          <p:cNvSpPr/>
          <p:nvPr/>
        </p:nvSpPr>
        <p:spPr>
          <a:xfrm>
            <a:off x="752199" y="3915119"/>
            <a:ext cx="197312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 (EDA)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199" y="4121909"/>
            <a:ext cx="1964506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Uncovering patterns and insights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8097" y="4511363"/>
            <a:ext cx="5641923" cy="592798"/>
          </a:xfrm>
          <a:custGeom>
            <a:avLst/>
            <a:gdLst/>
            <a:ahLst/>
            <a:cxnLst/>
            <a:rect l="l" t="t" r="r" b="b"/>
            <a:pathLst>
              <a:path w="5641923" h="592798">
                <a:moveTo>
                  <a:pt x="34465" y="0"/>
                </a:moveTo>
                <a:lnTo>
                  <a:pt x="5607458" y="0"/>
                </a:lnTo>
                <a:cubicBezTo>
                  <a:pt x="5626493" y="0"/>
                  <a:pt x="5641923" y="15431"/>
                  <a:pt x="5641923" y="34465"/>
                </a:cubicBezTo>
                <a:lnTo>
                  <a:pt x="5641923" y="558333"/>
                </a:lnTo>
                <a:cubicBezTo>
                  <a:pt x="5641923" y="577368"/>
                  <a:pt x="5626493" y="592798"/>
                  <a:pt x="5607458" y="592798"/>
                </a:cubicBezTo>
                <a:lnTo>
                  <a:pt x="34465" y="592798"/>
                </a:lnTo>
                <a:cubicBezTo>
                  <a:pt x="15431" y="592798"/>
                  <a:pt x="0" y="577368"/>
                  <a:pt x="0" y="55833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092" y="4652670"/>
            <a:ext cx="193866" cy="155093"/>
          </a:xfrm>
          <a:custGeom>
            <a:avLst/>
            <a:gdLst/>
            <a:ahLst/>
            <a:cxnLst/>
            <a:rect l="l" t="t" r="r" b="b"/>
            <a:pathLst>
              <a:path w="193866" h="155093">
                <a:moveTo>
                  <a:pt x="125982" y="63764"/>
                </a:moveTo>
                <a:cubicBezTo>
                  <a:pt x="129678" y="62764"/>
                  <a:pt x="133555" y="64521"/>
                  <a:pt x="135221" y="67944"/>
                </a:cubicBezTo>
                <a:lnTo>
                  <a:pt x="140856" y="79333"/>
                </a:lnTo>
                <a:cubicBezTo>
                  <a:pt x="143976" y="79758"/>
                  <a:pt x="147035" y="80606"/>
                  <a:pt x="149913" y="81787"/>
                </a:cubicBezTo>
                <a:lnTo>
                  <a:pt x="160515" y="74729"/>
                </a:lnTo>
                <a:cubicBezTo>
                  <a:pt x="163695" y="72609"/>
                  <a:pt x="167906" y="73033"/>
                  <a:pt x="170602" y="75729"/>
                </a:cubicBezTo>
                <a:lnTo>
                  <a:pt x="176418" y="81545"/>
                </a:lnTo>
                <a:cubicBezTo>
                  <a:pt x="179114" y="84241"/>
                  <a:pt x="179538" y="88482"/>
                  <a:pt x="177417" y="91632"/>
                </a:cubicBezTo>
                <a:lnTo>
                  <a:pt x="170360" y="102204"/>
                </a:lnTo>
                <a:cubicBezTo>
                  <a:pt x="170935" y="103627"/>
                  <a:pt x="171450" y="105112"/>
                  <a:pt x="171874" y="106656"/>
                </a:cubicBezTo>
                <a:cubicBezTo>
                  <a:pt x="172298" y="108201"/>
                  <a:pt x="172571" y="109716"/>
                  <a:pt x="172783" y="111261"/>
                </a:cubicBezTo>
                <a:lnTo>
                  <a:pt x="184203" y="116895"/>
                </a:lnTo>
                <a:cubicBezTo>
                  <a:pt x="187626" y="118591"/>
                  <a:pt x="189383" y="122469"/>
                  <a:pt x="188383" y="126134"/>
                </a:cubicBezTo>
                <a:lnTo>
                  <a:pt x="186263" y="134070"/>
                </a:lnTo>
                <a:cubicBezTo>
                  <a:pt x="185263" y="137736"/>
                  <a:pt x="181840" y="140219"/>
                  <a:pt x="178023" y="139977"/>
                </a:cubicBezTo>
                <a:lnTo>
                  <a:pt x="165301" y="139159"/>
                </a:lnTo>
                <a:cubicBezTo>
                  <a:pt x="163392" y="141613"/>
                  <a:pt x="161181" y="143885"/>
                  <a:pt x="158667" y="145823"/>
                </a:cubicBezTo>
                <a:lnTo>
                  <a:pt x="159485" y="158516"/>
                </a:lnTo>
                <a:cubicBezTo>
                  <a:pt x="159727" y="162332"/>
                  <a:pt x="157243" y="165785"/>
                  <a:pt x="153578" y="166755"/>
                </a:cubicBezTo>
                <a:lnTo>
                  <a:pt x="145642" y="168875"/>
                </a:lnTo>
                <a:cubicBezTo>
                  <a:pt x="141946" y="169875"/>
                  <a:pt x="138099" y="168118"/>
                  <a:pt x="136403" y="164695"/>
                </a:cubicBezTo>
                <a:lnTo>
                  <a:pt x="130768" y="153305"/>
                </a:lnTo>
                <a:cubicBezTo>
                  <a:pt x="127648" y="152881"/>
                  <a:pt x="124589" y="152033"/>
                  <a:pt x="121711" y="150852"/>
                </a:cubicBezTo>
                <a:lnTo>
                  <a:pt x="111109" y="157910"/>
                </a:lnTo>
                <a:cubicBezTo>
                  <a:pt x="107929" y="160030"/>
                  <a:pt x="103718" y="159606"/>
                  <a:pt x="101022" y="156910"/>
                </a:cubicBezTo>
                <a:lnTo>
                  <a:pt x="95206" y="151094"/>
                </a:lnTo>
                <a:cubicBezTo>
                  <a:pt x="92510" y="148398"/>
                  <a:pt x="92086" y="144188"/>
                  <a:pt x="94207" y="141007"/>
                </a:cubicBezTo>
                <a:lnTo>
                  <a:pt x="101265" y="130405"/>
                </a:lnTo>
                <a:cubicBezTo>
                  <a:pt x="100689" y="128981"/>
                  <a:pt x="100174" y="127497"/>
                  <a:pt x="99750" y="125952"/>
                </a:cubicBezTo>
                <a:cubicBezTo>
                  <a:pt x="99326" y="124407"/>
                  <a:pt x="99053" y="122862"/>
                  <a:pt x="98841" y="121348"/>
                </a:cubicBezTo>
                <a:lnTo>
                  <a:pt x="87421" y="115714"/>
                </a:lnTo>
                <a:cubicBezTo>
                  <a:pt x="83998" y="114017"/>
                  <a:pt x="82272" y="110140"/>
                  <a:pt x="83241" y="106475"/>
                </a:cubicBezTo>
                <a:lnTo>
                  <a:pt x="85362" y="98538"/>
                </a:lnTo>
                <a:cubicBezTo>
                  <a:pt x="86361" y="94873"/>
                  <a:pt x="89784" y="92389"/>
                  <a:pt x="93601" y="92631"/>
                </a:cubicBezTo>
                <a:lnTo>
                  <a:pt x="106293" y="93449"/>
                </a:lnTo>
                <a:cubicBezTo>
                  <a:pt x="108201" y="90996"/>
                  <a:pt x="110413" y="88724"/>
                  <a:pt x="112927" y="86785"/>
                </a:cubicBezTo>
                <a:lnTo>
                  <a:pt x="112109" y="74123"/>
                </a:lnTo>
                <a:cubicBezTo>
                  <a:pt x="111867" y="70307"/>
                  <a:pt x="114350" y="66853"/>
                  <a:pt x="118016" y="65884"/>
                </a:cubicBezTo>
                <a:lnTo>
                  <a:pt x="125952" y="63764"/>
                </a:lnTo>
                <a:close/>
                <a:moveTo>
                  <a:pt x="135827" y="102991"/>
                </a:moveTo>
                <a:cubicBezTo>
                  <a:pt x="128471" y="103000"/>
                  <a:pt x="122506" y="108979"/>
                  <a:pt x="122514" y="116335"/>
                </a:cubicBezTo>
                <a:cubicBezTo>
                  <a:pt x="122522" y="123691"/>
                  <a:pt x="128501" y="129656"/>
                  <a:pt x="135857" y="129648"/>
                </a:cubicBezTo>
                <a:cubicBezTo>
                  <a:pt x="143214" y="129639"/>
                  <a:pt x="149179" y="123660"/>
                  <a:pt x="149171" y="116304"/>
                </a:cubicBezTo>
                <a:cubicBezTo>
                  <a:pt x="149162" y="108948"/>
                  <a:pt x="143183" y="102983"/>
                  <a:pt x="135827" y="102991"/>
                </a:cubicBezTo>
                <a:close/>
                <a:moveTo>
                  <a:pt x="68126" y="-13783"/>
                </a:moveTo>
                <a:lnTo>
                  <a:pt x="76062" y="-11662"/>
                </a:lnTo>
                <a:cubicBezTo>
                  <a:pt x="79727" y="-10663"/>
                  <a:pt x="82211" y="-7209"/>
                  <a:pt x="81969" y="-3423"/>
                </a:cubicBezTo>
                <a:lnTo>
                  <a:pt x="81151" y="9239"/>
                </a:lnTo>
                <a:cubicBezTo>
                  <a:pt x="83665" y="11178"/>
                  <a:pt x="85876" y="13419"/>
                  <a:pt x="87785" y="15903"/>
                </a:cubicBezTo>
                <a:lnTo>
                  <a:pt x="100507" y="15085"/>
                </a:lnTo>
                <a:cubicBezTo>
                  <a:pt x="104294" y="14843"/>
                  <a:pt x="107747" y="17327"/>
                  <a:pt x="108747" y="20992"/>
                </a:cubicBezTo>
                <a:lnTo>
                  <a:pt x="110867" y="28928"/>
                </a:lnTo>
                <a:cubicBezTo>
                  <a:pt x="111836" y="32594"/>
                  <a:pt x="110110" y="36471"/>
                  <a:pt x="106687" y="38167"/>
                </a:cubicBezTo>
                <a:lnTo>
                  <a:pt x="95267" y="43802"/>
                </a:lnTo>
                <a:cubicBezTo>
                  <a:pt x="95055" y="45346"/>
                  <a:pt x="94752" y="46891"/>
                  <a:pt x="94358" y="48406"/>
                </a:cubicBezTo>
                <a:cubicBezTo>
                  <a:pt x="93964" y="49920"/>
                  <a:pt x="93419" y="51435"/>
                  <a:pt x="92844" y="52859"/>
                </a:cubicBezTo>
                <a:lnTo>
                  <a:pt x="99901" y="63461"/>
                </a:lnTo>
                <a:cubicBezTo>
                  <a:pt x="102022" y="66641"/>
                  <a:pt x="101598" y="70852"/>
                  <a:pt x="98902" y="73548"/>
                </a:cubicBezTo>
                <a:lnTo>
                  <a:pt x="93086" y="79364"/>
                </a:lnTo>
                <a:cubicBezTo>
                  <a:pt x="90390" y="82060"/>
                  <a:pt x="86179" y="82484"/>
                  <a:pt x="82999" y="80363"/>
                </a:cubicBezTo>
                <a:lnTo>
                  <a:pt x="72397" y="73305"/>
                </a:lnTo>
                <a:cubicBezTo>
                  <a:pt x="69519" y="74487"/>
                  <a:pt x="66460" y="75335"/>
                  <a:pt x="63340" y="75759"/>
                </a:cubicBezTo>
                <a:lnTo>
                  <a:pt x="57705" y="87149"/>
                </a:lnTo>
                <a:cubicBezTo>
                  <a:pt x="56009" y="90572"/>
                  <a:pt x="52132" y="92298"/>
                  <a:pt x="48466" y="91329"/>
                </a:cubicBezTo>
                <a:lnTo>
                  <a:pt x="40530" y="89209"/>
                </a:lnTo>
                <a:cubicBezTo>
                  <a:pt x="36834" y="88209"/>
                  <a:pt x="34381" y="84756"/>
                  <a:pt x="34623" y="80969"/>
                </a:cubicBezTo>
                <a:lnTo>
                  <a:pt x="35441" y="68277"/>
                </a:lnTo>
                <a:cubicBezTo>
                  <a:pt x="32927" y="66338"/>
                  <a:pt x="30716" y="64097"/>
                  <a:pt x="28807" y="61613"/>
                </a:cubicBezTo>
                <a:lnTo>
                  <a:pt x="16085" y="62431"/>
                </a:lnTo>
                <a:cubicBezTo>
                  <a:pt x="12298" y="62673"/>
                  <a:pt x="8845" y="60189"/>
                  <a:pt x="7846" y="56524"/>
                </a:cubicBezTo>
                <a:lnTo>
                  <a:pt x="5725" y="48588"/>
                </a:lnTo>
                <a:cubicBezTo>
                  <a:pt x="4756" y="44922"/>
                  <a:pt x="6482" y="41045"/>
                  <a:pt x="9905" y="39349"/>
                </a:cubicBezTo>
                <a:lnTo>
                  <a:pt x="21325" y="33714"/>
                </a:lnTo>
                <a:cubicBezTo>
                  <a:pt x="21537" y="32170"/>
                  <a:pt x="21840" y="30655"/>
                  <a:pt x="22234" y="29110"/>
                </a:cubicBezTo>
                <a:cubicBezTo>
                  <a:pt x="22658" y="27565"/>
                  <a:pt x="23143" y="26081"/>
                  <a:pt x="23749" y="24657"/>
                </a:cubicBezTo>
                <a:lnTo>
                  <a:pt x="16691" y="14086"/>
                </a:lnTo>
                <a:cubicBezTo>
                  <a:pt x="14570" y="10905"/>
                  <a:pt x="14994" y="6694"/>
                  <a:pt x="17690" y="3998"/>
                </a:cubicBezTo>
                <a:lnTo>
                  <a:pt x="23506" y="-1817"/>
                </a:lnTo>
                <a:cubicBezTo>
                  <a:pt x="26202" y="-4513"/>
                  <a:pt x="30413" y="-4938"/>
                  <a:pt x="33593" y="-2817"/>
                </a:cubicBezTo>
                <a:lnTo>
                  <a:pt x="44195" y="4241"/>
                </a:lnTo>
                <a:cubicBezTo>
                  <a:pt x="47073" y="3059"/>
                  <a:pt x="50132" y="2211"/>
                  <a:pt x="53252" y="1787"/>
                </a:cubicBezTo>
                <a:lnTo>
                  <a:pt x="58887" y="-9602"/>
                </a:lnTo>
                <a:cubicBezTo>
                  <a:pt x="60583" y="-13025"/>
                  <a:pt x="64430" y="-14752"/>
                  <a:pt x="68126" y="-13783"/>
                </a:cubicBezTo>
                <a:close/>
                <a:moveTo>
                  <a:pt x="58281" y="25445"/>
                </a:moveTo>
                <a:cubicBezTo>
                  <a:pt x="50925" y="25445"/>
                  <a:pt x="44953" y="31417"/>
                  <a:pt x="44953" y="38773"/>
                </a:cubicBezTo>
                <a:cubicBezTo>
                  <a:pt x="44953" y="46129"/>
                  <a:pt x="50925" y="52101"/>
                  <a:pt x="58281" y="52101"/>
                </a:cubicBezTo>
                <a:cubicBezTo>
                  <a:pt x="65637" y="52101"/>
                  <a:pt x="71609" y="46129"/>
                  <a:pt x="71609" y="38773"/>
                </a:cubicBezTo>
                <a:cubicBezTo>
                  <a:pt x="71609" y="31417"/>
                  <a:pt x="65637" y="25445"/>
                  <a:pt x="58281" y="25445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1" name="Text 19"/>
          <p:cNvSpPr/>
          <p:nvPr/>
        </p:nvSpPr>
        <p:spPr>
          <a:xfrm>
            <a:off x="752199" y="4618205"/>
            <a:ext cx="1602623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199" y="4824995"/>
            <a:ext cx="1594007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meaningful variables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8097" y="5214450"/>
            <a:ext cx="5641923" cy="592798"/>
          </a:xfrm>
          <a:custGeom>
            <a:avLst/>
            <a:gdLst/>
            <a:ahLst/>
            <a:cxnLst/>
            <a:rect l="l" t="t" r="r" b="b"/>
            <a:pathLst>
              <a:path w="5641923" h="592798">
                <a:moveTo>
                  <a:pt x="34465" y="0"/>
                </a:moveTo>
                <a:lnTo>
                  <a:pt x="5607458" y="0"/>
                </a:lnTo>
                <a:cubicBezTo>
                  <a:pt x="5626493" y="0"/>
                  <a:pt x="5641923" y="15431"/>
                  <a:pt x="5641923" y="34465"/>
                </a:cubicBezTo>
                <a:lnTo>
                  <a:pt x="5641923" y="558333"/>
                </a:lnTo>
                <a:cubicBezTo>
                  <a:pt x="5641923" y="577368"/>
                  <a:pt x="5626493" y="592798"/>
                  <a:pt x="5607458" y="592798"/>
                </a:cubicBezTo>
                <a:lnTo>
                  <a:pt x="34465" y="592798"/>
                </a:lnTo>
                <a:cubicBezTo>
                  <a:pt x="15431" y="592798"/>
                  <a:pt x="0" y="577368"/>
                  <a:pt x="0" y="55833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6479" y="5355757"/>
            <a:ext cx="155093" cy="155093"/>
          </a:xfrm>
          <a:custGeom>
            <a:avLst/>
            <a:gdLst/>
            <a:ahLst/>
            <a:cxnLst/>
            <a:rect l="l" t="t" r="r" b="b"/>
            <a:pathLst>
              <a:path w="155093" h="155093">
                <a:moveTo>
                  <a:pt x="36350" y="16963"/>
                </a:moveTo>
                <a:cubicBezTo>
                  <a:pt x="36350" y="7603"/>
                  <a:pt x="43953" y="0"/>
                  <a:pt x="53313" y="0"/>
                </a:cubicBezTo>
                <a:lnTo>
                  <a:pt x="60583" y="0"/>
                </a:lnTo>
                <a:cubicBezTo>
                  <a:pt x="65945" y="0"/>
                  <a:pt x="70276" y="4332"/>
                  <a:pt x="70276" y="9693"/>
                </a:cubicBezTo>
                <a:lnTo>
                  <a:pt x="70276" y="145399"/>
                </a:lnTo>
                <a:cubicBezTo>
                  <a:pt x="70276" y="150761"/>
                  <a:pt x="65945" y="155093"/>
                  <a:pt x="60583" y="155093"/>
                </a:cubicBezTo>
                <a:lnTo>
                  <a:pt x="50890" y="155093"/>
                </a:lnTo>
                <a:cubicBezTo>
                  <a:pt x="41863" y="155093"/>
                  <a:pt x="34260" y="148913"/>
                  <a:pt x="32109" y="140553"/>
                </a:cubicBezTo>
                <a:cubicBezTo>
                  <a:pt x="31897" y="140553"/>
                  <a:pt x="31715" y="140553"/>
                  <a:pt x="31503" y="140553"/>
                </a:cubicBezTo>
                <a:cubicBezTo>
                  <a:pt x="18114" y="140553"/>
                  <a:pt x="7270" y="129708"/>
                  <a:pt x="7270" y="116319"/>
                </a:cubicBezTo>
                <a:cubicBezTo>
                  <a:pt x="7270" y="110867"/>
                  <a:pt x="9087" y="105839"/>
                  <a:pt x="12117" y="101780"/>
                </a:cubicBezTo>
                <a:cubicBezTo>
                  <a:pt x="6240" y="97357"/>
                  <a:pt x="2423" y="90329"/>
                  <a:pt x="2423" y="82393"/>
                </a:cubicBezTo>
                <a:cubicBezTo>
                  <a:pt x="2423" y="73033"/>
                  <a:pt x="7755" y="64884"/>
                  <a:pt x="15509" y="60856"/>
                </a:cubicBezTo>
                <a:cubicBezTo>
                  <a:pt x="13359" y="57221"/>
                  <a:pt x="12117" y="52980"/>
                  <a:pt x="12117" y="48466"/>
                </a:cubicBezTo>
                <a:cubicBezTo>
                  <a:pt x="12117" y="35078"/>
                  <a:pt x="22961" y="24233"/>
                  <a:pt x="36350" y="24233"/>
                </a:cubicBezTo>
                <a:lnTo>
                  <a:pt x="36350" y="16963"/>
                </a:lnTo>
                <a:close/>
                <a:moveTo>
                  <a:pt x="118743" y="16963"/>
                </a:moveTo>
                <a:lnTo>
                  <a:pt x="118743" y="24233"/>
                </a:lnTo>
                <a:cubicBezTo>
                  <a:pt x="132132" y="24233"/>
                  <a:pt x="142976" y="35078"/>
                  <a:pt x="142976" y="48466"/>
                </a:cubicBezTo>
                <a:cubicBezTo>
                  <a:pt x="142976" y="53010"/>
                  <a:pt x="141734" y="57251"/>
                  <a:pt x="139583" y="60856"/>
                </a:cubicBezTo>
                <a:cubicBezTo>
                  <a:pt x="147368" y="64884"/>
                  <a:pt x="152669" y="73003"/>
                  <a:pt x="152669" y="82393"/>
                </a:cubicBezTo>
                <a:cubicBezTo>
                  <a:pt x="152669" y="90329"/>
                  <a:pt x="148853" y="97357"/>
                  <a:pt x="142976" y="101780"/>
                </a:cubicBezTo>
                <a:cubicBezTo>
                  <a:pt x="146005" y="105839"/>
                  <a:pt x="147823" y="110867"/>
                  <a:pt x="147823" y="116319"/>
                </a:cubicBezTo>
                <a:cubicBezTo>
                  <a:pt x="147823" y="129708"/>
                  <a:pt x="136978" y="140553"/>
                  <a:pt x="123589" y="140553"/>
                </a:cubicBezTo>
                <a:cubicBezTo>
                  <a:pt x="123377" y="140553"/>
                  <a:pt x="123196" y="140553"/>
                  <a:pt x="122984" y="140553"/>
                </a:cubicBezTo>
                <a:cubicBezTo>
                  <a:pt x="120833" y="148913"/>
                  <a:pt x="113230" y="155093"/>
                  <a:pt x="104203" y="155093"/>
                </a:cubicBezTo>
                <a:lnTo>
                  <a:pt x="94510" y="155093"/>
                </a:lnTo>
                <a:cubicBezTo>
                  <a:pt x="89148" y="155093"/>
                  <a:pt x="84816" y="150761"/>
                  <a:pt x="84816" y="145399"/>
                </a:cubicBezTo>
                <a:lnTo>
                  <a:pt x="84816" y="9693"/>
                </a:lnTo>
                <a:cubicBezTo>
                  <a:pt x="84816" y="4332"/>
                  <a:pt x="89148" y="0"/>
                  <a:pt x="94510" y="0"/>
                </a:cubicBezTo>
                <a:lnTo>
                  <a:pt x="101780" y="0"/>
                </a:lnTo>
                <a:cubicBezTo>
                  <a:pt x="111140" y="0"/>
                  <a:pt x="118743" y="7603"/>
                  <a:pt x="118743" y="1696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5" name="Text 23"/>
          <p:cNvSpPr/>
          <p:nvPr/>
        </p:nvSpPr>
        <p:spPr>
          <a:xfrm>
            <a:off x="752199" y="5321292"/>
            <a:ext cx="170601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2199" y="5528082"/>
            <a:ext cx="169740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predictive models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8097" y="5917535"/>
            <a:ext cx="5641923" cy="592798"/>
          </a:xfrm>
          <a:custGeom>
            <a:avLst/>
            <a:gdLst/>
            <a:ahLst/>
            <a:cxnLst/>
            <a:rect l="l" t="t" r="r" b="b"/>
            <a:pathLst>
              <a:path w="5641923" h="592798">
                <a:moveTo>
                  <a:pt x="34465" y="0"/>
                </a:moveTo>
                <a:lnTo>
                  <a:pt x="5607458" y="0"/>
                </a:lnTo>
                <a:cubicBezTo>
                  <a:pt x="5626493" y="0"/>
                  <a:pt x="5641923" y="15431"/>
                  <a:pt x="5641923" y="34465"/>
                </a:cubicBezTo>
                <a:lnTo>
                  <a:pt x="5641923" y="558333"/>
                </a:lnTo>
                <a:cubicBezTo>
                  <a:pt x="5641923" y="577368"/>
                  <a:pt x="5626493" y="592798"/>
                  <a:pt x="5607458" y="592798"/>
                </a:cubicBezTo>
                <a:lnTo>
                  <a:pt x="34465" y="592798"/>
                </a:lnTo>
                <a:cubicBezTo>
                  <a:pt x="15431" y="592798"/>
                  <a:pt x="0" y="577368"/>
                  <a:pt x="0" y="558333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092" y="6058842"/>
            <a:ext cx="193866" cy="155093"/>
          </a:xfrm>
          <a:custGeom>
            <a:avLst/>
            <a:gdLst/>
            <a:ahLst/>
            <a:cxnLst/>
            <a:rect l="l" t="t" r="r" b="b"/>
            <a:pathLst>
              <a:path w="193866" h="155093">
                <a:moveTo>
                  <a:pt x="116319" y="9693"/>
                </a:moveTo>
                <a:lnTo>
                  <a:pt x="155093" y="9693"/>
                </a:lnTo>
                <a:cubicBezTo>
                  <a:pt x="160454" y="9693"/>
                  <a:pt x="164786" y="14025"/>
                  <a:pt x="164786" y="19387"/>
                </a:cubicBezTo>
                <a:cubicBezTo>
                  <a:pt x="164786" y="24748"/>
                  <a:pt x="160454" y="29080"/>
                  <a:pt x="155093" y="29080"/>
                </a:cubicBezTo>
                <a:lnTo>
                  <a:pt x="120681" y="29080"/>
                </a:lnTo>
                <a:cubicBezTo>
                  <a:pt x="119106" y="36895"/>
                  <a:pt x="113745" y="43347"/>
                  <a:pt x="106626" y="46437"/>
                </a:cubicBezTo>
                <a:lnTo>
                  <a:pt x="106626" y="135706"/>
                </a:lnTo>
                <a:lnTo>
                  <a:pt x="155093" y="135706"/>
                </a:lnTo>
                <a:cubicBezTo>
                  <a:pt x="160454" y="135706"/>
                  <a:pt x="164786" y="140038"/>
                  <a:pt x="164786" y="145399"/>
                </a:cubicBezTo>
                <a:cubicBezTo>
                  <a:pt x="164786" y="150761"/>
                  <a:pt x="160454" y="155093"/>
                  <a:pt x="155093" y="155093"/>
                </a:cubicBezTo>
                <a:lnTo>
                  <a:pt x="38773" y="155093"/>
                </a:lnTo>
                <a:cubicBezTo>
                  <a:pt x="33412" y="155093"/>
                  <a:pt x="29080" y="150761"/>
                  <a:pt x="29080" y="145399"/>
                </a:cubicBezTo>
                <a:cubicBezTo>
                  <a:pt x="29080" y="140038"/>
                  <a:pt x="33412" y="135706"/>
                  <a:pt x="38773" y="135706"/>
                </a:cubicBezTo>
                <a:lnTo>
                  <a:pt x="87240" y="135706"/>
                </a:lnTo>
                <a:lnTo>
                  <a:pt x="87240" y="46437"/>
                </a:lnTo>
                <a:cubicBezTo>
                  <a:pt x="80121" y="43317"/>
                  <a:pt x="74759" y="36865"/>
                  <a:pt x="73184" y="29080"/>
                </a:cubicBezTo>
                <a:lnTo>
                  <a:pt x="38773" y="29080"/>
                </a:lnTo>
                <a:cubicBezTo>
                  <a:pt x="33412" y="29080"/>
                  <a:pt x="29080" y="24748"/>
                  <a:pt x="29080" y="19387"/>
                </a:cubicBezTo>
                <a:cubicBezTo>
                  <a:pt x="29080" y="14025"/>
                  <a:pt x="33412" y="9693"/>
                  <a:pt x="38773" y="9693"/>
                </a:cubicBezTo>
                <a:lnTo>
                  <a:pt x="77546" y="9693"/>
                </a:lnTo>
                <a:cubicBezTo>
                  <a:pt x="81969" y="3817"/>
                  <a:pt x="88996" y="0"/>
                  <a:pt x="96933" y="0"/>
                </a:cubicBezTo>
                <a:cubicBezTo>
                  <a:pt x="104869" y="0"/>
                  <a:pt x="111897" y="3817"/>
                  <a:pt x="116319" y="9693"/>
                </a:cubicBezTo>
                <a:close/>
                <a:moveTo>
                  <a:pt x="133162" y="96933"/>
                </a:moveTo>
                <a:lnTo>
                  <a:pt x="177024" y="96933"/>
                </a:lnTo>
                <a:lnTo>
                  <a:pt x="155093" y="59311"/>
                </a:lnTo>
                <a:lnTo>
                  <a:pt x="133162" y="96933"/>
                </a:lnTo>
                <a:close/>
                <a:moveTo>
                  <a:pt x="155093" y="126013"/>
                </a:moveTo>
                <a:cubicBezTo>
                  <a:pt x="136039" y="126013"/>
                  <a:pt x="120197" y="115714"/>
                  <a:pt x="116925" y="102113"/>
                </a:cubicBezTo>
                <a:cubicBezTo>
                  <a:pt x="116138" y="98781"/>
                  <a:pt x="117228" y="95358"/>
                  <a:pt x="118955" y="92389"/>
                </a:cubicBezTo>
                <a:lnTo>
                  <a:pt x="147792" y="42953"/>
                </a:lnTo>
                <a:cubicBezTo>
                  <a:pt x="149307" y="40348"/>
                  <a:pt x="152094" y="38773"/>
                  <a:pt x="155093" y="38773"/>
                </a:cubicBezTo>
                <a:cubicBezTo>
                  <a:pt x="158091" y="38773"/>
                  <a:pt x="160878" y="40379"/>
                  <a:pt x="162393" y="42953"/>
                </a:cubicBezTo>
                <a:lnTo>
                  <a:pt x="191230" y="92389"/>
                </a:lnTo>
                <a:cubicBezTo>
                  <a:pt x="192957" y="95358"/>
                  <a:pt x="194047" y="98781"/>
                  <a:pt x="193260" y="102113"/>
                </a:cubicBezTo>
                <a:cubicBezTo>
                  <a:pt x="189988" y="115683"/>
                  <a:pt x="174146" y="126013"/>
                  <a:pt x="155093" y="126013"/>
                </a:cubicBezTo>
                <a:close/>
                <a:moveTo>
                  <a:pt x="38410" y="59311"/>
                </a:moveTo>
                <a:lnTo>
                  <a:pt x="16479" y="96933"/>
                </a:lnTo>
                <a:lnTo>
                  <a:pt x="60371" y="96933"/>
                </a:lnTo>
                <a:lnTo>
                  <a:pt x="38410" y="59311"/>
                </a:lnTo>
                <a:close/>
                <a:moveTo>
                  <a:pt x="273" y="102113"/>
                </a:moveTo>
                <a:cubicBezTo>
                  <a:pt x="-515" y="98781"/>
                  <a:pt x="576" y="95358"/>
                  <a:pt x="2302" y="92389"/>
                </a:cubicBezTo>
                <a:lnTo>
                  <a:pt x="31140" y="42953"/>
                </a:lnTo>
                <a:cubicBezTo>
                  <a:pt x="32654" y="40348"/>
                  <a:pt x="35441" y="38773"/>
                  <a:pt x="38440" y="38773"/>
                </a:cubicBezTo>
                <a:cubicBezTo>
                  <a:pt x="41439" y="38773"/>
                  <a:pt x="44226" y="40379"/>
                  <a:pt x="45740" y="42953"/>
                </a:cubicBezTo>
                <a:lnTo>
                  <a:pt x="74578" y="92389"/>
                </a:lnTo>
                <a:cubicBezTo>
                  <a:pt x="76304" y="95358"/>
                  <a:pt x="77395" y="98781"/>
                  <a:pt x="76607" y="102113"/>
                </a:cubicBezTo>
                <a:cubicBezTo>
                  <a:pt x="73336" y="115683"/>
                  <a:pt x="57493" y="126013"/>
                  <a:pt x="38440" y="126013"/>
                </a:cubicBezTo>
                <a:cubicBezTo>
                  <a:pt x="19387" y="126013"/>
                  <a:pt x="3544" y="115714"/>
                  <a:pt x="273" y="10211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9" name="Text 27"/>
          <p:cNvSpPr/>
          <p:nvPr/>
        </p:nvSpPr>
        <p:spPr>
          <a:xfrm>
            <a:off x="752199" y="6024377"/>
            <a:ext cx="1981739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Evaluation &amp; Comparison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2199" y="6231167"/>
            <a:ext cx="197312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Assessing performance metrics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6719" y="2332313"/>
            <a:ext cx="5631584" cy="3296579"/>
          </a:xfrm>
          <a:custGeom>
            <a:avLst/>
            <a:gdLst/>
            <a:ahLst/>
            <a:cxnLst/>
            <a:rect l="l" t="t" r="r" b="b"/>
            <a:pathLst>
              <a:path w="5631584" h="3296579">
                <a:moveTo>
                  <a:pt x="68931" y="0"/>
                </a:moveTo>
                <a:lnTo>
                  <a:pt x="5562652" y="0"/>
                </a:lnTo>
                <a:cubicBezTo>
                  <a:pt x="5600722" y="0"/>
                  <a:pt x="5631584" y="30862"/>
                  <a:pt x="5631584" y="68931"/>
                </a:cubicBezTo>
                <a:lnTo>
                  <a:pt x="5631584" y="3227647"/>
                </a:lnTo>
                <a:cubicBezTo>
                  <a:pt x="5631584" y="3265717"/>
                  <a:pt x="5600722" y="3296579"/>
                  <a:pt x="5562652" y="3296579"/>
                </a:cubicBezTo>
                <a:lnTo>
                  <a:pt x="68931" y="3296579"/>
                </a:lnTo>
                <a:cubicBezTo>
                  <a:pt x="30862" y="3296579"/>
                  <a:pt x="0" y="3265717"/>
                  <a:pt x="0" y="3227647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270000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65531" y="2614926"/>
            <a:ext cx="516975" cy="516975"/>
          </a:xfrm>
          <a:custGeom>
            <a:avLst/>
            <a:gdLst/>
            <a:ahLst/>
            <a:cxnLst/>
            <a:rect l="l" t="t" r="r" b="b"/>
            <a:pathLst>
              <a:path w="516975" h="516975">
                <a:moveTo>
                  <a:pt x="452353" y="258488"/>
                </a:moveTo>
                <a:cubicBezTo>
                  <a:pt x="452353" y="151490"/>
                  <a:pt x="365485" y="64622"/>
                  <a:pt x="258488" y="64622"/>
                </a:cubicBezTo>
                <a:cubicBezTo>
                  <a:pt x="151490" y="64622"/>
                  <a:pt x="64622" y="151490"/>
                  <a:pt x="64622" y="258488"/>
                </a:cubicBezTo>
                <a:cubicBezTo>
                  <a:pt x="64622" y="365485"/>
                  <a:pt x="151490" y="452353"/>
                  <a:pt x="258488" y="452353"/>
                </a:cubicBezTo>
                <a:cubicBezTo>
                  <a:pt x="365485" y="452353"/>
                  <a:pt x="452353" y="365485"/>
                  <a:pt x="452353" y="258488"/>
                </a:cubicBezTo>
                <a:close/>
                <a:moveTo>
                  <a:pt x="0" y="258488"/>
                </a:moveTo>
                <a:cubicBezTo>
                  <a:pt x="0" y="115824"/>
                  <a:pt x="115824" y="0"/>
                  <a:pt x="258488" y="0"/>
                </a:cubicBezTo>
                <a:cubicBezTo>
                  <a:pt x="401151" y="0"/>
                  <a:pt x="516975" y="115824"/>
                  <a:pt x="516975" y="258488"/>
                </a:cubicBezTo>
                <a:cubicBezTo>
                  <a:pt x="516975" y="401151"/>
                  <a:pt x="401151" y="516975"/>
                  <a:pt x="258488" y="516975"/>
                </a:cubicBezTo>
                <a:cubicBezTo>
                  <a:pt x="115824" y="516975"/>
                  <a:pt x="0" y="401151"/>
                  <a:pt x="0" y="258488"/>
                </a:cubicBezTo>
                <a:close/>
                <a:moveTo>
                  <a:pt x="258488" y="339265"/>
                </a:moveTo>
                <a:cubicBezTo>
                  <a:pt x="303070" y="339265"/>
                  <a:pt x="339265" y="303070"/>
                  <a:pt x="339265" y="258488"/>
                </a:cubicBezTo>
                <a:cubicBezTo>
                  <a:pt x="339265" y="213905"/>
                  <a:pt x="303070" y="177710"/>
                  <a:pt x="258488" y="177710"/>
                </a:cubicBezTo>
                <a:cubicBezTo>
                  <a:pt x="213905" y="177710"/>
                  <a:pt x="177710" y="213905"/>
                  <a:pt x="177710" y="258488"/>
                </a:cubicBezTo>
                <a:cubicBezTo>
                  <a:pt x="177710" y="303070"/>
                  <a:pt x="213905" y="339265"/>
                  <a:pt x="258488" y="339265"/>
                </a:cubicBezTo>
                <a:close/>
                <a:moveTo>
                  <a:pt x="258488" y="113088"/>
                </a:moveTo>
                <a:cubicBezTo>
                  <a:pt x="338736" y="113088"/>
                  <a:pt x="403887" y="178240"/>
                  <a:pt x="403887" y="258488"/>
                </a:cubicBezTo>
                <a:cubicBezTo>
                  <a:pt x="403887" y="338736"/>
                  <a:pt x="338736" y="403887"/>
                  <a:pt x="258488" y="403887"/>
                </a:cubicBezTo>
                <a:cubicBezTo>
                  <a:pt x="178240" y="403887"/>
                  <a:pt x="113088" y="338736"/>
                  <a:pt x="113088" y="258488"/>
                </a:cubicBezTo>
                <a:cubicBezTo>
                  <a:pt x="113088" y="178240"/>
                  <a:pt x="178240" y="113088"/>
                  <a:pt x="258488" y="113088"/>
                </a:cubicBezTo>
                <a:close/>
                <a:moveTo>
                  <a:pt x="226177" y="258488"/>
                </a:moveTo>
                <a:cubicBezTo>
                  <a:pt x="226177" y="240655"/>
                  <a:pt x="240655" y="226177"/>
                  <a:pt x="258488" y="226177"/>
                </a:cubicBezTo>
                <a:cubicBezTo>
                  <a:pt x="276321" y="226177"/>
                  <a:pt x="290799" y="240655"/>
                  <a:pt x="290799" y="258488"/>
                </a:cubicBezTo>
                <a:cubicBezTo>
                  <a:pt x="290799" y="276321"/>
                  <a:pt x="276321" y="290799"/>
                  <a:pt x="258488" y="290799"/>
                </a:cubicBezTo>
                <a:cubicBezTo>
                  <a:pt x="240655" y="290799"/>
                  <a:pt x="226177" y="276321"/>
                  <a:pt x="226177" y="258488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3" name="Text 31"/>
          <p:cNvSpPr/>
          <p:nvPr/>
        </p:nvSpPr>
        <p:spPr>
          <a:xfrm>
            <a:off x="6424710" y="3269761"/>
            <a:ext cx="5195601" cy="310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3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6251" y="3786737"/>
            <a:ext cx="5152520" cy="560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raw trip data into actionable pricing insights and predictive capability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49403" y="4553583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6" name="Shape 34"/>
          <p:cNvSpPr/>
          <p:nvPr/>
        </p:nvSpPr>
        <p:spPr>
          <a:xfrm>
            <a:off x="7834653" y="4725908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80941" y="83120"/>
                </a:moveTo>
                <a:cubicBezTo>
                  <a:pt x="174964" y="87078"/>
                  <a:pt x="168098" y="90269"/>
                  <a:pt x="160949" y="92813"/>
                </a:cubicBezTo>
                <a:cubicBezTo>
                  <a:pt x="141966" y="99599"/>
                  <a:pt x="117046" y="103395"/>
                  <a:pt x="90471" y="103395"/>
                </a:cubicBezTo>
                <a:cubicBezTo>
                  <a:pt x="63895" y="103395"/>
                  <a:pt x="38935" y="99558"/>
                  <a:pt x="19992" y="92813"/>
                </a:cubicBezTo>
                <a:cubicBezTo>
                  <a:pt x="12884" y="90269"/>
                  <a:pt x="5978" y="87078"/>
                  <a:pt x="0" y="83120"/>
                </a:cubicBezTo>
                <a:lnTo>
                  <a:pt x="0" y="116319"/>
                </a:lnTo>
                <a:cubicBezTo>
                  <a:pt x="0" y="134171"/>
                  <a:pt x="40510" y="148630"/>
                  <a:pt x="90471" y="148630"/>
                </a:cubicBezTo>
                <a:cubicBezTo>
                  <a:pt x="140431" y="148630"/>
                  <a:pt x="180941" y="134171"/>
                  <a:pt x="180941" y="116319"/>
                </a:cubicBezTo>
                <a:lnTo>
                  <a:pt x="180941" y="83120"/>
                </a:lnTo>
                <a:close/>
                <a:moveTo>
                  <a:pt x="180941" y="51698"/>
                </a:moveTo>
                <a:lnTo>
                  <a:pt x="180941" y="32311"/>
                </a:lnTo>
                <a:cubicBezTo>
                  <a:pt x="180941" y="14459"/>
                  <a:pt x="140431" y="0"/>
                  <a:pt x="90471" y="0"/>
                </a:cubicBezTo>
                <a:cubicBezTo>
                  <a:pt x="40510" y="0"/>
                  <a:pt x="0" y="14459"/>
                  <a:pt x="0" y="32311"/>
                </a:cubicBezTo>
                <a:lnTo>
                  <a:pt x="0" y="51698"/>
                </a:lnTo>
                <a:cubicBezTo>
                  <a:pt x="0" y="69549"/>
                  <a:pt x="40510" y="84008"/>
                  <a:pt x="90471" y="84008"/>
                </a:cubicBezTo>
                <a:cubicBezTo>
                  <a:pt x="140431" y="84008"/>
                  <a:pt x="180941" y="69549"/>
                  <a:pt x="180941" y="51698"/>
                </a:cubicBezTo>
                <a:close/>
                <a:moveTo>
                  <a:pt x="160949" y="157435"/>
                </a:moveTo>
                <a:cubicBezTo>
                  <a:pt x="142007" y="164180"/>
                  <a:pt x="117087" y="168017"/>
                  <a:pt x="90471" y="168017"/>
                </a:cubicBezTo>
                <a:cubicBezTo>
                  <a:pt x="63855" y="168017"/>
                  <a:pt x="38935" y="164180"/>
                  <a:pt x="19992" y="157435"/>
                </a:cubicBezTo>
                <a:cubicBezTo>
                  <a:pt x="12884" y="154891"/>
                  <a:pt x="5978" y="151700"/>
                  <a:pt x="0" y="147742"/>
                </a:cubicBezTo>
                <a:lnTo>
                  <a:pt x="0" y="174479"/>
                </a:lnTo>
                <a:cubicBezTo>
                  <a:pt x="0" y="192331"/>
                  <a:pt x="40510" y="206790"/>
                  <a:pt x="90471" y="206790"/>
                </a:cubicBezTo>
                <a:cubicBezTo>
                  <a:pt x="140431" y="206790"/>
                  <a:pt x="180941" y="192331"/>
                  <a:pt x="180941" y="174479"/>
                </a:cubicBezTo>
                <a:lnTo>
                  <a:pt x="180941" y="147742"/>
                </a:lnTo>
                <a:cubicBezTo>
                  <a:pt x="174964" y="151700"/>
                  <a:pt x="168098" y="154891"/>
                  <a:pt x="160949" y="15743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7" name="Text 35"/>
          <p:cNvSpPr/>
          <p:nvPr/>
        </p:nvSpPr>
        <p:spPr>
          <a:xfrm>
            <a:off x="7619246" y="5173953"/>
            <a:ext cx="61175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64552" y="4846536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9" name="Shape 37"/>
          <p:cNvSpPr/>
          <p:nvPr/>
        </p:nvSpPr>
        <p:spPr>
          <a:xfrm>
            <a:off x="8735051" y="4553583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0" name="Shape 38"/>
          <p:cNvSpPr/>
          <p:nvPr/>
        </p:nvSpPr>
        <p:spPr>
          <a:xfrm>
            <a:off x="8933225" y="4725908"/>
            <a:ext cx="155093" cy="206790"/>
          </a:xfrm>
          <a:custGeom>
            <a:avLst/>
            <a:gdLst/>
            <a:ahLst/>
            <a:cxnLst/>
            <a:rect l="l" t="t" r="r" b="b"/>
            <a:pathLst>
              <a:path w="155093" h="206790">
                <a:moveTo>
                  <a:pt x="118298" y="155093"/>
                </a:moveTo>
                <a:cubicBezTo>
                  <a:pt x="121247" y="146086"/>
                  <a:pt x="127144" y="137927"/>
                  <a:pt x="133808" y="130900"/>
                </a:cubicBezTo>
                <a:cubicBezTo>
                  <a:pt x="147015" y="117006"/>
                  <a:pt x="155093" y="98225"/>
                  <a:pt x="155093" y="77546"/>
                </a:cubicBezTo>
                <a:cubicBezTo>
                  <a:pt x="155093" y="34734"/>
                  <a:pt x="120358" y="0"/>
                  <a:pt x="77546" y="0"/>
                </a:cubicBezTo>
                <a:cubicBezTo>
                  <a:pt x="34734" y="0"/>
                  <a:pt x="0" y="34734"/>
                  <a:pt x="0" y="77546"/>
                </a:cubicBezTo>
                <a:cubicBezTo>
                  <a:pt x="0" y="98225"/>
                  <a:pt x="8078" y="117006"/>
                  <a:pt x="21285" y="130900"/>
                </a:cubicBezTo>
                <a:cubicBezTo>
                  <a:pt x="27949" y="137927"/>
                  <a:pt x="33886" y="146086"/>
                  <a:pt x="36794" y="155093"/>
                </a:cubicBezTo>
                <a:lnTo>
                  <a:pt x="118258" y="155093"/>
                </a:lnTo>
                <a:close/>
                <a:moveTo>
                  <a:pt x="116319" y="174479"/>
                </a:moveTo>
                <a:lnTo>
                  <a:pt x="38773" y="174479"/>
                </a:lnTo>
                <a:lnTo>
                  <a:pt x="38773" y="180941"/>
                </a:lnTo>
                <a:cubicBezTo>
                  <a:pt x="38773" y="198793"/>
                  <a:pt x="53232" y="213252"/>
                  <a:pt x="71084" y="213252"/>
                </a:cubicBezTo>
                <a:lnTo>
                  <a:pt x="84008" y="213252"/>
                </a:lnTo>
                <a:cubicBezTo>
                  <a:pt x="101860" y="213252"/>
                  <a:pt x="116319" y="198793"/>
                  <a:pt x="116319" y="180941"/>
                </a:cubicBezTo>
                <a:lnTo>
                  <a:pt x="116319" y="174479"/>
                </a:lnTo>
                <a:close/>
                <a:moveTo>
                  <a:pt x="74315" y="45235"/>
                </a:moveTo>
                <a:cubicBezTo>
                  <a:pt x="58240" y="45235"/>
                  <a:pt x="45235" y="58240"/>
                  <a:pt x="45235" y="74315"/>
                </a:cubicBezTo>
                <a:cubicBezTo>
                  <a:pt x="45235" y="79687"/>
                  <a:pt x="40914" y="84008"/>
                  <a:pt x="35542" y="84008"/>
                </a:cubicBezTo>
                <a:cubicBezTo>
                  <a:pt x="30170" y="84008"/>
                  <a:pt x="25849" y="79687"/>
                  <a:pt x="25849" y="74315"/>
                </a:cubicBezTo>
                <a:cubicBezTo>
                  <a:pt x="25849" y="47537"/>
                  <a:pt x="47537" y="25849"/>
                  <a:pt x="74315" y="25849"/>
                </a:cubicBezTo>
                <a:cubicBezTo>
                  <a:pt x="79687" y="25849"/>
                  <a:pt x="84008" y="30170"/>
                  <a:pt x="84008" y="35542"/>
                </a:cubicBezTo>
                <a:cubicBezTo>
                  <a:pt x="84008" y="40914"/>
                  <a:pt x="79687" y="45235"/>
                  <a:pt x="74315" y="4523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8704894" y="5173953"/>
            <a:ext cx="61175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450200" y="4846536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202994" y="112523"/>
                </a:moveTo>
                <a:cubicBezTo>
                  <a:pt x="208042" y="107474"/>
                  <a:pt x="208042" y="99275"/>
                  <a:pt x="202994" y="94227"/>
                </a:cubicBezTo>
                <a:lnTo>
                  <a:pt x="138372" y="29605"/>
                </a:lnTo>
                <a:cubicBezTo>
                  <a:pt x="133323" y="24556"/>
                  <a:pt x="125124" y="24556"/>
                  <a:pt x="120076" y="29605"/>
                </a:cubicBezTo>
                <a:cubicBezTo>
                  <a:pt x="115027" y="34653"/>
                  <a:pt x="115027" y="42852"/>
                  <a:pt x="120076" y="47901"/>
                </a:cubicBezTo>
                <a:lnTo>
                  <a:pt x="162645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162645" y="116319"/>
                </a:lnTo>
                <a:lnTo>
                  <a:pt x="120076" y="158889"/>
                </a:lnTo>
                <a:cubicBezTo>
                  <a:pt x="115027" y="163938"/>
                  <a:pt x="115027" y="172137"/>
                  <a:pt x="120076" y="177185"/>
                </a:cubicBezTo>
                <a:cubicBezTo>
                  <a:pt x="125124" y="182234"/>
                  <a:pt x="133323" y="182234"/>
                  <a:pt x="138372" y="177185"/>
                </a:cubicBezTo>
                <a:lnTo>
                  <a:pt x="202994" y="112563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3" name="Shape 41"/>
          <p:cNvSpPr/>
          <p:nvPr/>
        </p:nvSpPr>
        <p:spPr>
          <a:xfrm>
            <a:off x="9833839" y="4553583"/>
            <a:ext cx="551440" cy="551440"/>
          </a:xfrm>
          <a:custGeom>
            <a:avLst/>
            <a:gdLst/>
            <a:ahLst/>
            <a:cxnLst/>
            <a:rect l="l" t="t" r="r" b="b"/>
            <a:pathLst>
              <a:path w="551440" h="551440">
                <a:moveTo>
                  <a:pt x="275720" y="0"/>
                </a:moveTo>
                <a:lnTo>
                  <a:pt x="275720" y="0"/>
                </a:lnTo>
                <a:cubicBezTo>
                  <a:pt x="427894" y="0"/>
                  <a:pt x="551440" y="123546"/>
                  <a:pt x="551440" y="275720"/>
                </a:cubicBezTo>
                <a:lnTo>
                  <a:pt x="551440" y="275720"/>
                </a:lnTo>
                <a:cubicBezTo>
                  <a:pt x="551440" y="427894"/>
                  <a:pt x="427894" y="551440"/>
                  <a:pt x="275720" y="551440"/>
                </a:cubicBezTo>
                <a:lnTo>
                  <a:pt x="275720" y="551440"/>
                </a:lnTo>
                <a:cubicBezTo>
                  <a:pt x="123546" y="551440"/>
                  <a:pt x="0" y="427894"/>
                  <a:pt x="0" y="275720"/>
                </a:cubicBezTo>
                <a:lnTo>
                  <a:pt x="0" y="275720"/>
                </a:lnTo>
                <a:cubicBezTo>
                  <a:pt x="0" y="123546"/>
                  <a:pt x="123546" y="0"/>
                  <a:pt x="27572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06164" y="4725908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2924" y="12924"/>
                </a:moveTo>
                <a:cubicBezTo>
                  <a:pt x="20073" y="12924"/>
                  <a:pt x="25849" y="18700"/>
                  <a:pt x="25849" y="25849"/>
                </a:cubicBezTo>
                <a:lnTo>
                  <a:pt x="25849" y="161555"/>
                </a:lnTo>
                <a:cubicBezTo>
                  <a:pt x="25849" y="165109"/>
                  <a:pt x="28757" y="168017"/>
                  <a:pt x="32311" y="168017"/>
                </a:cubicBezTo>
                <a:lnTo>
                  <a:pt x="193866" y="168017"/>
                </a:lnTo>
                <a:cubicBezTo>
                  <a:pt x="201015" y="168017"/>
                  <a:pt x="206790" y="173793"/>
                  <a:pt x="206790" y="180941"/>
                </a:cubicBezTo>
                <a:cubicBezTo>
                  <a:pt x="206790" y="188090"/>
                  <a:pt x="201015" y="193866"/>
                  <a:pt x="193866" y="193866"/>
                </a:cubicBezTo>
                <a:lnTo>
                  <a:pt x="32311" y="193866"/>
                </a:lnTo>
                <a:cubicBezTo>
                  <a:pt x="14459" y="193866"/>
                  <a:pt x="0" y="179407"/>
                  <a:pt x="0" y="161555"/>
                </a:cubicBezTo>
                <a:lnTo>
                  <a:pt x="0" y="25849"/>
                </a:lnTo>
                <a:cubicBezTo>
                  <a:pt x="0" y="18700"/>
                  <a:pt x="5776" y="12924"/>
                  <a:pt x="12924" y="12924"/>
                </a:cubicBezTo>
                <a:close/>
                <a:moveTo>
                  <a:pt x="51698" y="38773"/>
                </a:moveTo>
                <a:cubicBezTo>
                  <a:pt x="51698" y="31624"/>
                  <a:pt x="57473" y="25849"/>
                  <a:pt x="64622" y="25849"/>
                </a:cubicBezTo>
                <a:lnTo>
                  <a:pt x="142168" y="25849"/>
                </a:lnTo>
                <a:cubicBezTo>
                  <a:pt x="149317" y="25849"/>
                  <a:pt x="155093" y="31624"/>
                  <a:pt x="155093" y="38773"/>
                </a:cubicBezTo>
                <a:cubicBezTo>
                  <a:pt x="155093" y="45922"/>
                  <a:pt x="149317" y="51698"/>
                  <a:pt x="142168" y="51698"/>
                </a:cubicBezTo>
                <a:lnTo>
                  <a:pt x="64622" y="51698"/>
                </a:lnTo>
                <a:cubicBezTo>
                  <a:pt x="57473" y="51698"/>
                  <a:pt x="51698" y="45922"/>
                  <a:pt x="51698" y="38773"/>
                </a:cubicBezTo>
                <a:close/>
                <a:moveTo>
                  <a:pt x="64622" y="71084"/>
                </a:moveTo>
                <a:lnTo>
                  <a:pt x="116319" y="71084"/>
                </a:lnTo>
                <a:cubicBezTo>
                  <a:pt x="123468" y="71084"/>
                  <a:pt x="129244" y="76860"/>
                  <a:pt x="129244" y="84008"/>
                </a:cubicBezTo>
                <a:cubicBezTo>
                  <a:pt x="129244" y="91157"/>
                  <a:pt x="123468" y="96933"/>
                  <a:pt x="116319" y="96933"/>
                </a:cubicBezTo>
                <a:lnTo>
                  <a:pt x="64622" y="96933"/>
                </a:lnTo>
                <a:cubicBezTo>
                  <a:pt x="57473" y="96933"/>
                  <a:pt x="51698" y="91157"/>
                  <a:pt x="51698" y="84008"/>
                </a:cubicBezTo>
                <a:cubicBezTo>
                  <a:pt x="51698" y="76860"/>
                  <a:pt x="57473" y="71084"/>
                  <a:pt x="64622" y="71084"/>
                </a:cubicBezTo>
                <a:close/>
                <a:moveTo>
                  <a:pt x="64622" y="116319"/>
                </a:moveTo>
                <a:lnTo>
                  <a:pt x="168017" y="116319"/>
                </a:lnTo>
                <a:cubicBezTo>
                  <a:pt x="175166" y="116319"/>
                  <a:pt x="180941" y="122095"/>
                  <a:pt x="180941" y="129244"/>
                </a:cubicBezTo>
                <a:cubicBezTo>
                  <a:pt x="180941" y="136393"/>
                  <a:pt x="175166" y="142168"/>
                  <a:pt x="168017" y="142168"/>
                </a:cubicBezTo>
                <a:lnTo>
                  <a:pt x="64622" y="142168"/>
                </a:lnTo>
                <a:cubicBezTo>
                  <a:pt x="57473" y="142168"/>
                  <a:pt x="51698" y="136393"/>
                  <a:pt x="51698" y="129244"/>
                </a:cubicBezTo>
                <a:cubicBezTo>
                  <a:pt x="51698" y="122095"/>
                  <a:pt x="57473" y="116319"/>
                  <a:pt x="64622" y="116319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5" name="Text 43"/>
          <p:cNvSpPr/>
          <p:nvPr/>
        </p:nvSpPr>
        <p:spPr>
          <a:xfrm>
            <a:off x="9790542" y="5173953"/>
            <a:ext cx="63760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256" y="352625"/>
            <a:ext cx="1128399" cy="352625"/>
          </a:xfrm>
          <a:custGeom>
            <a:avLst/>
            <a:gdLst/>
            <a:ahLst/>
            <a:cxnLst/>
            <a:rect l="l" t="t" r="r" b="b"/>
            <a:pathLst>
              <a:path w="1128399" h="352625">
                <a:moveTo>
                  <a:pt x="0" y="0"/>
                </a:moveTo>
                <a:lnTo>
                  <a:pt x="1128399" y="0"/>
                </a:lnTo>
                <a:lnTo>
                  <a:pt x="1128399" y="352625"/>
                </a:lnTo>
                <a:lnTo>
                  <a:pt x="0" y="352625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70256" y="352625"/>
            <a:ext cx="35262" cy="352625"/>
          </a:xfrm>
          <a:custGeom>
            <a:avLst/>
            <a:gdLst/>
            <a:ahLst/>
            <a:cxnLst/>
            <a:rect l="l" t="t" r="r" b="b"/>
            <a:pathLst>
              <a:path w="35262" h="352625">
                <a:moveTo>
                  <a:pt x="0" y="0"/>
                </a:moveTo>
                <a:lnTo>
                  <a:pt x="35262" y="0"/>
                </a:lnTo>
                <a:lnTo>
                  <a:pt x="35262" y="352625"/>
                </a:lnTo>
                <a:lnTo>
                  <a:pt x="0" y="352625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28937" y="423150"/>
            <a:ext cx="89919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spc="56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2625" y="846299"/>
            <a:ext cx="11698325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3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0256" y="1481024"/>
            <a:ext cx="11469119" cy="643540"/>
          </a:xfrm>
          <a:custGeom>
            <a:avLst/>
            <a:gdLst/>
            <a:ahLst/>
            <a:cxnLst/>
            <a:rect l="l" t="t" r="r" b="b"/>
            <a:pathLst>
              <a:path w="11469119" h="643540">
                <a:moveTo>
                  <a:pt x="35260" y="0"/>
                </a:moveTo>
                <a:lnTo>
                  <a:pt x="11433860" y="0"/>
                </a:lnTo>
                <a:cubicBezTo>
                  <a:pt x="11453333" y="0"/>
                  <a:pt x="11469119" y="15786"/>
                  <a:pt x="11469119" y="35260"/>
                </a:cubicBezTo>
                <a:lnTo>
                  <a:pt x="11469119" y="608281"/>
                </a:lnTo>
                <a:cubicBezTo>
                  <a:pt x="11469119" y="627754"/>
                  <a:pt x="11453333" y="643540"/>
                  <a:pt x="11433860" y="643540"/>
                </a:cubicBezTo>
                <a:lnTo>
                  <a:pt x="35260" y="643540"/>
                </a:lnTo>
                <a:cubicBezTo>
                  <a:pt x="15786" y="643540"/>
                  <a:pt x="0" y="627754"/>
                  <a:pt x="0" y="608281"/>
                </a:cubicBezTo>
                <a:lnTo>
                  <a:pt x="0" y="35260"/>
                </a:lnTo>
                <a:cubicBezTo>
                  <a:pt x="0" y="15799"/>
                  <a:pt x="15799" y="0"/>
                  <a:pt x="3526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70256" y="1481024"/>
            <a:ext cx="35262" cy="643540"/>
          </a:xfrm>
          <a:custGeom>
            <a:avLst/>
            <a:gdLst/>
            <a:ahLst/>
            <a:cxnLst/>
            <a:rect l="l" t="t" r="r" b="b"/>
            <a:pathLst>
              <a:path w="35262" h="643540">
                <a:moveTo>
                  <a:pt x="35262" y="0"/>
                </a:moveTo>
                <a:lnTo>
                  <a:pt x="35262" y="0"/>
                </a:lnTo>
                <a:lnTo>
                  <a:pt x="35262" y="643540"/>
                </a:lnTo>
                <a:lnTo>
                  <a:pt x="35262" y="643540"/>
                </a:lnTo>
                <a:cubicBezTo>
                  <a:pt x="15788" y="643540"/>
                  <a:pt x="0" y="627753"/>
                  <a:pt x="0" y="608278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64200" y="1657336"/>
            <a:ext cx="11187020" cy="29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Companies need </a:t>
            </a:r>
            <a:pPr>
              <a:lnSpc>
                <a:spcPct val="140000"/>
              </a:lnSpc>
            </a:pPr>
            <a:r>
              <a:rPr lang="en-US" sz="1388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 fare prediction</a:t>
            </a:r>
            <a:pPr>
              <a:lnSpc>
                <a:spcPct val="140000"/>
              </a:lnSpc>
            </a:pPr>
            <a:r>
              <a:rPr lang="en-US" sz="138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make data-driven decisions and optimize their operations.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9677" y="2303521"/>
            <a:ext cx="5638469" cy="1459866"/>
          </a:xfrm>
          <a:custGeom>
            <a:avLst/>
            <a:gdLst/>
            <a:ahLst/>
            <a:cxnLst/>
            <a:rect l="l" t="t" r="r" b="b"/>
            <a:pathLst>
              <a:path w="5638469" h="1459866">
                <a:moveTo>
                  <a:pt x="70526" y="0"/>
                </a:moveTo>
                <a:lnTo>
                  <a:pt x="5567943" y="0"/>
                </a:lnTo>
                <a:cubicBezTo>
                  <a:pt x="5606894" y="0"/>
                  <a:pt x="5638469" y="31576"/>
                  <a:pt x="5638469" y="70526"/>
                </a:cubicBezTo>
                <a:lnTo>
                  <a:pt x="5638469" y="1389340"/>
                </a:lnTo>
                <a:cubicBezTo>
                  <a:pt x="5638469" y="1428291"/>
                  <a:pt x="5606894" y="1459866"/>
                  <a:pt x="5567943" y="1459866"/>
                </a:cubicBezTo>
                <a:lnTo>
                  <a:pt x="70526" y="1459866"/>
                </a:lnTo>
                <a:cubicBezTo>
                  <a:pt x="31576" y="1459866"/>
                  <a:pt x="0" y="1428291"/>
                  <a:pt x="0" y="1389340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3042" y="2486887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70526" y="0"/>
                </a:moveTo>
                <a:lnTo>
                  <a:pt x="423148" y="0"/>
                </a:lnTo>
                <a:cubicBezTo>
                  <a:pt x="462099" y="0"/>
                  <a:pt x="493675" y="31576"/>
                  <a:pt x="493675" y="70526"/>
                </a:cubicBezTo>
                <a:lnTo>
                  <a:pt x="493675" y="423148"/>
                </a:lnTo>
                <a:cubicBezTo>
                  <a:pt x="493675" y="462099"/>
                  <a:pt x="462099" y="493675"/>
                  <a:pt x="423148" y="493675"/>
                </a:cubicBezTo>
                <a:lnTo>
                  <a:pt x="70526" y="493675"/>
                </a:lnTo>
                <a:cubicBezTo>
                  <a:pt x="31576" y="493675"/>
                  <a:pt x="0" y="462099"/>
                  <a:pt x="0" y="423148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723762" y="2627937"/>
            <a:ext cx="132234" cy="211575"/>
          </a:xfrm>
          <a:custGeom>
            <a:avLst/>
            <a:gdLst/>
            <a:ahLst/>
            <a:cxnLst/>
            <a:rect l="l" t="t" r="r" b="b"/>
            <a:pathLst>
              <a:path w="132234" h="211575">
                <a:moveTo>
                  <a:pt x="56200" y="9918"/>
                </a:moveTo>
                <a:cubicBezTo>
                  <a:pt x="56200" y="4422"/>
                  <a:pt x="60621" y="0"/>
                  <a:pt x="66117" y="0"/>
                </a:cubicBezTo>
                <a:cubicBezTo>
                  <a:pt x="71613" y="0"/>
                  <a:pt x="76035" y="4422"/>
                  <a:pt x="76035" y="9918"/>
                </a:cubicBezTo>
                <a:lnTo>
                  <a:pt x="76035" y="26447"/>
                </a:lnTo>
                <a:lnTo>
                  <a:pt x="99176" y="26447"/>
                </a:lnTo>
                <a:cubicBezTo>
                  <a:pt x="106490" y="26447"/>
                  <a:pt x="112399" y="32356"/>
                  <a:pt x="112399" y="39670"/>
                </a:cubicBezTo>
                <a:cubicBezTo>
                  <a:pt x="112399" y="46984"/>
                  <a:pt x="106490" y="52894"/>
                  <a:pt x="99176" y="52894"/>
                </a:cubicBezTo>
                <a:lnTo>
                  <a:pt x="51695" y="52894"/>
                </a:lnTo>
                <a:cubicBezTo>
                  <a:pt x="41406" y="52894"/>
                  <a:pt x="33059" y="61241"/>
                  <a:pt x="33059" y="71530"/>
                </a:cubicBezTo>
                <a:cubicBezTo>
                  <a:pt x="33059" y="80828"/>
                  <a:pt x="39877" y="88680"/>
                  <a:pt x="49051" y="90002"/>
                </a:cubicBezTo>
                <a:lnTo>
                  <a:pt x="86903" y="95415"/>
                </a:lnTo>
                <a:cubicBezTo>
                  <a:pt x="109135" y="98597"/>
                  <a:pt x="125623" y="117606"/>
                  <a:pt x="125623" y="140044"/>
                </a:cubicBezTo>
                <a:cubicBezTo>
                  <a:pt x="125623" y="164962"/>
                  <a:pt x="105416" y="185128"/>
                  <a:pt x="80539" y="185128"/>
                </a:cubicBezTo>
                <a:lnTo>
                  <a:pt x="76035" y="185128"/>
                </a:lnTo>
                <a:lnTo>
                  <a:pt x="76035" y="201657"/>
                </a:lnTo>
                <a:cubicBezTo>
                  <a:pt x="76035" y="207153"/>
                  <a:pt x="71613" y="211575"/>
                  <a:pt x="66117" y="211575"/>
                </a:cubicBezTo>
                <a:cubicBezTo>
                  <a:pt x="60621" y="211575"/>
                  <a:pt x="56200" y="207153"/>
                  <a:pt x="56200" y="201657"/>
                </a:cubicBezTo>
                <a:lnTo>
                  <a:pt x="56200" y="185128"/>
                </a:lnTo>
                <a:lnTo>
                  <a:pt x="26447" y="185128"/>
                </a:lnTo>
                <a:cubicBezTo>
                  <a:pt x="19133" y="185128"/>
                  <a:pt x="13223" y="179219"/>
                  <a:pt x="13223" y="171905"/>
                </a:cubicBezTo>
                <a:cubicBezTo>
                  <a:pt x="13223" y="164590"/>
                  <a:pt x="19133" y="158681"/>
                  <a:pt x="26447" y="158681"/>
                </a:cubicBezTo>
                <a:lnTo>
                  <a:pt x="80539" y="158681"/>
                </a:lnTo>
                <a:cubicBezTo>
                  <a:pt x="90828" y="158681"/>
                  <a:pt x="99176" y="150334"/>
                  <a:pt x="99176" y="140044"/>
                </a:cubicBezTo>
                <a:cubicBezTo>
                  <a:pt x="99176" y="130747"/>
                  <a:pt x="92357" y="122895"/>
                  <a:pt x="83184" y="121573"/>
                </a:cubicBezTo>
                <a:lnTo>
                  <a:pt x="45332" y="116160"/>
                </a:lnTo>
                <a:cubicBezTo>
                  <a:pt x="23100" y="113019"/>
                  <a:pt x="6612" y="93969"/>
                  <a:pt x="6612" y="71530"/>
                </a:cubicBezTo>
                <a:cubicBezTo>
                  <a:pt x="6612" y="46654"/>
                  <a:pt x="26819" y="26447"/>
                  <a:pt x="51695" y="26447"/>
                </a:cubicBezTo>
                <a:lnTo>
                  <a:pt x="56200" y="26447"/>
                </a:lnTo>
                <a:lnTo>
                  <a:pt x="56200" y="9918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77767" y="2592674"/>
            <a:ext cx="2565345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Pricing Strategies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3042" y="3121611"/>
            <a:ext cx="5342265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competitive and profitable pricing models based on data-driven insights from historical trip patterns and market demand.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649" y="2303521"/>
            <a:ext cx="5638469" cy="1459866"/>
          </a:xfrm>
          <a:custGeom>
            <a:avLst/>
            <a:gdLst/>
            <a:ahLst/>
            <a:cxnLst/>
            <a:rect l="l" t="t" r="r" b="b"/>
            <a:pathLst>
              <a:path w="5638469" h="1459866">
                <a:moveTo>
                  <a:pt x="70526" y="0"/>
                </a:moveTo>
                <a:lnTo>
                  <a:pt x="5567943" y="0"/>
                </a:lnTo>
                <a:cubicBezTo>
                  <a:pt x="5606894" y="0"/>
                  <a:pt x="5638469" y="31576"/>
                  <a:pt x="5638469" y="70526"/>
                </a:cubicBezTo>
                <a:lnTo>
                  <a:pt x="5638469" y="1389340"/>
                </a:lnTo>
                <a:cubicBezTo>
                  <a:pt x="5638469" y="1428291"/>
                  <a:pt x="5606894" y="1459866"/>
                  <a:pt x="5567943" y="1459866"/>
                </a:cubicBezTo>
                <a:lnTo>
                  <a:pt x="70526" y="1459866"/>
                </a:lnTo>
                <a:cubicBezTo>
                  <a:pt x="31576" y="1459866"/>
                  <a:pt x="0" y="1428291"/>
                  <a:pt x="0" y="1389340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75015" y="2486887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70526" y="0"/>
                </a:moveTo>
                <a:lnTo>
                  <a:pt x="423148" y="0"/>
                </a:lnTo>
                <a:cubicBezTo>
                  <a:pt x="462099" y="0"/>
                  <a:pt x="493675" y="31576"/>
                  <a:pt x="493675" y="70526"/>
                </a:cubicBezTo>
                <a:lnTo>
                  <a:pt x="493675" y="423148"/>
                </a:lnTo>
                <a:cubicBezTo>
                  <a:pt x="493675" y="462099"/>
                  <a:pt x="462099" y="493675"/>
                  <a:pt x="423148" y="493675"/>
                </a:cubicBezTo>
                <a:lnTo>
                  <a:pt x="70526" y="493675"/>
                </a:lnTo>
                <a:cubicBezTo>
                  <a:pt x="31576" y="493675"/>
                  <a:pt x="0" y="462099"/>
                  <a:pt x="0" y="423148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16064" y="2627937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52894" y="39670"/>
                </a:moveTo>
                <a:lnTo>
                  <a:pt x="52894" y="33059"/>
                </a:lnTo>
                <a:cubicBezTo>
                  <a:pt x="52894" y="14794"/>
                  <a:pt x="88432" y="0"/>
                  <a:pt x="132234" y="0"/>
                </a:cubicBezTo>
                <a:cubicBezTo>
                  <a:pt x="176037" y="0"/>
                  <a:pt x="211575" y="14794"/>
                  <a:pt x="211575" y="33059"/>
                </a:cubicBezTo>
                <a:lnTo>
                  <a:pt x="211575" y="39670"/>
                </a:lnTo>
                <a:cubicBezTo>
                  <a:pt x="211575" y="52315"/>
                  <a:pt x="194508" y="63307"/>
                  <a:pt x="169425" y="68886"/>
                </a:cubicBezTo>
                <a:cubicBezTo>
                  <a:pt x="168433" y="67729"/>
                  <a:pt x="167400" y="66613"/>
                  <a:pt x="166367" y="65580"/>
                </a:cubicBezTo>
                <a:cubicBezTo>
                  <a:pt x="159962" y="59257"/>
                  <a:pt x="151698" y="54464"/>
                  <a:pt x="143061" y="50910"/>
                </a:cubicBezTo>
                <a:cubicBezTo>
                  <a:pt x="125747" y="43679"/>
                  <a:pt x="103184" y="39712"/>
                  <a:pt x="79341" y="39712"/>
                </a:cubicBezTo>
                <a:cubicBezTo>
                  <a:pt x="70291" y="39712"/>
                  <a:pt x="61448" y="40290"/>
                  <a:pt x="52976" y="41406"/>
                </a:cubicBezTo>
                <a:cubicBezTo>
                  <a:pt x="52894" y="40869"/>
                  <a:pt x="52894" y="40290"/>
                  <a:pt x="52894" y="39712"/>
                </a:cubicBezTo>
                <a:close/>
                <a:moveTo>
                  <a:pt x="178516" y="145871"/>
                </a:moveTo>
                <a:lnTo>
                  <a:pt x="178516" y="126780"/>
                </a:lnTo>
                <a:cubicBezTo>
                  <a:pt x="184756" y="125168"/>
                  <a:pt x="190624" y="123267"/>
                  <a:pt x="195955" y="121036"/>
                </a:cubicBezTo>
                <a:cubicBezTo>
                  <a:pt x="201409" y="118763"/>
                  <a:pt x="206740" y="115994"/>
                  <a:pt x="211575" y="112647"/>
                </a:cubicBezTo>
                <a:lnTo>
                  <a:pt x="211575" y="119011"/>
                </a:lnTo>
                <a:cubicBezTo>
                  <a:pt x="211575" y="130085"/>
                  <a:pt x="198558" y="139879"/>
                  <a:pt x="178516" y="145871"/>
                </a:cubicBezTo>
                <a:close/>
                <a:moveTo>
                  <a:pt x="178516" y="106201"/>
                </a:moveTo>
                <a:lnTo>
                  <a:pt x="178516" y="92564"/>
                </a:lnTo>
                <a:cubicBezTo>
                  <a:pt x="178516" y="90704"/>
                  <a:pt x="178351" y="88928"/>
                  <a:pt x="178103" y="87192"/>
                </a:cubicBezTo>
                <a:cubicBezTo>
                  <a:pt x="184508" y="85580"/>
                  <a:pt x="190500" y="83638"/>
                  <a:pt x="195955" y="81324"/>
                </a:cubicBezTo>
                <a:cubicBezTo>
                  <a:pt x="201409" y="79010"/>
                  <a:pt x="206740" y="76283"/>
                  <a:pt x="211575" y="72935"/>
                </a:cubicBezTo>
                <a:lnTo>
                  <a:pt x="211575" y="79299"/>
                </a:lnTo>
                <a:cubicBezTo>
                  <a:pt x="211575" y="90374"/>
                  <a:pt x="198558" y="100167"/>
                  <a:pt x="178516" y="106159"/>
                </a:cubicBezTo>
                <a:close/>
                <a:moveTo>
                  <a:pt x="0" y="99176"/>
                </a:moveTo>
                <a:lnTo>
                  <a:pt x="0" y="92564"/>
                </a:lnTo>
                <a:cubicBezTo>
                  <a:pt x="0" y="74299"/>
                  <a:pt x="35538" y="59505"/>
                  <a:pt x="79341" y="59505"/>
                </a:cubicBezTo>
                <a:cubicBezTo>
                  <a:pt x="123143" y="59505"/>
                  <a:pt x="158681" y="74299"/>
                  <a:pt x="158681" y="92564"/>
                </a:cubicBezTo>
                <a:lnTo>
                  <a:pt x="158681" y="99176"/>
                </a:lnTo>
                <a:cubicBezTo>
                  <a:pt x="158681" y="117441"/>
                  <a:pt x="123143" y="132234"/>
                  <a:pt x="79341" y="132234"/>
                </a:cubicBezTo>
                <a:cubicBezTo>
                  <a:pt x="35538" y="132234"/>
                  <a:pt x="0" y="117441"/>
                  <a:pt x="0" y="99176"/>
                </a:cubicBezTo>
                <a:close/>
                <a:moveTo>
                  <a:pt x="158681" y="138846"/>
                </a:moveTo>
                <a:cubicBezTo>
                  <a:pt x="158681" y="157111"/>
                  <a:pt x="123143" y="171905"/>
                  <a:pt x="79341" y="171905"/>
                </a:cubicBezTo>
                <a:cubicBezTo>
                  <a:pt x="35538" y="171905"/>
                  <a:pt x="0" y="157111"/>
                  <a:pt x="0" y="138846"/>
                </a:cubicBezTo>
                <a:lnTo>
                  <a:pt x="0" y="132482"/>
                </a:lnTo>
                <a:cubicBezTo>
                  <a:pt x="4793" y="135829"/>
                  <a:pt x="10124" y="138557"/>
                  <a:pt x="15620" y="140871"/>
                </a:cubicBezTo>
                <a:cubicBezTo>
                  <a:pt x="32935" y="148102"/>
                  <a:pt x="55497" y="152069"/>
                  <a:pt x="79341" y="152069"/>
                </a:cubicBezTo>
                <a:cubicBezTo>
                  <a:pt x="103184" y="152069"/>
                  <a:pt x="125747" y="148061"/>
                  <a:pt x="143061" y="140871"/>
                </a:cubicBezTo>
                <a:cubicBezTo>
                  <a:pt x="148516" y="138598"/>
                  <a:pt x="153846" y="135829"/>
                  <a:pt x="158681" y="132482"/>
                </a:cubicBezTo>
                <a:lnTo>
                  <a:pt x="158681" y="138846"/>
                </a:lnTo>
                <a:close/>
                <a:moveTo>
                  <a:pt x="158681" y="172152"/>
                </a:moveTo>
                <a:lnTo>
                  <a:pt x="158681" y="178516"/>
                </a:lnTo>
                <a:cubicBezTo>
                  <a:pt x="158681" y="196781"/>
                  <a:pt x="123143" y="211575"/>
                  <a:pt x="79341" y="211575"/>
                </a:cubicBezTo>
                <a:cubicBezTo>
                  <a:pt x="35538" y="211575"/>
                  <a:pt x="0" y="196781"/>
                  <a:pt x="0" y="178516"/>
                </a:cubicBezTo>
                <a:lnTo>
                  <a:pt x="0" y="172152"/>
                </a:lnTo>
                <a:cubicBezTo>
                  <a:pt x="4793" y="175500"/>
                  <a:pt x="10124" y="178227"/>
                  <a:pt x="15620" y="180541"/>
                </a:cubicBezTo>
                <a:cubicBezTo>
                  <a:pt x="32935" y="187773"/>
                  <a:pt x="55497" y="191740"/>
                  <a:pt x="79341" y="191740"/>
                </a:cubicBezTo>
                <a:cubicBezTo>
                  <a:pt x="103184" y="191740"/>
                  <a:pt x="125747" y="187731"/>
                  <a:pt x="143061" y="180541"/>
                </a:cubicBezTo>
                <a:cubicBezTo>
                  <a:pt x="148516" y="178268"/>
                  <a:pt x="153846" y="175500"/>
                  <a:pt x="158681" y="172152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7" name="Text 15"/>
          <p:cNvSpPr/>
          <p:nvPr/>
        </p:nvSpPr>
        <p:spPr>
          <a:xfrm>
            <a:off x="7009739" y="2592674"/>
            <a:ext cx="2195089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 Trip Revenue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5015" y="3121611"/>
            <a:ext cx="5342265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Accurately forecast potential earnings from trips to support financial planning and revenue optimization strategies.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9677" y="3953804"/>
            <a:ext cx="5638469" cy="1459866"/>
          </a:xfrm>
          <a:custGeom>
            <a:avLst/>
            <a:gdLst/>
            <a:ahLst/>
            <a:cxnLst/>
            <a:rect l="l" t="t" r="r" b="b"/>
            <a:pathLst>
              <a:path w="5638469" h="1459866">
                <a:moveTo>
                  <a:pt x="70526" y="0"/>
                </a:moveTo>
                <a:lnTo>
                  <a:pt x="5567943" y="0"/>
                </a:lnTo>
                <a:cubicBezTo>
                  <a:pt x="5606894" y="0"/>
                  <a:pt x="5638469" y="31576"/>
                  <a:pt x="5638469" y="70526"/>
                </a:cubicBezTo>
                <a:lnTo>
                  <a:pt x="5638469" y="1389340"/>
                </a:lnTo>
                <a:cubicBezTo>
                  <a:pt x="5638469" y="1428291"/>
                  <a:pt x="5606894" y="1459866"/>
                  <a:pt x="5567943" y="1459866"/>
                </a:cubicBezTo>
                <a:lnTo>
                  <a:pt x="70526" y="1459866"/>
                </a:lnTo>
                <a:cubicBezTo>
                  <a:pt x="31576" y="1459866"/>
                  <a:pt x="0" y="1428291"/>
                  <a:pt x="0" y="1389340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042" y="4137170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70526" y="0"/>
                </a:moveTo>
                <a:lnTo>
                  <a:pt x="423148" y="0"/>
                </a:lnTo>
                <a:cubicBezTo>
                  <a:pt x="462099" y="0"/>
                  <a:pt x="493675" y="31576"/>
                  <a:pt x="493675" y="70526"/>
                </a:cubicBezTo>
                <a:lnTo>
                  <a:pt x="493675" y="423148"/>
                </a:lnTo>
                <a:cubicBezTo>
                  <a:pt x="493675" y="462099"/>
                  <a:pt x="462099" y="493675"/>
                  <a:pt x="423148" y="493675"/>
                </a:cubicBezTo>
                <a:lnTo>
                  <a:pt x="70526" y="493675"/>
                </a:lnTo>
                <a:cubicBezTo>
                  <a:pt x="31576" y="493675"/>
                  <a:pt x="0" y="462099"/>
                  <a:pt x="0" y="423148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57645" y="4278220"/>
            <a:ext cx="264469" cy="211575"/>
          </a:xfrm>
          <a:custGeom>
            <a:avLst/>
            <a:gdLst/>
            <a:ahLst/>
            <a:cxnLst/>
            <a:rect l="l" t="t" r="r" b="b"/>
            <a:pathLst>
              <a:path w="264469" h="211575">
                <a:moveTo>
                  <a:pt x="171863" y="86985"/>
                </a:moveTo>
                <a:cubicBezTo>
                  <a:pt x="176905" y="85622"/>
                  <a:pt x="182194" y="88018"/>
                  <a:pt x="184467" y="92688"/>
                </a:cubicBezTo>
                <a:lnTo>
                  <a:pt x="192153" y="108225"/>
                </a:lnTo>
                <a:cubicBezTo>
                  <a:pt x="196409" y="108804"/>
                  <a:pt x="200583" y="109961"/>
                  <a:pt x="204509" y="111573"/>
                </a:cubicBezTo>
                <a:lnTo>
                  <a:pt x="218972" y="101944"/>
                </a:lnTo>
                <a:cubicBezTo>
                  <a:pt x="223311" y="99052"/>
                  <a:pt x="229055" y="99630"/>
                  <a:pt x="232732" y="103308"/>
                </a:cubicBezTo>
                <a:lnTo>
                  <a:pt x="240666" y="111242"/>
                </a:lnTo>
                <a:cubicBezTo>
                  <a:pt x="244344" y="114920"/>
                  <a:pt x="244923" y="120705"/>
                  <a:pt x="242030" y="125003"/>
                </a:cubicBezTo>
                <a:lnTo>
                  <a:pt x="232402" y="139425"/>
                </a:lnTo>
                <a:cubicBezTo>
                  <a:pt x="233187" y="141367"/>
                  <a:pt x="233889" y="143392"/>
                  <a:pt x="234468" y="145499"/>
                </a:cubicBezTo>
                <a:cubicBezTo>
                  <a:pt x="235046" y="147607"/>
                  <a:pt x="235418" y="149673"/>
                  <a:pt x="235708" y="151780"/>
                </a:cubicBezTo>
                <a:lnTo>
                  <a:pt x="251286" y="159466"/>
                </a:lnTo>
                <a:cubicBezTo>
                  <a:pt x="255956" y="161780"/>
                  <a:pt x="258353" y="167070"/>
                  <a:pt x="256989" y="172070"/>
                </a:cubicBezTo>
                <a:lnTo>
                  <a:pt x="254096" y="182897"/>
                </a:lnTo>
                <a:cubicBezTo>
                  <a:pt x="252733" y="187897"/>
                  <a:pt x="248063" y="191285"/>
                  <a:pt x="242857" y="190955"/>
                </a:cubicBezTo>
                <a:lnTo>
                  <a:pt x="225501" y="189839"/>
                </a:lnTo>
                <a:cubicBezTo>
                  <a:pt x="222897" y="193186"/>
                  <a:pt x="219881" y="196285"/>
                  <a:pt x="216451" y="198930"/>
                </a:cubicBezTo>
                <a:lnTo>
                  <a:pt x="217567" y="216244"/>
                </a:lnTo>
                <a:cubicBezTo>
                  <a:pt x="217897" y="221451"/>
                  <a:pt x="214509" y="226162"/>
                  <a:pt x="209509" y="227484"/>
                </a:cubicBezTo>
                <a:lnTo>
                  <a:pt x="198682" y="230377"/>
                </a:lnTo>
                <a:cubicBezTo>
                  <a:pt x="193641" y="231741"/>
                  <a:pt x="188393" y="229344"/>
                  <a:pt x="186078" y="224674"/>
                </a:cubicBezTo>
                <a:lnTo>
                  <a:pt x="178392" y="209137"/>
                </a:lnTo>
                <a:cubicBezTo>
                  <a:pt x="174136" y="208558"/>
                  <a:pt x="169962" y="207401"/>
                  <a:pt x="166037" y="205790"/>
                </a:cubicBezTo>
                <a:lnTo>
                  <a:pt x="151574" y="215418"/>
                </a:lnTo>
                <a:cubicBezTo>
                  <a:pt x="147235" y="218311"/>
                  <a:pt x="141491" y="217732"/>
                  <a:pt x="137813" y="214054"/>
                </a:cubicBezTo>
                <a:lnTo>
                  <a:pt x="129879" y="206120"/>
                </a:lnTo>
                <a:cubicBezTo>
                  <a:pt x="126201" y="202442"/>
                  <a:pt x="125623" y="196698"/>
                  <a:pt x="128515" y="192360"/>
                </a:cubicBezTo>
                <a:lnTo>
                  <a:pt x="138143" y="177896"/>
                </a:lnTo>
                <a:cubicBezTo>
                  <a:pt x="137358" y="175954"/>
                  <a:pt x="136656" y="173929"/>
                  <a:pt x="136077" y="171822"/>
                </a:cubicBezTo>
                <a:cubicBezTo>
                  <a:pt x="135499" y="169714"/>
                  <a:pt x="135127" y="167607"/>
                  <a:pt x="134838" y="165541"/>
                </a:cubicBezTo>
                <a:lnTo>
                  <a:pt x="119259" y="157855"/>
                </a:lnTo>
                <a:cubicBezTo>
                  <a:pt x="114589" y="155541"/>
                  <a:pt x="112234" y="150251"/>
                  <a:pt x="113556" y="145251"/>
                </a:cubicBezTo>
                <a:lnTo>
                  <a:pt x="116449" y="134424"/>
                </a:lnTo>
                <a:cubicBezTo>
                  <a:pt x="117812" y="129424"/>
                  <a:pt x="122482" y="126036"/>
                  <a:pt x="127689" y="126366"/>
                </a:cubicBezTo>
                <a:lnTo>
                  <a:pt x="145003" y="127482"/>
                </a:lnTo>
                <a:cubicBezTo>
                  <a:pt x="147607" y="124135"/>
                  <a:pt x="150623" y="121036"/>
                  <a:pt x="154053" y="118391"/>
                </a:cubicBezTo>
                <a:lnTo>
                  <a:pt x="152937" y="101118"/>
                </a:lnTo>
                <a:cubicBezTo>
                  <a:pt x="152607" y="95911"/>
                  <a:pt x="155995" y="91200"/>
                  <a:pt x="160995" y="89878"/>
                </a:cubicBezTo>
                <a:lnTo>
                  <a:pt x="171822" y="86985"/>
                </a:lnTo>
                <a:close/>
                <a:moveTo>
                  <a:pt x="185293" y="140499"/>
                </a:moveTo>
                <a:cubicBezTo>
                  <a:pt x="175258" y="140510"/>
                  <a:pt x="167120" y="148667"/>
                  <a:pt x="167132" y="158702"/>
                </a:cubicBezTo>
                <a:cubicBezTo>
                  <a:pt x="167143" y="168737"/>
                  <a:pt x="175300" y="176875"/>
                  <a:pt x="185335" y="176863"/>
                </a:cubicBezTo>
                <a:cubicBezTo>
                  <a:pt x="195370" y="176852"/>
                  <a:pt x="203508" y="168696"/>
                  <a:pt x="203496" y="158660"/>
                </a:cubicBezTo>
                <a:cubicBezTo>
                  <a:pt x="203485" y="148625"/>
                  <a:pt x="195328" y="140488"/>
                  <a:pt x="185293" y="140499"/>
                </a:cubicBezTo>
                <a:close/>
                <a:moveTo>
                  <a:pt x="92936" y="-18802"/>
                </a:moveTo>
                <a:lnTo>
                  <a:pt x="103763" y="-15909"/>
                </a:lnTo>
                <a:cubicBezTo>
                  <a:pt x="108763" y="-14546"/>
                  <a:pt x="112151" y="-9835"/>
                  <a:pt x="111821" y="-4670"/>
                </a:cubicBezTo>
                <a:lnTo>
                  <a:pt x="110705" y="12604"/>
                </a:lnTo>
                <a:cubicBezTo>
                  <a:pt x="114135" y="15248"/>
                  <a:pt x="117151" y="18306"/>
                  <a:pt x="119755" y="21695"/>
                </a:cubicBezTo>
                <a:lnTo>
                  <a:pt x="137110" y="20579"/>
                </a:lnTo>
                <a:cubicBezTo>
                  <a:pt x="142276" y="20248"/>
                  <a:pt x="146987" y="23637"/>
                  <a:pt x="148350" y="28637"/>
                </a:cubicBezTo>
                <a:lnTo>
                  <a:pt x="151243" y="39464"/>
                </a:lnTo>
                <a:cubicBezTo>
                  <a:pt x="152565" y="44464"/>
                  <a:pt x="150210" y="49753"/>
                  <a:pt x="145540" y="52067"/>
                </a:cubicBezTo>
                <a:lnTo>
                  <a:pt x="129961" y="59753"/>
                </a:lnTo>
                <a:cubicBezTo>
                  <a:pt x="129672" y="61861"/>
                  <a:pt x="129259" y="63968"/>
                  <a:pt x="128722" y="66034"/>
                </a:cubicBezTo>
                <a:cubicBezTo>
                  <a:pt x="128185" y="68101"/>
                  <a:pt x="127441" y="70167"/>
                  <a:pt x="126656" y="72109"/>
                </a:cubicBezTo>
                <a:lnTo>
                  <a:pt x="136284" y="86572"/>
                </a:lnTo>
                <a:cubicBezTo>
                  <a:pt x="139177" y="90911"/>
                  <a:pt x="138598" y="96655"/>
                  <a:pt x="134920" y="100333"/>
                </a:cubicBezTo>
                <a:lnTo>
                  <a:pt x="126986" y="108267"/>
                </a:lnTo>
                <a:cubicBezTo>
                  <a:pt x="123308" y="111945"/>
                  <a:pt x="117565" y="112523"/>
                  <a:pt x="113226" y="109630"/>
                </a:cubicBezTo>
                <a:lnTo>
                  <a:pt x="98762" y="100002"/>
                </a:lnTo>
                <a:cubicBezTo>
                  <a:pt x="94837" y="101614"/>
                  <a:pt x="90663" y="102771"/>
                  <a:pt x="86407" y="103349"/>
                </a:cubicBezTo>
                <a:lnTo>
                  <a:pt x="78721" y="118887"/>
                </a:lnTo>
                <a:cubicBezTo>
                  <a:pt x="76407" y="123556"/>
                  <a:pt x="71117" y="125912"/>
                  <a:pt x="66117" y="124589"/>
                </a:cubicBezTo>
                <a:lnTo>
                  <a:pt x="55290" y="121697"/>
                </a:lnTo>
                <a:cubicBezTo>
                  <a:pt x="50249" y="120333"/>
                  <a:pt x="46902" y="115622"/>
                  <a:pt x="47232" y="110457"/>
                </a:cubicBezTo>
                <a:lnTo>
                  <a:pt x="48348" y="93143"/>
                </a:lnTo>
                <a:cubicBezTo>
                  <a:pt x="44918" y="90498"/>
                  <a:pt x="41902" y="87440"/>
                  <a:pt x="39298" y="84051"/>
                </a:cubicBezTo>
                <a:lnTo>
                  <a:pt x="21943" y="85167"/>
                </a:lnTo>
                <a:cubicBezTo>
                  <a:pt x="16777" y="85498"/>
                  <a:pt x="12066" y="82109"/>
                  <a:pt x="10703" y="77109"/>
                </a:cubicBezTo>
                <a:lnTo>
                  <a:pt x="7810" y="66282"/>
                </a:lnTo>
                <a:cubicBezTo>
                  <a:pt x="6488" y="61282"/>
                  <a:pt x="8843" y="55993"/>
                  <a:pt x="13513" y="53679"/>
                </a:cubicBezTo>
                <a:lnTo>
                  <a:pt x="29092" y="45993"/>
                </a:lnTo>
                <a:cubicBezTo>
                  <a:pt x="29381" y="43885"/>
                  <a:pt x="29794" y="41819"/>
                  <a:pt x="30331" y="39712"/>
                </a:cubicBezTo>
                <a:cubicBezTo>
                  <a:pt x="30910" y="37604"/>
                  <a:pt x="31571" y="35579"/>
                  <a:pt x="32397" y="33637"/>
                </a:cubicBezTo>
                <a:lnTo>
                  <a:pt x="22769" y="19215"/>
                </a:lnTo>
                <a:cubicBezTo>
                  <a:pt x="19876" y="14876"/>
                  <a:pt x="20455" y="9132"/>
                  <a:pt x="24133" y="5455"/>
                </a:cubicBezTo>
                <a:lnTo>
                  <a:pt x="32067" y="-2479"/>
                </a:lnTo>
                <a:cubicBezTo>
                  <a:pt x="35745" y="-6157"/>
                  <a:pt x="41489" y="-6736"/>
                  <a:pt x="45827" y="-3843"/>
                </a:cubicBezTo>
                <a:lnTo>
                  <a:pt x="60291" y="5785"/>
                </a:lnTo>
                <a:cubicBezTo>
                  <a:pt x="64216" y="4174"/>
                  <a:pt x="68390" y="3017"/>
                  <a:pt x="72646" y="2438"/>
                </a:cubicBezTo>
                <a:lnTo>
                  <a:pt x="80332" y="-13099"/>
                </a:lnTo>
                <a:cubicBezTo>
                  <a:pt x="82646" y="-17769"/>
                  <a:pt x="87894" y="-20124"/>
                  <a:pt x="92936" y="-18802"/>
                </a:cubicBezTo>
                <a:close/>
                <a:moveTo>
                  <a:pt x="79506" y="34711"/>
                </a:moveTo>
                <a:cubicBezTo>
                  <a:pt x="69471" y="34711"/>
                  <a:pt x="61324" y="42859"/>
                  <a:pt x="61324" y="52894"/>
                </a:cubicBezTo>
                <a:cubicBezTo>
                  <a:pt x="61324" y="62929"/>
                  <a:pt x="69471" y="71076"/>
                  <a:pt x="79506" y="71076"/>
                </a:cubicBezTo>
                <a:cubicBezTo>
                  <a:pt x="89541" y="71076"/>
                  <a:pt x="97688" y="62929"/>
                  <a:pt x="97688" y="52894"/>
                </a:cubicBezTo>
                <a:cubicBezTo>
                  <a:pt x="97688" y="42859"/>
                  <a:pt x="89541" y="34711"/>
                  <a:pt x="79506" y="3471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1177767" y="4242957"/>
            <a:ext cx="2018777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Operations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3042" y="4771895"/>
            <a:ext cx="5342265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fleet management and demand planning by understanding peak hours, high-demand zones, and travel patterns.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1649" y="3953804"/>
            <a:ext cx="5638469" cy="1459866"/>
          </a:xfrm>
          <a:custGeom>
            <a:avLst/>
            <a:gdLst/>
            <a:ahLst/>
            <a:cxnLst/>
            <a:rect l="l" t="t" r="r" b="b"/>
            <a:pathLst>
              <a:path w="5638469" h="1459866">
                <a:moveTo>
                  <a:pt x="70526" y="0"/>
                </a:moveTo>
                <a:lnTo>
                  <a:pt x="5567943" y="0"/>
                </a:lnTo>
                <a:cubicBezTo>
                  <a:pt x="5606894" y="0"/>
                  <a:pt x="5638469" y="31576"/>
                  <a:pt x="5638469" y="70526"/>
                </a:cubicBezTo>
                <a:lnTo>
                  <a:pt x="5638469" y="1389340"/>
                </a:lnTo>
                <a:cubicBezTo>
                  <a:pt x="5638469" y="1428291"/>
                  <a:pt x="5606894" y="1459866"/>
                  <a:pt x="5567943" y="1459866"/>
                </a:cubicBezTo>
                <a:lnTo>
                  <a:pt x="70526" y="1459866"/>
                </a:lnTo>
                <a:cubicBezTo>
                  <a:pt x="31576" y="1459866"/>
                  <a:pt x="0" y="1428291"/>
                  <a:pt x="0" y="1389340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5015" y="4137170"/>
            <a:ext cx="493675" cy="493675"/>
          </a:xfrm>
          <a:custGeom>
            <a:avLst/>
            <a:gdLst/>
            <a:ahLst/>
            <a:cxnLst/>
            <a:rect l="l" t="t" r="r" b="b"/>
            <a:pathLst>
              <a:path w="493675" h="493675">
                <a:moveTo>
                  <a:pt x="70526" y="0"/>
                </a:moveTo>
                <a:lnTo>
                  <a:pt x="423148" y="0"/>
                </a:lnTo>
                <a:cubicBezTo>
                  <a:pt x="462099" y="0"/>
                  <a:pt x="493675" y="31576"/>
                  <a:pt x="493675" y="70526"/>
                </a:cubicBezTo>
                <a:lnTo>
                  <a:pt x="493675" y="423148"/>
                </a:lnTo>
                <a:cubicBezTo>
                  <a:pt x="493675" y="462099"/>
                  <a:pt x="462099" y="493675"/>
                  <a:pt x="423148" y="493675"/>
                </a:cubicBezTo>
                <a:lnTo>
                  <a:pt x="70526" y="493675"/>
                </a:lnTo>
                <a:cubicBezTo>
                  <a:pt x="31576" y="493675"/>
                  <a:pt x="0" y="462099"/>
                  <a:pt x="0" y="423148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9618" y="4278220"/>
            <a:ext cx="264469" cy="211575"/>
          </a:xfrm>
          <a:custGeom>
            <a:avLst/>
            <a:gdLst/>
            <a:ahLst/>
            <a:cxnLst/>
            <a:rect l="l" t="t" r="r" b="b"/>
            <a:pathLst>
              <a:path w="264469" h="211575">
                <a:moveTo>
                  <a:pt x="132234" y="6612"/>
                </a:moveTo>
                <a:cubicBezTo>
                  <a:pt x="155953" y="6612"/>
                  <a:pt x="175210" y="25869"/>
                  <a:pt x="175210" y="49588"/>
                </a:cubicBezTo>
                <a:cubicBezTo>
                  <a:pt x="175210" y="73307"/>
                  <a:pt x="155953" y="92564"/>
                  <a:pt x="132234" y="92564"/>
                </a:cubicBezTo>
                <a:cubicBezTo>
                  <a:pt x="108515" y="92564"/>
                  <a:pt x="89258" y="73307"/>
                  <a:pt x="89258" y="49588"/>
                </a:cubicBezTo>
                <a:cubicBezTo>
                  <a:pt x="89258" y="25869"/>
                  <a:pt x="108515" y="6612"/>
                  <a:pt x="132234" y="6612"/>
                </a:cubicBezTo>
                <a:close/>
                <a:moveTo>
                  <a:pt x="39670" y="36364"/>
                </a:moveTo>
                <a:cubicBezTo>
                  <a:pt x="56091" y="36364"/>
                  <a:pt x="69423" y="49696"/>
                  <a:pt x="69423" y="66117"/>
                </a:cubicBezTo>
                <a:cubicBezTo>
                  <a:pt x="69423" y="82538"/>
                  <a:pt x="56091" y="95870"/>
                  <a:pt x="39670" y="95870"/>
                </a:cubicBezTo>
                <a:cubicBezTo>
                  <a:pt x="23249" y="95870"/>
                  <a:pt x="9918" y="82538"/>
                  <a:pt x="9918" y="66117"/>
                </a:cubicBezTo>
                <a:cubicBezTo>
                  <a:pt x="9918" y="49696"/>
                  <a:pt x="23249" y="36364"/>
                  <a:pt x="39670" y="36364"/>
                </a:cubicBezTo>
                <a:close/>
                <a:moveTo>
                  <a:pt x="0" y="171905"/>
                </a:moveTo>
                <a:cubicBezTo>
                  <a:pt x="0" y="142689"/>
                  <a:pt x="23678" y="119011"/>
                  <a:pt x="52894" y="119011"/>
                </a:cubicBezTo>
                <a:cubicBezTo>
                  <a:pt x="58183" y="119011"/>
                  <a:pt x="63307" y="119796"/>
                  <a:pt x="68142" y="121242"/>
                </a:cubicBezTo>
                <a:cubicBezTo>
                  <a:pt x="54547" y="136449"/>
                  <a:pt x="46282" y="156532"/>
                  <a:pt x="46282" y="178516"/>
                </a:cubicBezTo>
                <a:lnTo>
                  <a:pt x="46282" y="185128"/>
                </a:lnTo>
                <a:cubicBezTo>
                  <a:pt x="46282" y="189839"/>
                  <a:pt x="47274" y="194302"/>
                  <a:pt x="49051" y="198351"/>
                </a:cubicBezTo>
                <a:lnTo>
                  <a:pt x="13223" y="198351"/>
                </a:lnTo>
                <a:cubicBezTo>
                  <a:pt x="5909" y="198351"/>
                  <a:pt x="0" y="192442"/>
                  <a:pt x="0" y="185128"/>
                </a:cubicBezTo>
                <a:lnTo>
                  <a:pt x="0" y="171905"/>
                </a:lnTo>
                <a:close/>
                <a:moveTo>
                  <a:pt x="215418" y="198351"/>
                </a:moveTo>
                <a:cubicBezTo>
                  <a:pt x="217195" y="194302"/>
                  <a:pt x="218187" y="189839"/>
                  <a:pt x="218187" y="185128"/>
                </a:cubicBezTo>
                <a:lnTo>
                  <a:pt x="218187" y="178516"/>
                </a:lnTo>
                <a:cubicBezTo>
                  <a:pt x="218187" y="156532"/>
                  <a:pt x="209922" y="136449"/>
                  <a:pt x="196327" y="121242"/>
                </a:cubicBezTo>
                <a:cubicBezTo>
                  <a:pt x="201161" y="119796"/>
                  <a:pt x="206285" y="119011"/>
                  <a:pt x="211575" y="119011"/>
                </a:cubicBezTo>
                <a:cubicBezTo>
                  <a:pt x="240790" y="119011"/>
                  <a:pt x="264469" y="142689"/>
                  <a:pt x="264469" y="171905"/>
                </a:cubicBezTo>
                <a:lnTo>
                  <a:pt x="264469" y="185128"/>
                </a:lnTo>
                <a:cubicBezTo>
                  <a:pt x="264469" y="192442"/>
                  <a:pt x="258559" y="198351"/>
                  <a:pt x="251245" y="198351"/>
                </a:cubicBezTo>
                <a:lnTo>
                  <a:pt x="215418" y="198351"/>
                </a:lnTo>
                <a:close/>
                <a:moveTo>
                  <a:pt x="195046" y="66117"/>
                </a:moveTo>
                <a:cubicBezTo>
                  <a:pt x="195046" y="49696"/>
                  <a:pt x="208377" y="36364"/>
                  <a:pt x="224798" y="36364"/>
                </a:cubicBezTo>
                <a:cubicBezTo>
                  <a:pt x="241219" y="36364"/>
                  <a:pt x="254551" y="49696"/>
                  <a:pt x="254551" y="66117"/>
                </a:cubicBezTo>
                <a:cubicBezTo>
                  <a:pt x="254551" y="82538"/>
                  <a:pt x="241219" y="95870"/>
                  <a:pt x="224798" y="95870"/>
                </a:cubicBezTo>
                <a:cubicBezTo>
                  <a:pt x="208377" y="95870"/>
                  <a:pt x="195046" y="82538"/>
                  <a:pt x="195046" y="66117"/>
                </a:cubicBezTo>
                <a:close/>
                <a:moveTo>
                  <a:pt x="66117" y="178516"/>
                </a:moveTo>
                <a:cubicBezTo>
                  <a:pt x="66117" y="141987"/>
                  <a:pt x="95705" y="112399"/>
                  <a:pt x="132234" y="112399"/>
                </a:cubicBezTo>
                <a:cubicBezTo>
                  <a:pt x="168764" y="112399"/>
                  <a:pt x="198351" y="141987"/>
                  <a:pt x="198351" y="178516"/>
                </a:cubicBezTo>
                <a:lnTo>
                  <a:pt x="198351" y="185128"/>
                </a:lnTo>
                <a:cubicBezTo>
                  <a:pt x="198351" y="192442"/>
                  <a:pt x="192442" y="198351"/>
                  <a:pt x="185128" y="198351"/>
                </a:cubicBezTo>
                <a:lnTo>
                  <a:pt x="79341" y="198351"/>
                </a:lnTo>
                <a:cubicBezTo>
                  <a:pt x="72026" y="198351"/>
                  <a:pt x="66117" y="192442"/>
                  <a:pt x="66117" y="185128"/>
                </a:cubicBezTo>
                <a:lnTo>
                  <a:pt x="66117" y="178516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7" name="Text 25"/>
          <p:cNvSpPr/>
          <p:nvPr/>
        </p:nvSpPr>
        <p:spPr>
          <a:xfrm>
            <a:off x="7009739" y="4242957"/>
            <a:ext cx="2988495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 Customer Patterns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75015" y="4771895"/>
            <a:ext cx="5342265" cy="45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customer travel behaviors, preferences, and trends to deliver personalized services and improve customer satisfaction.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9677" y="5604090"/>
            <a:ext cx="11474409" cy="895667"/>
          </a:xfrm>
          <a:custGeom>
            <a:avLst/>
            <a:gdLst/>
            <a:ahLst/>
            <a:cxnLst/>
            <a:rect l="l" t="t" r="r" b="b"/>
            <a:pathLst>
              <a:path w="11474409" h="895667">
                <a:moveTo>
                  <a:pt x="70525" y="0"/>
                </a:moveTo>
                <a:lnTo>
                  <a:pt x="11403884" y="0"/>
                </a:lnTo>
                <a:cubicBezTo>
                  <a:pt x="11442834" y="0"/>
                  <a:pt x="11474409" y="31575"/>
                  <a:pt x="11474409" y="70525"/>
                </a:cubicBezTo>
                <a:lnTo>
                  <a:pt x="11474409" y="825142"/>
                </a:lnTo>
                <a:cubicBezTo>
                  <a:pt x="11474409" y="864092"/>
                  <a:pt x="11442834" y="895667"/>
                  <a:pt x="11403884" y="895667"/>
                </a:cubicBezTo>
                <a:lnTo>
                  <a:pt x="70525" y="895667"/>
                </a:lnTo>
                <a:cubicBezTo>
                  <a:pt x="31575" y="895667"/>
                  <a:pt x="0" y="864092"/>
                  <a:pt x="0" y="825142"/>
                </a:cubicBezTo>
                <a:lnTo>
                  <a:pt x="0" y="70525"/>
                </a:lnTo>
                <a:cubicBezTo>
                  <a:pt x="0" y="31575"/>
                  <a:pt x="31575" y="0"/>
                  <a:pt x="705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383" y="5893241"/>
            <a:ext cx="238022" cy="317362"/>
          </a:xfrm>
          <a:custGeom>
            <a:avLst/>
            <a:gdLst/>
            <a:ahLst/>
            <a:cxnLst/>
            <a:rect l="l" t="t" r="r" b="b"/>
            <a:pathLst>
              <a:path w="238022" h="317362">
                <a:moveTo>
                  <a:pt x="181554" y="238022"/>
                </a:moveTo>
                <a:cubicBezTo>
                  <a:pt x="186078" y="224199"/>
                  <a:pt x="195128" y="211678"/>
                  <a:pt x="205356" y="200893"/>
                </a:cubicBezTo>
                <a:cubicBezTo>
                  <a:pt x="225625" y="179570"/>
                  <a:pt x="238022" y="150747"/>
                  <a:pt x="238022" y="119011"/>
                </a:cubicBezTo>
                <a:cubicBezTo>
                  <a:pt x="238022" y="53307"/>
                  <a:pt x="184715" y="0"/>
                  <a:pt x="119011" y="0"/>
                </a:cubicBezTo>
                <a:cubicBezTo>
                  <a:pt x="53307" y="0"/>
                  <a:pt x="0" y="53307"/>
                  <a:pt x="0" y="119011"/>
                </a:cubicBezTo>
                <a:cubicBezTo>
                  <a:pt x="0" y="150747"/>
                  <a:pt x="12397" y="179570"/>
                  <a:pt x="32666" y="200893"/>
                </a:cubicBezTo>
                <a:cubicBezTo>
                  <a:pt x="42893" y="211678"/>
                  <a:pt x="52005" y="224199"/>
                  <a:pt x="56468" y="238022"/>
                </a:cubicBezTo>
                <a:lnTo>
                  <a:pt x="181492" y="238022"/>
                </a:lnTo>
                <a:close/>
                <a:moveTo>
                  <a:pt x="178516" y="267774"/>
                </a:moveTo>
                <a:lnTo>
                  <a:pt x="59505" y="267774"/>
                </a:lnTo>
                <a:lnTo>
                  <a:pt x="59505" y="277692"/>
                </a:lnTo>
                <a:cubicBezTo>
                  <a:pt x="59505" y="305089"/>
                  <a:pt x="81696" y="327280"/>
                  <a:pt x="109093" y="327280"/>
                </a:cubicBezTo>
                <a:lnTo>
                  <a:pt x="128928" y="327280"/>
                </a:lnTo>
                <a:cubicBezTo>
                  <a:pt x="156326" y="327280"/>
                  <a:pt x="178516" y="305089"/>
                  <a:pt x="178516" y="277692"/>
                </a:cubicBezTo>
                <a:lnTo>
                  <a:pt x="178516" y="267774"/>
                </a:lnTo>
                <a:close/>
                <a:moveTo>
                  <a:pt x="114052" y="69423"/>
                </a:moveTo>
                <a:cubicBezTo>
                  <a:pt x="89382" y="69423"/>
                  <a:pt x="69423" y="89382"/>
                  <a:pt x="69423" y="114052"/>
                </a:cubicBezTo>
                <a:cubicBezTo>
                  <a:pt x="69423" y="122296"/>
                  <a:pt x="62791" y="128928"/>
                  <a:pt x="54547" y="128928"/>
                </a:cubicBezTo>
                <a:cubicBezTo>
                  <a:pt x="46303" y="128928"/>
                  <a:pt x="39670" y="122296"/>
                  <a:pt x="39670" y="114052"/>
                </a:cubicBezTo>
                <a:cubicBezTo>
                  <a:pt x="39670" y="72956"/>
                  <a:pt x="72956" y="39670"/>
                  <a:pt x="114052" y="39670"/>
                </a:cubicBezTo>
                <a:cubicBezTo>
                  <a:pt x="122296" y="39670"/>
                  <a:pt x="128928" y="46303"/>
                  <a:pt x="128928" y="54547"/>
                </a:cubicBezTo>
                <a:cubicBezTo>
                  <a:pt x="128928" y="62791"/>
                  <a:pt x="122296" y="69423"/>
                  <a:pt x="114052" y="6942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1" name="Text 29"/>
          <p:cNvSpPr/>
          <p:nvPr/>
        </p:nvSpPr>
        <p:spPr>
          <a:xfrm>
            <a:off x="1080795" y="5787453"/>
            <a:ext cx="554502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Outcome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0795" y="6104816"/>
            <a:ext cx="552739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builds a </a:t>
            </a:r>
            <a:pPr>
              <a:lnSpc>
                <a:spcPct val="130000"/>
              </a:lnSpc>
            </a:pPr>
            <a:r>
              <a:rPr lang="en-US" sz="1111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system</a:t>
            </a:r>
            <a:pPr>
              <a:lnSpc>
                <a:spcPct val="130000"/>
              </a:lnSpc>
            </a:pPr>
            <a:r>
              <a:rPr lang="en-US" sz="111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estimate taxi fare based on trip characteristics.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588" y="341513"/>
            <a:ext cx="1101378" cy="341513"/>
          </a:xfrm>
          <a:custGeom>
            <a:avLst/>
            <a:gdLst/>
            <a:ahLst/>
            <a:cxnLst/>
            <a:rect l="l" t="t" r="r" b="b"/>
            <a:pathLst>
              <a:path w="1101378" h="341513">
                <a:moveTo>
                  <a:pt x="0" y="0"/>
                </a:moveTo>
                <a:lnTo>
                  <a:pt x="1101378" y="0"/>
                </a:lnTo>
                <a:lnTo>
                  <a:pt x="1101378" y="341513"/>
                </a:lnTo>
                <a:lnTo>
                  <a:pt x="0" y="341513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8588" y="341513"/>
            <a:ext cx="34151" cy="341513"/>
          </a:xfrm>
          <a:custGeom>
            <a:avLst/>
            <a:gdLst/>
            <a:ahLst/>
            <a:cxnLst/>
            <a:rect l="l" t="t" r="r" b="b"/>
            <a:pathLst>
              <a:path w="34151" h="341513">
                <a:moveTo>
                  <a:pt x="0" y="0"/>
                </a:moveTo>
                <a:lnTo>
                  <a:pt x="34151" y="0"/>
                </a:lnTo>
                <a:lnTo>
                  <a:pt x="34151" y="341513"/>
                </a:lnTo>
                <a:lnTo>
                  <a:pt x="0" y="341513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12269" y="409815"/>
            <a:ext cx="87939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spc="54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513" y="819630"/>
            <a:ext cx="11713882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8588" y="1434353"/>
            <a:ext cx="11491899" cy="623261"/>
          </a:xfrm>
          <a:custGeom>
            <a:avLst/>
            <a:gdLst/>
            <a:ahLst/>
            <a:cxnLst/>
            <a:rect l="l" t="t" r="r" b="b"/>
            <a:pathLst>
              <a:path w="11491899" h="623261">
                <a:moveTo>
                  <a:pt x="34148" y="0"/>
                </a:moveTo>
                <a:lnTo>
                  <a:pt x="11457751" y="0"/>
                </a:lnTo>
                <a:cubicBezTo>
                  <a:pt x="11476610" y="0"/>
                  <a:pt x="11491899" y="15289"/>
                  <a:pt x="11491899" y="34148"/>
                </a:cubicBezTo>
                <a:lnTo>
                  <a:pt x="11491899" y="589112"/>
                </a:lnTo>
                <a:cubicBezTo>
                  <a:pt x="11491899" y="607972"/>
                  <a:pt x="11476610" y="623261"/>
                  <a:pt x="11457751" y="623261"/>
                </a:cubicBezTo>
                <a:lnTo>
                  <a:pt x="34148" y="623261"/>
                </a:lnTo>
                <a:cubicBezTo>
                  <a:pt x="15301" y="623261"/>
                  <a:pt x="0" y="607959"/>
                  <a:pt x="0" y="589112"/>
                </a:cubicBezTo>
                <a:lnTo>
                  <a:pt x="0" y="34148"/>
                </a:lnTo>
                <a:cubicBezTo>
                  <a:pt x="0" y="15301"/>
                  <a:pt x="15301" y="0"/>
                  <a:pt x="341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8588" y="1434353"/>
            <a:ext cx="34151" cy="623261"/>
          </a:xfrm>
          <a:custGeom>
            <a:avLst/>
            <a:gdLst/>
            <a:ahLst/>
            <a:cxnLst/>
            <a:rect l="l" t="t" r="r" b="b"/>
            <a:pathLst>
              <a:path w="34151" h="623261">
                <a:moveTo>
                  <a:pt x="34151" y="0"/>
                </a:moveTo>
                <a:lnTo>
                  <a:pt x="34151" y="0"/>
                </a:lnTo>
                <a:lnTo>
                  <a:pt x="34151" y="623261"/>
                </a:lnTo>
                <a:lnTo>
                  <a:pt x="34151" y="623261"/>
                </a:lnTo>
                <a:cubicBezTo>
                  <a:pt x="15290" y="623261"/>
                  <a:pt x="0" y="607970"/>
                  <a:pt x="0" y="58910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46420" y="1605109"/>
            <a:ext cx="11218689" cy="281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dataset contains comprehensive information about NYC taxi trips, providing the foundation for building accurate predictive models.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8343" y="2230931"/>
            <a:ext cx="3727610" cy="1379711"/>
          </a:xfrm>
          <a:custGeom>
            <a:avLst/>
            <a:gdLst/>
            <a:ahLst/>
            <a:cxnLst/>
            <a:rect l="l" t="t" r="r" b="b"/>
            <a:pathLst>
              <a:path w="3727610" h="1379711">
                <a:moveTo>
                  <a:pt x="68296" y="0"/>
                </a:moveTo>
                <a:lnTo>
                  <a:pt x="3659314" y="0"/>
                </a:lnTo>
                <a:cubicBezTo>
                  <a:pt x="3697033" y="0"/>
                  <a:pt x="3727610" y="30577"/>
                  <a:pt x="3727610" y="68296"/>
                </a:cubicBezTo>
                <a:lnTo>
                  <a:pt x="3727610" y="1311415"/>
                </a:lnTo>
                <a:cubicBezTo>
                  <a:pt x="3727610" y="1349134"/>
                  <a:pt x="3697033" y="1379711"/>
                  <a:pt x="3659314" y="1379711"/>
                </a:cubicBezTo>
                <a:lnTo>
                  <a:pt x="68296" y="1379711"/>
                </a:lnTo>
                <a:cubicBezTo>
                  <a:pt x="30577" y="1379711"/>
                  <a:pt x="0" y="1349134"/>
                  <a:pt x="0" y="1311415"/>
                </a:cubicBezTo>
                <a:lnTo>
                  <a:pt x="0" y="68296"/>
                </a:lnTo>
                <a:cubicBezTo>
                  <a:pt x="0" y="30602"/>
                  <a:pt x="30602" y="0"/>
                  <a:pt x="6829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929" y="2408518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204908" y="0"/>
                </a:moveTo>
                <a:lnTo>
                  <a:pt x="204908" y="0"/>
                </a:lnTo>
                <a:cubicBezTo>
                  <a:pt x="317999" y="0"/>
                  <a:pt x="409815" y="91816"/>
                  <a:pt x="409815" y="204908"/>
                </a:cubicBezTo>
                <a:lnTo>
                  <a:pt x="409815" y="204908"/>
                </a:lnTo>
                <a:cubicBezTo>
                  <a:pt x="409815" y="317999"/>
                  <a:pt x="317999" y="409815"/>
                  <a:pt x="204908" y="409815"/>
                </a:cubicBezTo>
                <a:lnTo>
                  <a:pt x="204908" y="409815"/>
                </a:lnTo>
                <a:cubicBezTo>
                  <a:pt x="91816" y="409815"/>
                  <a:pt x="0" y="317999"/>
                  <a:pt x="0" y="204908"/>
                </a:cubicBezTo>
                <a:lnTo>
                  <a:pt x="0" y="204908"/>
                </a:lnTo>
                <a:cubicBezTo>
                  <a:pt x="0" y="91816"/>
                  <a:pt x="91816" y="0"/>
                  <a:pt x="20490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45459" y="2528048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85378" y="0"/>
                </a:moveTo>
                <a:cubicBezTo>
                  <a:pt x="132500" y="0"/>
                  <a:pt x="170756" y="38257"/>
                  <a:pt x="170756" y="85378"/>
                </a:cubicBezTo>
                <a:cubicBezTo>
                  <a:pt x="170756" y="132500"/>
                  <a:pt x="132500" y="170756"/>
                  <a:pt x="85378" y="170756"/>
                </a:cubicBezTo>
                <a:cubicBezTo>
                  <a:pt x="38257" y="170756"/>
                  <a:pt x="0" y="132500"/>
                  <a:pt x="0" y="85378"/>
                </a:cubicBezTo>
                <a:cubicBezTo>
                  <a:pt x="0" y="38257"/>
                  <a:pt x="38257" y="0"/>
                  <a:pt x="85378" y="0"/>
                </a:cubicBezTo>
                <a:close/>
                <a:moveTo>
                  <a:pt x="77374" y="40021"/>
                </a:moveTo>
                <a:lnTo>
                  <a:pt x="77374" y="85378"/>
                </a:lnTo>
                <a:cubicBezTo>
                  <a:pt x="77374" y="88046"/>
                  <a:pt x="78708" y="90548"/>
                  <a:pt x="80942" y="92048"/>
                </a:cubicBezTo>
                <a:lnTo>
                  <a:pt x="112959" y="113393"/>
                </a:lnTo>
                <a:cubicBezTo>
                  <a:pt x="116628" y="115861"/>
                  <a:pt x="121597" y="114860"/>
                  <a:pt x="124065" y="111158"/>
                </a:cubicBezTo>
                <a:cubicBezTo>
                  <a:pt x="126533" y="107456"/>
                  <a:pt x="125533" y="102520"/>
                  <a:pt x="121831" y="100053"/>
                </a:cubicBezTo>
                <a:lnTo>
                  <a:pt x="93382" y="81109"/>
                </a:lnTo>
                <a:lnTo>
                  <a:pt x="93382" y="40021"/>
                </a:lnTo>
                <a:cubicBezTo>
                  <a:pt x="93382" y="35585"/>
                  <a:pt x="89814" y="32017"/>
                  <a:pt x="85378" y="32017"/>
                </a:cubicBezTo>
                <a:cubicBezTo>
                  <a:pt x="80942" y="32017"/>
                  <a:pt x="77374" y="35585"/>
                  <a:pt x="77374" y="4002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198" y="2493897"/>
            <a:ext cx="1186756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1543" y="2989090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4" name="Text 12"/>
          <p:cNvSpPr/>
          <p:nvPr/>
        </p:nvSpPr>
        <p:spPr>
          <a:xfrm>
            <a:off x="764988" y="2954939"/>
            <a:ext cx="1178218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timestamps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1543" y="3262300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764988" y="3228149"/>
            <a:ext cx="131482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Drop-off timestamps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28887" y="2230931"/>
            <a:ext cx="3727610" cy="1379711"/>
          </a:xfrm>
          <a:custGeom>
            <a:avLst/>
            <a:gdLst/>
            <a:ahLst/>
            <a:cxnLst/>
            <a:rect l="l" t="t" r="r" b="b"/>
            <a:pathLst>
              <a:path w="3727610" h="1379711">
                <a:moveTo>
                  <a:pt x="68296" y="0"/>
                </a:moveTo>
                <a:lnTo>
                  <a:pt x="3659314" y="0"/>
                </a:lnTo>
                <a:cubicBezTo>
                  <a:pt x="3697033" y="0"/>
                  <a:pt x="3727610" y="30577"/>
                  <a:pt x="3727610" y="68296"/>
                </a:cubicBezTo>
                <a:lnTo>
                  <a:pt x="3727610" y="1311415"/>
                </a:lnTo>
                <a:cubicBezTo>
                  <a:pt x="3727610" y="1349134"/>
                  <a:pt x="3697033" y="1379711"/>
                  <a:pt x="3659314" y="1379711"/>
                </a:cubicBezTo>
                <a:lnTo>
                  <a:pt x="68296" y="1379711"/>
                </a:lnTo>
                <a:cubicBezTo>
                  <a:pt x="30577" y="1379711"/>
                  <a:pt x="0" y="1349134"/>
                  <a:pt x="0" y="1311415"/>
                </a:cubicBezTo>
                <a:lnTo>
                  <a:pt x="0" y="68296"/>
                </a:lnTo>
                <a:cubicBezTo>
                  <a:pt x="0" y="30602"/>
                  <a:pt x="30602" y="0"/>
                  <a:pt x="6829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6473" y="2408518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204908" y="0"/>
                </a:moveTo>
                <a:lnTo>
                  <a:pt x="204908" y="0"/>
                </a:lnTo>
                <a:cubicBezTo>
                  <a:pt x="317999" y="0"/>
                  <a:pt x="409815" y="91816"/>
                  <a:pt x="409815" y="204908"/>
                </a:cubicBezTo>
                <a:lnTo>
                  <a:pt x="409815" y="204908"/>
                </a:lnTo>
                <a:cubicBezTo>
                  <a:pt x="409815" y="317999"/>
                  <a:pt x="317999" y="409815"/>
                  <a:pt x="204908" y="409815"/>
                </a:cubicBezTo>
                <a:lnTo>
                  <a:pt x="204908" y="409815"/>
                </a:lnTo>
                <a:cubicBezTo>
                  <a:pt x="91816" y="409815"/>
                  <a:pt x="0" y="317999"/>
                  <a:pt x="0" y="204908"/>
                </a:cubicBezTo>
                <a:lnTo>
                  <a:pt x="0" y="204908"/>
                </a:lnTo>
                <a:cubicBezTo>
                  <a:pt x="0" y="91816"/>
                  <a:pt x="91816" y="0"/>
                  <a:pt x="20490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7347" y="2528048"/>
            <a:ext cx="128067" cy="170756"/>
          </a:xfrm>
          <a:custGeom>
            <a:avLst/>
            <a:gdLst/>
            <a:ahLst/>
            <a:cxnLst/>
            <a:rect l="l" t="t" r="r" b="b"/>
            <a:pathLst>
              <a:path w="128067" h="170756">
                <a:moveTo>
                  <a:pt x="0" y="62900"/>
                </a:moveTo>
                <a:cubicBezTo>
                  <a:pt x="0" y="28148"/>
                  <a:pt x="28682" y="0"/>
                  <a:pt x="64034" y="0"/>
                </a:cubicBezTo>
                <a:cubicBezTo>
                  <a:pt x="99386" y="0"/>
                  <a:pt x="128067" y="28148"/>
                  <a:pt x="128067" y="62900"/>
                </a:cubicBezTo>
                <a:cubicBezTo>
                  <a:pt x="128067" y="102687"/>
                  <a:pt x="87980" y="150379"/>
                  <a:pt x="71237" y="168555"/>
                </a:cubicBezTo>
                <a:cubicBezTo>
                  <a:pt x="67302" y="172824"/>
                  <a:pt x="60732" y="172824"/>
                  <a:pt x="56796" y="168555"/>
                </a:cubicBezTo>
                <a:cubicBezTo>
                  <a:pt x="40054" y="150379"/>
                  <a:pt x="-33" y="102687"/>
                  <a:pt x="-33" y="62900"/>
                </a:cubicBezTo>
                <a:close/>
                <a:moveTo>
                  <a:pt x="64034" y="85378"/>
                </a:moveTo>
                <a:cubicBezTo>
                  <a:pt x="75814" y="85378"/>
                  <a:pt x="85378" y="75814"/>
                  <a:pt x="85378" y="64034"/>
                </a:cubicBezTo>
                <a:cubicBezTo>
                  <a:pt x="85378" y="52253"/>
                  <a:pt x="75814" y="42689"/>
                  <a:pt x="64034" y="42689"/>
                </a:cubicBezTo>
                <a:cubicBezTo>
                  <a:pt x="52253" y="42689"/>
                  <a:pt x="42689" y="52253"/>
                  <a:pt x="42689" y="64034"/>
                </a:cubicBezTo>
                <a:cubicBezTo>
                  <a:pt x="42689" y="75814"/>
                  <a:pt x="52253" y="85378"/>
                  <a:pt x="64034" y="8537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8742" y="2493897"/>
            <a:ext cx="1340437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Data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32086" y="2989090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2" name="Text 20"/>
          <p:cNvSpPr/>
          <p:nvPr/>
        </p:nvSpPr>
        <p:spPr>
          <a:xfrm>
            <a:off x="4645532" y="2954939"/>
            <a:ext cx="118675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coordinates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2086" y="3262300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532" y="3228149"/>
            <a:ext cx="132336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Drop-off coordinates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9430" y="2230931"/>
            <a:ext cx="3727610" cy="1379711"/>
          </a:xfrm>
          <a:custGeom>
            <a:avLst/>
            <a:gdLst/>
            <a:ahLst/>
            <a:cxnLst/>
            <a:rect l="l" t="t" r="r" b="b"/>
            <a:pathLst>
              <a:path w="3727610" h="1379711">
                <a:moveTo>
                  <a:pt x="68296" y="0"/>
                </a:moveTo>
                <a:lnTo>
                  <a:pt x="3659314" y="0"/>
                </a:lnTo>
                <a:cubicBezTo>
                  <a:pt x="3697033" y="0"/>
                  <a:pt x="3727610" y="30577"/>
                  <a:pt x="3727610" y="68296"/>
                </a:cubicBezTo>
                <a:lnTo>
                  <a:pt x="3727610" y="1311415"/>
                </a:lnTo>
                <a:cubicBezTo>
                  <a:pt x="3727610" y="1349134"/>
                  <a:pt x="3697033" y="1379711"/>
                  <a:pt x="3659314" y="1379711"/>
                </a:cubicBezTo>
                <a:lnTo>
                  <a:pt x="68296" y="1379711"/>
                </a:lnTo>
                <a:cubicBezTo>
                  <a:pt x="30577" y="1379711"/>
                  <a:pt x="0" y="1349134"/>
                  <a:pt x="0" y="1311415"/>
                </a:cubicBezTo>
                <a:lnTo>
                  <a:pt x="0" y="68296"/>
                </a:lnTo>
                <a:cubicBezTo>
                  <a:pt x="0" y="30602"/>
                  <a:pt x="30602" y="0"/>
                  <a:pt x="6829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7017" y="2408518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204908" y="0"/>
                </a:moveTo>
                <a:lnTo>
                  <a:pt x="204908" y="0"/>
                </a:lnTo>
                <a:cubicBezTo>
                  <a:pt x="317999" y="0"/>
                  <a:pt x="409815" y="91816"/>
                  <a:pt x="409815" y="204908"/>
                </a:cubicBezTo>
                <a:lnTo>
                  <a:pt x="409815" y="204908"/>
                </a:lnTo>
                <a:cubicBezTo>
                  <a:pt x="409815" y="317999"/>
                  <a:pt x="317999" y="409815"/>
                  <a:pt x="204908" y="409815"/>
                </a:cubicBezTo>
                <a:lnTo>
                  <a:pt x="204908" y="409815"/>
                </a:lnTo>
                <a:cubicBezTo>
                  <a:pt x="91816" y="409815"/>
                  <a:pt x="0" y="317999"/>
                  <a:pt x="0" y="204908"/>
                </a:cubicBezTo>
                <a:lnTo>
                  <a:pt x="0" y="204908"/>
                </a:lnTo>
                <a:cubicBezTo>
                  <a:pt x="0" y="91816"/>
                  <a:pt x="91816" y="0"/>
                  <a:pt x="204908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7" name="Shape 25"/>
          <p:cNvSpPr/>
          <p:nvPr/>
        </p:nvSpPr>
        <p:spPr>
          <a:xfrm>
            <a:off x="8406546" y="2528048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74673" y="10672"/>
                </a:moveTo>
                <a:lnTo>
                  <a:pt x="49259" y="10672"/>
                </a:lnTo>
                <a:cubicBezTo>
                  <a:pt x="39454" y="10672"/>
                  <a:pt x="30883" y="17376"/>
                  <a:pt x="28548" y="26881"/>
                </a:cubicBezTo>
                <a:lnTo>
                  <a:pt x="467" y="140240"/>
                </a:lnTo>
                <a:cubicBezTo>
                  <a:pt x="-2034" y="150312"/>
                  <a:pt x="5603" y="160084"/>
                  <a:pt x="16008" y="160084"/>
                </a:cubicBezTo>
                <a:lnTo>
                  <a:pt x="74673" y="160084"/>
                </a:lnTo>
                <a:lnTo>
                  <a:pt x="74673" y="138739"/>
                </a:lnTo>
                <a:cubicBezTo>
                  <a:pt x="74673" y="132836"/>
                  <a:pt x="79442" y="128067"/>
                  <a:pt x="85345" y="128067"/>
                </a:cubicBezTo>
                <a:cubicBezTo>
                  <a:pt x="91248" y="128067"/>
                  <a:pt x="96017" y="132836"/>
                  <a:pt x="96017" y="138739"/>
                </a:cubicBezTo>
                <a:lnTo>
                  <a:pt x="96017" y="160084"/>
                </a:lnTo>
                <a:lnTo>
                  <a:pt x="154748" y="160084"/>
                </a:lnTo>
                <a:cubicBezTo>
                  <a:pt x="165153" y="160084"/>
                  <a:pt x="172791" y="150312"/>
                  <a:pt x="170289" y="140240"/>
                </a:cubicBezTo>
                <a:lnTo>
                  <a:pt x="142241" y="26881"/>
                </a:lnTo>
                <a:cubicBezTo>
                  <a:pt x="139873" y="17376"/>
                  <a:pt x="131336" y="10672"/>
                  <a:pt x="121497" y="10672"/>
                </a:cubicBezTo>
                <a:lnTo>
                  <a:pt x="96017" y="10672"/>
                </a:lnTo>
                <a:lnTo>
                  <a:pt x="96017" y="32017"/>
                </a:lnTo>
                <a:cubicBezTo>
                  <a:pt x="96017" y="37920"/>
                  <a:pt x="91248" y="42689"/>
                  <a:pt x="85345" y="42689"/>
                </a:cubicBezTo>
                <a:cubicBezTo>
                  <a:pt x="79442" y="42689"/>
                  <a:pt x="74673" y="37920"/>
                  <a:pt x="74673" y="32017"/>
                </a:cubicBezTo>
                <a:lnTo>
                  <a:pt x="74673" y="10672"/>
                </a:lnTo>
                <a:close/>
                <a:moveTo>
                  <a:pt x="96017" y="74706"/>
                </a:moveTo>
                <a:lnTo>
                  <a:pt x="96017" y="96050"/>
                </a:lnTo>
                <a:cubicBezTo>
                  <a:pt x="96017" y="101954"/>
                  <a:pt x="91248" y="106723"/>
                  <a:pt x="85345" y="106723"/>
                </a:cubicBezTo>
                <a:cubicBezTo>
                  <a:pt x="79442" y="106723"/>
                  <a:pt x="74673" y="101954"/>
                  <a:pt x="74673" y="96050"/>
                </a:cubicBezTo>
                <a:lnTo>
                  <a:pt x="74673" y="74706"/>
                </a:lnTo>
                <a:cubicBezTo>
                  <a:pt x="74673" y="68803"/>
                  <a:pt x="79442" y="64034"/>
                  <a:pt x="85345" y="64034"/>
                </a:cubicBezTo>
                <a:cubicBezTo>
                  <a:pt x="91248" y="64034"/>
                  <a:pt x="96017" y="68803"/>
                  <a:pt x="96017" y="7470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8799286" y="2493897"/>
            <a:ext cx="998924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 Metrics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12630" y="2989090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0" name="Text 28"/>
          <p:cNvSpPr/>
          <p:nvPr/>
        </p:nvSpPr>
        <p:spPr>
          <a:xfrm>
            <a:off x="8526076" y="2954939"/>
            <a:ext cx="828168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distance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2630" y="3262300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2" name="Text 30"/>
          <p:cNvSpPr/>
          <p:nvPr/>
        </p:nvSpPr>
        <p:spPr>
          <a:xfrm>
            <a:off x="8526076" y="3228149"/>
            <a:ext cx="828168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duration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8343" y="3795058"/>
            <a:ext cx="3727610" cy="1379711"/>
          </a:xfrm>
          <a:custGeom>
            <a:avLst/>
            <a:gdLst/>
            <a:ahLst/>
            <a:cxnLst/>
            <a:rect l="l" t="t" r="r" b="b"/>
            <a:pathLst>
              <a:path w="3727610" h="1379711">
                <a:moveTo>
                  <a:pt x="68296" y="0"/>
                </a:moveTo>
                <a:lnTo>
                  <a:pt x="3659314" y="0"/>
                </a:lnTo>
                <a:cubicBezTo>
                  <a:pt x="3697033" y="0"/>
                  <a:pt x="3727610" y="30577"/>
                  <a:pt x="3727610" y="68296"/>
                </a:cubicBezTo>
                <a:lnTo>
                  <a:pt x="3727610" y="1311415"/>
                </a:lnTo>
                <a:cubicBezTo>
                  <a:pt x="3727610" y="1349134"/>
                  <a:pt x="3697033" y="1379711"/>
                  <a:pt x="3659314" y="1379711"/>
                </a:cubicBezTo>
                <a:lnTo>
                  <a:pt x="68296" y="1379711"/>
                </a:lnTo>
                <a:cubicBezTo>
                  <a:pt x="30577" y="1379711"/>
                  <a:pt x="0" y="1349134"/>
                  <a:pt x="0" y="1311415"/>
                </a:cubicBezTo>
                <a:lnTo>
                  <a:pt x="0" y="68296"/>
                </a:lnTo>
                <a:cubicBezTo>
                  <a:pt x="0" y="30602"/>
                  <a:pt x="30602" y="0"/>
                  <a:pt x="6829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5929" y="3972646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204908" y="0"/>
                </a:moveTo>
                <a:lnTo>
                  <a:pt x="204908" y="0"/>
                </a:lnTo>
                <a:cubicBezTo>
                  <a:pt x="317999" y="0"/>
                  <a:pt x="409815" y="91816"/>
                  <a:pt x="409815" y="204908"/>
                </a:cubicBezTo>
                <a:lnTo>
                  <a:pt x="409815" y="204908"/>
                </a:lnTo>
                <a:cubicBezTo>
                  <a:pt x="409815" y="317999"/>
                  <a:pt x="317999" y="409815"/>
                  <a:pt x="204908" y="409815"/>
                </a:cubicBezTo>
                <a:lnTo>
                  <a:pt x="204908" y="409815"/>
                </a:lnTo>
                <a:cubicBezTo>
                  <a:pt x="91816" y="409815"/>
                  <a:pt x="0" y="317999"/>
                  <a:pt x="0" y="204908"/>
                </a:cubicBezTo>
                <a:lnTo>
                  <a:pt x="0" y="204908"/>
                </a:lnTo>
                <a:cubicBezTo>
                  <a:pt x="0" y="91816"/>
                  <a:pt x="91816" y="0"/>
                  <a:pt x="20490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Shape 33"/>
          <p:cNvSpPr/>
          <p:nvPr/>
        </p:nvSpPr>
        <p:spPr>
          <a:xfrm>
            <a:off x="634787" y="4092175"/>
            <a:ext cx="192101" cy="170756"/>
          </a:xfrm>
          <a:custGeom>
            <a:avLst/>
            <a:gdLst/>
            <a:ahLst/>
            <a:cxnLst/>
            <a:rect l="l" t="t" r="r" b="b"/>
            <a:pathLst>
              <a:path w="192101" h="170756">
                <a:moveTo>
                  <a:pt x="21345" y="42689"/>
                </a:moveTo>
                <a:cubicBezTo>
                  <a:pt x="21345" y="22073"/>
                  <a:pt x="38082" y="5336"/>
                  <a:pt x="58697" y="5336"/>
                </a:cubicBezTo>
                <a:cubicBezTo>
                  <a:pt x="79313" y="5336"/>
                  <a:pt x="96050" y="22073"/>
                  <a:pt x="96050" y="42689"/>
                </a:cubicBezTo>
                <a:cubicBezTo>
                  <a:pt x="96050" y="63305"/>
                  <a:pt x="79313" y="80042"/>
                  <a:pt x="58697" y="80042"/>
                </a:cubicBezTo>
                <a:cubicBezTo>
                  <a:pt x="38082" y="80042"/>
                  <a:pt x="21345" y="63305"/>
                  <a:pt x="21345" y="42689"/>
                </a:cubicBezTo>
                <a:close/>
                <a:moveTo>
                  <a:pt x="0" y="154748"/>
                </a:moveTo>
                <a:cubicBezTo>
                  <a:pt x="0" y="122331"/>
                  <a:pt x="26280" y="96050"/>
                  <a:pt x="58697" y="96050"/>
                </a:cubicBezTo>
                <a:cubicBezTo>
                  <a:pt x="91114" y="96050"/>
                  <a:pt x="117395" y="122331"/>
                  <a:pt x="117395" y="154748"/>
                </a:cubicBezTo>
                <a:lnTo>
                  <a:pt x="117395" y="156749"/>
                </a:lnTo>
                <a:cubicBezTo>
                  <a:pt x="117395" y="164486"/>
                  <a:pt x="111125" y="170756"/>
                  <a:pt x="103388" y="170756"/>
                </a:cubicBezTo>
                <a:lnTo>
                  <a:pt x="14007" y="170756"/>
                </a:lnTo>
                <a:cubicBezTo>
                  <a:pt x="6270" y="170756"/>
                  <a:pt x="0" y="164486"/>
                  <a:pt x="0" y="156749"/>
                </a:cubicBezTo>
                <a:lnTo>
                  <a:pt x="0" y="154748"/>
                </a:lnTo>
                <a:close/>
                <a:moveTo>
                  <a:pt x="144076" y="21345"/>
                </a:moveTo>
                <a:cubicBezTo>
                  <a:pt x="161746" y="21345"/>
                  <a:pt x="176092" y="35691"/>
                  <a:pt x="176092" y="53361"/>
                </a:cubicBezTo>
                <a:cubicBezTo>
                  <a:pt x="176092" y="71032"/>
                  <a:pt x="161746" y="85378"/>
                  <a:pt x="144076" y="85378"/>
                </a:cubicBezTo>
                <a:cubicBezTo>
                  <a:pt x="126405" y="85378"/>
                  <a:pt x="112059" y="71032"/>
                  <a:pt x="112059" y="53361"/>
                </a:cubicBezTo>
                <a:cubicBezTo>
                  <a:pt x="112059" y="35691"/>
                  <a:pt x="126405" y="21345"/>
                  <a:pt x="144076" y="21345"/>
                </a:cubicBezTo>
                <a:close/>
                <a:moveTo>
                  <a:pt x="144076" y="101387"/>
                </a:moveTo>
                <a:cubicBezTo>
                  <a:pt x="170590" y="101387"/>
                  <a:pt x="192101" y="122898"/>
                  <a:pt x="192101" y="149412"/>
                </a:cubicBezTo>
                <a:lnTo>
                  <a:pt x="192101" y="156882"/>
                </a:lnTo>
                <a:cubicBezTo>
                  <a:pt x="192101" y="164553"/>
                  <a:pt x="185898" y="170756"/>
                  <a:pt x="178227" y="170756"/>
                </a:cubicBezTo>
                <a:lnTo>
                  <a:pt x="129935" y="170756"/>
                </a:lnTo>
                <a:cubicBezTo>
                  <a:pt x="132136" y="166587"/>
                  <a:pt x="133403" y="161818"/>
                  <a:pt x="133403" y="156749"/>
                </a:cubicBezTo>
                <a:lnTo>
                  <a:pt x="133403" y="154748"/>
                </a:lnTo>
                <a:cubicBezTo>
                  <a:pt x="133403" y="137572"/>
                  <a:pt x="127600" y="121764"/>
                  <a:pt x="117895" y="109157"/>
                </a:cubicBezTo>
                <a:cubicBezTo>
                  <a:pt x="125433" y="104255"/>
                  <a:pt x="134437" y="101387"/>
                  <a:pt x="144076" y="101387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6" name="Text 34"/>
          <p:cNvSpPr/>
          <p:nvPr/>
        </p:nvSpPr>
        <p:spPr>
          <a:xfrm>
            <a:off x="1038198" y="4058024"/>
            <a:ext cx="1203832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Passenger Info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1543" y="4553217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8" name="Text 36"/>
          <p:cNvSpPr/>
          <p:nvPr/>
        </p:nvSpPr>
        <p:spPr>
          <a:xfrm>
            <a:off x="764988" y="4519066"/>
            <a:ext cx="103307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Passenger count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28887" y="3795058"/>
            <a:ext cx="3727610" cy="1379711"/>
          </a:xfrm>
          <a:custGeom>
            <a:avLst/>
            <a:gdLst/>
            <a:ahLst/>
            <a:cxnLst/>
            <a:rect l="l" t="t" r="r" b="b"/>
            <a:pathLst>
              <a:path w="3727610" h="1379711">
                <a:moveTo>
                  <a:pt x="68296" y="0"/>
                </a:moveTo>
                <a:lnTo>
                  <a:pt x="3659314" y="0"/>
                </a:lnTo>
                <a:cubicBezTo>
                  <a:pt x="3697033" y="0"/>
                  <a:pt x="3727610" y="30577"/>
                  <a:pt x="3727610" y="68296"/>
                </a:cubicBezTo>
                <a:lnTo>
                  <a:pt x="3727610" y="1311415"/>
                </a:lnTo>
                <a:cubicBezTo>
                  <a:pt x="3727610" y="1349134"/>
                  <a:pt x="3697033" y="1379711"/>
                  <a:pt x="3659314" y="1379711"/>
                </a:cubicBezTo>
                <a:lnTo>
                  <a:pt x="68296" y="1379711"/>
                </a:lnTo>
                <a:cubicBezTo>
                  <a:pt x="30577" y="1379711"/>
                  <a:pt x="0" y="1349134"/>
                  <a:pt x="0" y="1311415"/>
                </a:cubicBezTo>
                <a:lnTo>
                  <a:pt x="0" y="68296"/>
                </a:lnTo>
                <a:cubicBezTo>
                  <a:pt x="0" y="30602"/>
                  <a:pt x="30602" y="0"/>
                  <a:pt x="6829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6473" y="3972646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204908" y="0"/>
                </a:moveTo>
                <a:lnTo>
                  <a:pt x="204908" y="0"/>
                </a:lnTo>
                <a:cubicBezTo>
                  <a:pt x="317999" y="0"/>
                  <a:pt x="409815" y="91816"/>
                  <a:pt x="409815" y="204908"/>
                </a:cubicBezTo>
                <a:lnTo>
                  <a:pt x="409815" y="204908"/>
                </a:lnTo>
                <a:cubicBezTo>
                  <a:pt x="409815" y="317999"/>
                  <a:pt x="317999" y="409815"/>
                  <a:pt x="204908" y="409815"/>
                </a:cubicBezTo>
                <a:lnTo>
                  <a:pt x="204908" y="409815"/>
                </a:lnTo>
                <a:cubicBezTo>
                  <a:pt x="91816" y="409815"/>
                  <a:pt x="0" y="317999"/>
                  <a:pt x="0" y="204908"/>
                </a:cubicBezTo>
                <a:lnTo>
                  <a:pt x="0" y="204908"/>
                </a:lnTo>
                <a:cubicBezTo>
                  <a:pt x="0" y="91816"/>
                  <a:pt x="91816" y="0"/>
                  <a:pt x="20490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1" name="Shape 39"/>
          <p:cNvSpPr/>
          <p:nvPr/>
        </p:nvSpPr>
        <p:spPr>
          <a:xfrm>
            <a:off x="4526002" y="4092175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0" y="42689"/>
                </a:moveTo>
                <a:lnTo>
                  <a:pt x="0" y="53361"/>
                </a:lnTo>
                <a:lnTo>
                  <a:pt x="170756" y="53361"/>
                </a:lnTo>
                <a:lnTo>
                  <a:pt x="170756" y="42689"/>
                </a:lnTo>
                <a:cubicBezTo>
                  <a:pt x="170756" y="30916"/>
                  <a:pt x="161185" y="21345"/>
                  <a:pt x="149412" y="21345"/>
                </a:cubicBezTo>
                <a:lnTo>
                  <a:pt x="21345" y="21345"/>
                </a:lnTo>
                <a:cubicBezTo>
                  <a:pt x="9572" y="21345"/>
                  <a:pt x="0" y="30916"/>
                  <a:pt x="0" y="42689"/>
                </a:cubicBezTo>
                <a:close/>
                <a:moveTo>
                  <a:pt x="0" y="69370"/>
                </a:moveTo>
                <a:lnTo>
                  <a:pt x="0" y="128067"/>
                </a:lnTo>
                <a:cubicBezTo>
                  <a:pt x="0" y="139840"/>
                  <a:pt x="9572" y="149412"/>
                  <a:pt x="21345" y="149412"/>
                </a:cubicBezTo>
                <a:lnTo>
                  <a:pt x="149412" y="149412"/>
                </a:lnTo>
                <a:cubicBezTo>
                  <a:pt x="161185" y="149412"/>
                  <a:pt x="170756" y="139840"/>
                  <a:pt x="170756" y="128067"/>
                </a:cubicBezTo>
                <a:lnTo>
                  <a:pt x="170756" y="69370"/>
                </a:lnTo>
                <a:lnTo>
                  <a:pt x="0" y="69370"/>
                </a:lnTo>
                <a:close/>
                <a:moveTo>
                  <a:pt x="21345" y="120063"/>
                </a:moveTo>
                <a:cubicBezTo>
                  <a:pt x="21345" y="115627"/>
                  <a:pt x="24913" y="112059"/>
                  <a:pt x="29349" y="112059"/>
                </a:cubicBezTo>
                <a:lnTo>
                  <a:pt x="45357" y="112059"/>
                </a:lnTo>
                <a:cubicBezTo>
                  <a:pt x="49793" y="112059"/>
                  <a:pt x="53361" y="115627"/>
                  <a:pt x="53361" y="120063"/>
                </a:cubicBezTo>
                <a:cubicBezTo>
                  <a:pt x="53361" y="124499"/>
                  <a:pt x="49793" y="128067"/>
                  <a:pt x="45357" y="128067"/>
                </a:cubicBezTo>
                <a:lnTo>
                  <a:pt x="29349" y="128067"/>
                </a:lnTo>
                <a:cubicBezTo>
                  <a:pt x="24913" y="128067"/>
                  <a:pt x="21345" y="124499"/>
                  <a:pt x="21345" y="120063"/>
                </a:cubicBezTo>
                <a:close/>
                <a:moveTo>
                  <a:pt x="69370" y="120063"/>
                </a:moveTo>
                <a:cubicBezTo>
                  <a:pt x="69370" y="115627"/>
                  <a:pt x="72938" y="112059"/>
                  <a:pt x="77374" y="112059"/>
                </a:cubicBezTo>
                <a:lnTo>
                  <a:pt x="98718" y="112059"/>
                </a:lnTo>
                <a:cubicBezTo>
                  <a:pt x="103154" y="112059"/>
                  <a:pt x="106723" y="115627"/>
                  <a:pt x="106723" y="120063"/>
                </a:cubicBezTo>
                <a:cubicBezTo>
                  <a:pt x="106723" y="124499"/>
                  <a:pt x="103154" y="128067"/>
                  <a:pt x="98718" y="128067"/>
                </a:cubicBezTo>
                <a:lnTo>
                  <a:pt x="77374" y="128067"/>
                </a:lnTo>
                <a:cubicBezTo>
                  <a:pt x="72938" y="128067"/>
                  <a:pt x="69370" y="124499"/>
                  <a:pt x="69370" y="120063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2" name="Text 40"/>
          <p:cNvSpPr/>
          <p:nvPr/>
        </p:nvSpPr>
        <p:spPr>
          <a:xfrm>
            <a:off x="4918742" y="4058024"/>
            <a:ext cx="1306286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Details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32086" y="4553217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4" name="Text 42"/>
          <p:cNvSpPr/>
          <p:nvPr/>
        </p:nvSpPr>
        <p:spPr>
          <a:xfrm>
            <a:off x="4645532" y="4519066"/>
            <a:ext cx="879395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type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9430" y="3795058"/>
            <a:ext cx="3727610" cy="1379711"/>
          </a:xfrm>
          <a:custGeom>
            <a:avLst/>
            <a:gdLst/>
            <a:ahLst/>
            <a:cxnLst/>
            <a:rect l="l" t="t" r="r" b="b"/>
            <a:pathLst>
              <a:path w="3727610" h="1379711">
                <a:moveTo>
                  <a:pt x="68296" y="0"/>
                </a:moveTo>
                <a:lnTo>
                  <a:pt x="3659314" y="0"/>
                </a:lnTo>
                <a:cubicBezTo>
                  <a:pt x="3697033" y="0"/>
                  <a:pt x="3727610" y="30577"/>
                  <a:pt x="3727610" y="68296"/>
                </a:cubicBezTo>
                <a:lnTo>
                  <a:pt x="3727610" y="1311415"/>
                </a:lnTo>
                <a:cubicBezTo>
                  <a:pt x="3727610" y="1349134"/>
                  <a:pt x="3697033" y="1379711"/>
                  <a:pt x="3659314" y="1379711"/>
                </a:cubicBezTo>
                <a:lnTo>
                  <a:pt x="68296" y="1379711"/>
                </a:lnTo>
                <a:cubicBezTo>
                  <a:pt x="30577" y="1379711"/>
                  <a:pt x="0" y="1349134"/>
                  <a:pt x="0" y="1311415"/>
                </a:cubicBezTo>
                <a:lnTo>
                  <a:pt x="0" y="68296"/>
                </a:lnTo>
                <a:cubicBezTo>
                  <a:pt x="0" y="30602"/>
                  <a:pt x="30602" y="0"/>
                  <a:pt x="68296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7017" y="3972646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204908" y="0"/>
                </a:moveTo>
                <a:lnTo>
                  <a:pt x="204908" y="0"/>
                </a:lnTo>
                <a:cubicBezTo>
                  <a:pt x="317999" y="0"/>
                  <a:pt x="409815" y="91816"/>
                  <a:pt x="409815" y="204908"/>
                </a:cubicBezTo>
                <a:lnTo>
                  <a:pt x="409815" y="204908"/>
                </a:lnTo>
                <a:cubicBezTo>
                  <a:pt x="409815" y="317999"/>
                  <a:pt x="317999" y="409815"/>
                  <a:pt x="204908" y="409815"/>
                </a:cubicBezTo>
                <a:lnTo>
                  <a:pt x="204908" y="409815"/>
                </a:lnTo>
                <a:cubicBezTo>
                  <a:pt x="91816" y="409815"/>
                  <a:pt x="0" y="317999"/>
                  <a:pt x="0" y="204908"/>
                </a:cubicBezTo>
                <a:lnTo>
                  <a:pt x="0" y="204908"/>
                </a:lnTo>
                <a:cubicBezTo>
                  <a:pt x="0" y="91816"/>
                  <a:pt x="91816" y="0"/>
                  <a:pt x="204908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7" name="Shape 45"/>
          <p:cNvSpPr/>
          <p:nvPr/>
        </p:nvSpPr>
        <p:spPr>
          <a:xfrm>
            <a:off x="8438563" y="4092175"/>
            <a:ext cx="106723" cy="170756"/>
          </a:xfrm>
          <a:custGeom>
            <a:avLst/>
            <a:gdLst/>
            <a:ahLst/>
            <a:cxnLst/>
            <a:rect l="l" t="t" r="r" b="b"/>
            <a:pathLst>
              <a:path w="106723" h="170756">
                <a:moveTo>
                  <a:pt x="45357" y="8004"/>
                </a:moveTo>
                <a:cubicBezTo>
                  <a:pt x="45357" y="3569"/>
                  <a:pt x="48926" y="0"/>
                  <a:pt x="53361" y="0"/>
                </a:cubicBezTo>
                <a:cubicBezTo>
                  <a:pt x="57797" y="0"/>
                  <a:pt x="61366" y="3569"/>
                  <a:pt x="61366" y="8004"/>
                </a:cubicBezTo>
                <a:lnTo>
                  <a:pt x="61366" y="21345"/>
                </a:lnTo>
                <a:lnTo>
                  <a:pt x="80042" y="21345"/>
                </a:lnTo>
                <a:cubicBezTo>
                  <a:pt x="85945" y="21345"/>
                  <a:pt x="90714" y="26114"/>
                  <a:pt x="90714" y="32017"/>
                </a:cubicBezTo>
                <a:cubicBezTo>
                  <a:pt x="90714" y="37920"/>
                  <a:pt x="85945" y="42689"/>
                  <a:pt x="80042" y="42689"/>
                </a:cubicBezTo>
                <a:lnTo>
                  <a:pt x="41722" y="42689"/>
                </a:lnTo>
                <a:cubicBezTo>
                  <a:pt x="33418" y="42689"/>
                  <a:pt x="26681" y="49426"/>
                  <a:pt x="26681" y="57730"/>
                </a:cubicBezTo>
                <a:cubicBezTo>
                  <a:pt x="26681" y="65234"/>
                  <a:pt x="32184" y="71571"/>
                  <a:pt x="39587" y="72638"/>
                </a:cubicBezTo>
                <a:lnTo>
                  <a:pt x="70137" y="77007"/>
                </a:lnTo>
                <a:cubicBezTo>
                  <a:pt x="88080" y="79575"/>
                  <a:pt x="101387" y="94916"/>
                  <a:pt x="101387" y="113026"/>
                </a:cubicBezTo>
                <a:cubicBezTo>
                  <a:pt x="101387" y="133137"/>
                  <a:pt x="85078" y="149412"/>
                  <a:pt x="65001" y="149412"/>
                </a:cubicBezTo>
                <a:lnTo>
                  <a:pt x="61366" y="149412"/>
                </a:lnTo>
                <a:lnTo>
                  <a:pt x="61366" y="162752"/>
                </a:lnTo>
                <a:cubicBezTo>
                  <a:pt x="61366" y="167188"/>
                  <a:pt x="57797" y="170756"/>
                  <a:pt x="53361" y="170756"/>
                </a:cubicBezTo>
                <a:cubicBezTo>
                  <a:pt x="48926" y="170756"/>
                  <a:pt x="45357" y="167188"/>
                  <a:pt x="45357" y="162752"/>
                </a:cubicBezTo>
                <a:lnTo>
                  <a:pt x="45357" y="149412"/>
                </a:lnTo>
                <a:lnTo>
                  <a:pt x="21345" y="149412"/>
                </a:lnTo>
                <a:cubicBezTo>
                  <a:pt x="15441" y="149412"/>
                  <a:pt x="10672" y="144643"/>
                  <a:pt x="10672" y="138739"/>
                </a:cubicBezTo>
                <a:cubicBezTo>
                  <a:pt x="10672" y="132836"/>
                  <a:pt x="15441" y="128067"/>
                  <a:pt x="21345" y="128067"/>
                </a:cubicBezTo>
                <a:lnTo>
                  <a:pt x="65001" y="128067"/>
                </a:lnTo>
                <a:cubicBezTo>
                  <a:pt x="73305" y="128067"/>
                  <a:pt x="80042" y="121330"/>
                  <a:pt x="80042" y="113026"/>
                </a:cubicBezTo>
                <a:cubicBezTo>
                  <a:pt x="80042" y="105522"/>
                  <a:pt x="74539" y="99185"/>
                  <a:pt x="67135" y="98118"/>
                </a:cubicBezTo>
                <a:lnTo>
                  <a:pt x="36586" y="93749"/>
                </a:lnTo>
                <a:cubicBezTo>
                  <a:pt x="18643" y="91215"/>
                  <a:pt x="5336" y="75840"/>
                  <a:pt x="5336" y="57730"/>
                </a:cubicBezTo>
                <a:cubicBezTo>
                  <a:pt x="5336" y="37653"/>
                  <a:pt x="21645" y="21345"/>
                  <a:pt x="41722" y="21345"/>
                </a:cubicBezTo>
                <a:lnTo>
                  <a:pt x="45357" y="21345"/>
                </a:lnTo>
                <a:lnTo>
                  <a:pt x="45357" y="800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8799286" y="4058024"/>
            <a:ext cx="1144067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Data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12630" y="4553217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50" name="Text 48"/>
          <p:cNvSpPr/>
          <p:nvPr/>
        </p:nvSpPr>
        <p:spPr>
          <a:xfrm>
            <a:off x="8526076" y="4519066"/>
            <a:ext cx="81109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Fare amount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12630" y="4826427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52" name="Text 50"/>
          <p:cNvSpPr/>
          <p:nvPr/>
        </p:nvSpPr>
        <p:spPr>
          <a:xfrm>
            <a:off x="8526076" y="4792276"/>
            <a:ext cx="64033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cost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48343" y="5359188"/>
            <a:ext cx="11488484" cy="867442"/>
          </a:xfrm>
          <a:custGeom>
            <a:avLst/>
            <a:gdLst/>
            <a:ahLst/>
            <a:cxnLst/>
            <a:rect l="l" t="t" r="r" b="b"/>
            <a:pathLst>
              <a:path w="11488484" h="867442">
                <a:moveTo>
                  <a:pt x="68302" y="0"/>
                </a:moveTo>
                <a:lnTo>
                  <a:pt x="11420182" y="0"/>
                </a:lnTo>
                <a:cubicBezTo>
                  <a:pt x="11457904" y="0"/>
                  <a:pt x="11488484" y="30580"/>
                  <a:pt x="11488484" y="68302"/>
                </a:cubicBezTo>
                <a:lnTo>
                  <a:pt x="11488484" y="799140"/>
                </a:lnTo>
                <a:cubicBezTo>
                  <a:pt x="11488484" y="836862"/>
                  <a:pt x="11457904" y="867442"/>
                  <a:pt x="11420182" y="867442"/>
                </a:cubicBezTo>
                <a:lnTo>
                  <a:pt x="68302" y="867442"/>
                </a:lnTo>
                <a:cubicBezTo>
                  <a:pt x="30580" y="867442"/>
                  <a:pt x="0" y="836862"/>
                  <a:pt x="0" y="799140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4350" y="5639227"/>
            <a:ext cx="307361" cy="307361"/>
          </a:xfrm>
          <a:custGeom>
            <a:avLst/>
            <a:gdLst/>
            <a:ahLst/>
            <a:cxnLst/>
            <a:rect l="l" t="t" r="r" b="b"/>
            <a:pathLst>
              <a:path w="307361" h="307361">
                <a:moveTo>
                  <a:pt x="38420" y="38420"/>
                </a:moveTo>
                <a:cubicBezTo>
                  <a:pt x="38420" y="27795"/>
                  <a:pt x="29836" y="19210"/>
                  <a:pt x="19210" y="19210"/>
                </a:cubicBezTo>
                <a:cubicBezTo>
                  <a:pt x="8585" y="19210"/>
                  <a:pt x="0" y="27795"/>
                  <a:pt x="0" y="38420"/>
                </a:cubicBezTo>
                <a:lnTo>
                  <a:pt x="0" y="240126"/>
                </a:lnTo>
                <a:cubicBezTo>
                  <a:pt x="0" y="266660"/>
                  <a:pt x="21491" y="288151"/>
                  <a:pt x="48025" y="288151"/>
                </a:cubicBezTo>
                <a:lnTo>
                  <a:pt x="288151" y="288151"/>
                </a:lnTo>
                <a:cubicBezTo>
                  <a:pt x="298777" y="288151"/>
                  <a:pt x="307361" y="279567"/>
                  <a:pt x="307361" y="268941"/>
                </a:cubicBezTo>
                <a:cubicBezTo>
                  <a:pt x="307361" y="258316"/>
                  <a:pt x="298777" y="249731"/>
                  <a:pt x="288151" y="249731"/>
                </a:cubicBezTo>
                <a:lnTo>
                  <a:pt x="48025" y="249731"/>
                </a:lnTo>
                <a:cubicBezTo>
                  <a:pt x="42742" y="249731"/>
                  <a:pt x="38420" y="245409"/>
                  <a:pt x="38420" y="240126"/>
                </a:cubicBezTo>
                <a:lnTo>
                  <a:pt x="38420" y="38420"/>
                </a:lnTo>
                <a:close/>
                <a:moveTo>
                  <a:pt x="282508" y="90407"/>
                </a:moveTo>
                <a:cubicBezTo>
                  <a:pt x="290012" y="82904"/>
                  <a:pt x="290012" y="70717"/>
                  <a:pt x="282508" y="63213"/>
                </a:cubicBezTo>
                <a:cubicBezTo>
                  <a:pt x="275004" y="55709"/>
                  <a:pt x="262818" y="55709"/>
                  <a:pt x="255314" y="63213"/>
                </a:cubicBezTo>
                <a:lnTo>
                  <a:pt x="192101" y="126486"/>
                </a:lnTo>
                <a:lnTo>
                  <a:pt x="157643" y="92088"/>
                </a:lnTo>
                <a:cubicBezTo>
                  <a:pt x="150139" y="84584"/>
                  <a:pt x="137952" y="84584"/>
                  <a:pt x="130448" y="92088"/>
                </a:cubicBezTo>
                <a:lnTo>
                  <a:pt x="72818" y="149719"/>
                </a:lnTo>
                <a:cubicBezTo>
                  <a:pt x="65314" y="157223"/>
                  <a:pt x="65314" y="169409"/>
                  <a:pt x="72818" y="176913"/>
                </a:cubicBezTo>
                <a:cubicBezTo>
                  <a:pt x="80322" y="184417"/>
                  <a:pt x="92509" y="184417"/>
                  <a:pt x="100013" y="176913"/>
                </a:cubicBezTo>
                <a:lnTo>
                  <a:pt x="144076" y="132850"/>
                </a:lnTo>
                <a:lnTo>
                  <a:pt x="178534" y="167308"/>
                </a:lnTo>
                <a:cubicBezTo>
                  <a:pt x="186038" y="174812"/>
                  <a:pt x="198224" y="174812"/>
                  <a:pt x="205728" y="167308"/>
                </a:cubicBezTo>
                <a:lnTo>
                  <a:pt x="282568" y="90467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55" name="Text 53"/>
          <p:cNvSpPr/>
          <p:nvPr/>
        </p:nvSpPr>
        <p:spPr>
          <a:xfrm>
            <a:off x="1046736" y="5536773"/>
            <a:ext cx="4704336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Modeling Purpose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6736" y="5844134"/>
            <a:ext cx="468726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variables help model the </a:t>
            </a:r>
            <a:pPr>
              <a:lnSpc>
                <a:spcPct val="130000"/>
              </a:lnSpc>
            </a:pPr>
            <a:r>
              <a:rPr lang="en-US" sz="1076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 between trip behavior and pricing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1016000" cy="317500"/>
          </a:xfrm>
          <a:custGeom>
            <a:avLst/>
            <a:gdLst/>
            <a:ahLst/>
            <a:cxnLst/>
            <a:rect l="l" t="t" r="r" b="b"/>
            <a:pathLst>
              <a:path w="1016000" h="317500">
                <a:moveTo>
                  <a:pt x="0" y="0"/>
                </a:moveTo>
                <a:lnTo>
                  <a:pt x="1016000" y="0"/>
                </a:lnTo>
                <a:lnTo>
                  <a:pt x="10160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3810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333500"/>
            <a:ext cx="11541125" cy="579438"/>
          </a:xfrm>
          <a:custGeom>
            <a:avLst/>
            <a:gdLst/>
            <a:ahLst/>
            <a:cxnLst/>
            <a:rect l="l" t="t" r="r" b="b"/>
            <a:pathLst>
              <a:path w="11541125" h="579438">
                <a:moveTo>
                  <a:pt x="31747" y="0"/>
                </a:moveTo>
                <a:lnTo>
                  <a:pt x="11509378" y="0"/>
                </a:lnTo>
                <a:cubicBezTo>
                  <a:pt x="11526911" y="0"/>
                  <a:pt x="11541125" y="14214"/>
                  <a:pt x="11541125" y="31747"/>
                </a:cubicBezTo>
                <a:lnTo>
                  <a:pt x="11541125" y="547690"/>
                </a:lnTo>
                <a:cubicBezTo>
                  <a:pt x="11541125" y="565224"/>
                  <a:pt x="11526911" y="579437"/>
                  <a:pt x="11509378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333500"/>
            <a:ext cx="31750" cy="579438"/>
          </a:xfrm>
          <a:custGeom>
            <a:avLst/>
            <a:gdLst/>
            <a:ahLst/>
            <a:cxnLst/>
            <a:rect l="l" t="t" r="r" b="b"/>
            <a:pathLst>
              <a:path w="31750" h="579438">
                <a:moveTo>
                  <a:pt x="31750" y="0"/>
                </a:moveTo>
                <a:lnTo>
                  <a:pt x="31750" y="0"/>
                </a:lnTo>
                <a:lnTo>
                  <a:pt x="31750" y="579438"/>
                </a:ln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492250"/>
            <a:ext cx="112871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technology stack was utilized to handle data processing, analysis, visualization, and machine learning tasks efficiently.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850" y="2074069"/>
            <a:ext cx="5688013" cy="2870200"/>
          </a:xfrm>
          <a:custGeom>
            <a:avLst/>
            <a:gdLst/>
            <a:ahLst/>
            <a:cxnLst/>
            <a:rect l="l" t="t" r="r" b="b"/>
            <a:pathLst>
              <a:path w="5688013" h="2870200">
                <a:moveTo>
                  <a:pt x="63489" y="0"/>
                </a:moveTo>
                <a:lnTo>
                  <a:pt x="5624524" y="0"/>
                </a:lnTo>
                <a:cubicBezTo>
                  <a:pt x="5659588" y="0"/>
                  <a:pt x="5688013" y="28425"/>
                  <a:pt x="5688013" y="63489"/>
                </a:cubicBezTo>
                <a:lnTo>
                  <a:pt x="5688013" y="2806711"/>
                </a:lnTo>
                <a:cubicBezTo>
                  <a:pt x="5688013" y="2841775"/>
                  <a:pt x="5659588" y="2870200"/>
                  <a:pt x="5624524" y="2870200"/>
                </a:cubicBezTo>
                <a:lnTo>
                  <a:pt x="63489" y="2870200"/>
                </a:lnTo>
                <a:cubicBezTo>
                  <a:pt x="28425" y="2870200"/>
                  <a:pt x="0" y="2841775"/>
                  <a:pt x="0" y="2806711"/>
                </a:cubicBezTo>
                <a:lnTo>
                  <a:pt x="0" y="63489"/>
                </a:lnTo>
                <a:cubicBezTo>
                  <a:pt x="0" y="28448"/>
                  <a:pt x="28448" y="0"/>
                  <a:pt x="6348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700" y="22709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788A9C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72505" y="2405857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04546" y="93250"/>
                </a:moveTo>
                <a:cubicBezTo>
                  <a:pt x="200964" y="78879"/>
                  <a:pt x="194174" y="68042"/>
                  <a:pt x="179710" y="68042"/>
                </a:cubicBezTo>
                <a:lnTo>
                  <a:pt x="161060" y="68042"/>
                </a:lnTo>
                <a:lnTo>
                  <a:pt x="161060" y="90088"/>
                </a:lnTo>
                <a:cubicBezTo>
                  <a:pt x="161060" y="107203"/>
                  <a:pt x="146549" y="121620"/>
                  <a:pt x="129992" y="121620"/>
                </a:cubicBezTo>
                <a:lnTo>
                  <a:pt x="80321" y="121620"/>
                </a:lnTo>
                <a:cubicBezTo>
                  <a:pt x="66740" y="121620"/>
                  <a:pt x="55485" y="133248"/>
                  <a:pt x="55485" y="146875"/>
                </a:cubicBezTo>
                <a:lnTo>
                  <a:pt x="55485" y="194221"/>
                </a:lnTo>
                <a:cubicBezTo>
                  <a:pt x="55485" y="207708"/>
                  <a:pt x="67205" y="215615"/>
                  <a:pt x="80321" y="219475"/>
                </a:cubicBezTo>
                <a:cubicBezTo>
                  <a:pt x="96041" y="224079"/>
                  <a:pt x="111156" y="224917"/>
                  <a:pt x="129992" y="219475"/>
                </a:cubicBezTo>
                <a:cubicBezTo>
                  <a:pt x="142503" y="215847"/>
                  <a:pt x="154828" y="208545"/>
                  <a:pt x="154828" y="194221"/>
                </a:cubicBezTo>
                <a:lnTo>
                  <a:pt x="154828" y="175292"/>
                </a:lnTo>
                <a:lnTo>
                  <a:pt x="105203" y="175292"/>
                </a:lnTo>
                <a:lnTo>
                  <a:pt x="105203" y="168966"/>
                </a:lnTo>
                <a:lnTo>
                  <a:pt x="179710" y="168966"/>
                </a:lnTo>
                <a:cubicBezTo>
                  <a:pt x="194174" y="168966"/>
                  <a:pt x="199523" y="158874"/>
                  <a:pt x="204546" y="143759"/>
                </a:cubicBezTo>
                <a:cubicBezTo>
                  <a:pt x="209755" y="128178"/>
                  <a:pt x="209522" y="113202"/>
                  <a:pt x="204546" y="93250"/>
                </a:cubicBezTo>
                <a:close/>
                <a:moveTo>
                  <a:pt x="133108" y="206825"/>
                </a:moveTo>
                <a:cubicBezTo>
                  <a:pt x="129568" y="207073"/>
                  <a:pt x="126186" y="205325"/>
                  <a:pt x="124341" y="202294"/>
                </a:cubicBezTo>
                <a:cubicBezTo>
                  <a:pt x="122495" y="199264"/>
                  <a:pt x="122495" y="195456"/>
                  <a:pt x="124341" y="192426"/>
                </a:cubicBezTo>
                <a:cubicBezTo>
                  <a:pt x="126186" y="189395"/>
                  <a:pt x="129568" y="187647"/>
                  <a:pt x="133108" y="187896"/>
                </a:cubicBezTo>
                <a:cubicBezTo>
                  <a:pt x="136648" y="187647"/>
                  <a:pt x="140030" y="189395"/>
                  <a:pt x="141876" y="192426"/>
                </a:cubicBezTo>
                <a:cubicBezTo>
                  <a:pt x="143721" y="195456"/>
                  <a:pt x="143721" y="199264"/>
                  <a:pt x="141876" y="202294"/>
                </a:cubicBezTo>
                <a:cubicBezTo>
                  <a:pt x="140030" y="205325"/>
                  <a:pt x="136648" y="207073"/>
                  <a:pt x="133108" y="206825"/>
                </a:cubicBezTo>
                <a:close/>
                <a:moveTo>
                  <a:pt x="78042" y="115388"/>
                </a:moveTo>
                <a:lnTo>
                  <a:pt x="127713" y="115388"/>
                </a:lnTo>
                <a:cubicBezTo>
                  <a:pt x="141526" y="115388"/>
                  <a:pt x="152549" y="103994"/>
                  <a:pt x="152549" y="90134"/>
                </a:cubicBezTo>
                <a:lnTo>
                  <a:pt x="152549" y="42742"/>
                </a:lnTo>
                <a:cubicBezTo>
                  <a:pt x="152549" y="29254"/>
                  <a:pt x="141201" y="19162"/>
                  <a:pt x="127713" y="16883"/>
                </a:cubicBezTo>
                <a:cubicBezTo>
                  <a:pt x="111063" y="14139"/>
                  <a:pt x="92971" y="14278"/>
                  <a:pt x="78042" y="16929"/>
                </a:cubicBezTo>
                <a:cubicBezTo>
                  <a:pt x="57020" y="20650"/>
                  <a:pt x="53206" y="28417"/>
                  <a:pt x="53206" y="42788"/>
                </a:cubicBezTo>
                <a:lnTo>
                  <a:pt x="53206" y="61717"/>
                </a:lnTo>
                <a:lnTo>
                  <a:pt x="102924" y="61717"/>
                </a:lnTo>
                <a:lnTo>
                  <a:pt x="102924" y="68042"/>
                </a:lnTo>
                <a:lnTo>
                  <a:pt x="34556" y="68042"/>
                </a:lnTo>
                <a:cubicBezTo>
                  <a:pt x="20092" y="68042"/>
                  <a:pt x="7441" y="76740"/>
                  <a:pt x="3488" y="93250"/>
                </a:cubicBezTo>
                <a:cubicBezTo>
                  <a:pt x="-1070" y="112179"/>
                  <a:pt x="-1256" y="123992"/>
                  <a:pt x="3488" y="143759"/>
                </a:cubicBezTo>
                <a:cubicBezTo>
                  <a:pt x="7023" y="158455"/>
                  <a:pt x="15441" y="168966"/>
                  <a:pt x="29905" y="168966"/>
                </a:cubicBezTo>
                <a:lnTo>
                  <a:pt x="46974" y="168966"/>
                </a:lnTo>
                <a:lnTo>
                  <a:pt x="46974" y="146270"/>
                </a:lnTo>
                <a:cubicBezTo>
                  <a:pt x="46974" y="129853"/>
                  <a:pt x="61159" y="115388"/>
                  <a:pt x="78042" y="115388"/>
                </a:cubicBezTo>
                <a:close/>
                <a:moveTo>
                  <a:pt x="74972" y="30091"/>
                </a:moveTo>
                <a:cubicBezTo>
                  <a:pt x="80209" y="30091"/>
                  <a:pt x="84460" y="34343"/>
                  <a:pt x="84460" y="39579"/>
                </a:cubicBezTo>
                <a:cubicBezTo>
                  <a:pt x="84460" y="44815"/>
                  <a:pt x="80209" y="49067"/>
                  <a:pt x="74972" y="49067"/>
                </a:cubicBezTo>
                <a:cubicBezTo>
                  <a:pt x="69736" y="49067"/>
                  <a:pt x="65484" y="44815"/>
                  <a:pt x="65484" y="39579"/>
                </a:cubicBezTo>
                <a:cubicBezTo>
                  <a:pt x="65484" y="34343"/>
                  <a:pt x="69736" y="30091"/>
                  <a:pt x="74972" y="3009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5700" y="230267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&amp;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5700" y="2556569"/>
            <a:ext cx="212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development environment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2937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5716" y="312817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6364" y="62167"/>
                </a:moveTo>
                <a:cubicBezTo>
                  <a:pt x="133976" y="52586"/>
                  <a:pt x="129449" y="45362"/>
                  <a:pt x="119807" y="45362"/>
                </a:cubicBezTo>
                <a:lnTo>
                  <a:pt x="107373" y="45362"/>
                </a:lnTo>
                <a:lnTo>
                  <a:pt x="107373" y="60058"/>
                </a:lnTo>
                <a:cubicBezTo>
                  <a:pt x="107373" y="71469"/>
                  <a:pt x="97699" y="81080"/>
                  <a:pt x="86661" y="81080"/>
                </a:cubicBezTo>
                <a:lnTo>
                  <a:pt x="53547" y="81080"/>
                </a:lnTo>
                <a:cubicBezTo>
                  <a:pt x="44493" y="81080"/>
                  <a:pt x="36990" y="88832"/>
                  <a:pt x="36990" y="97917"/>
                </a:cubicBezTo>
                <a:lnTo>
                  <a:pt x="36990" y="129480"/>
                </a:lnTo>
                <a:cubicBezTo>
                  <a:pt x="36990" y="138472"/>
                  <a:pt x="44803" y="143743"/>
                  <a:pt x="53547" y="146317"/>
                </a:cubicBezTo>
                <a:cubicBezTo>
                  <a:pt x="64027" y="149386"/>
                  <a:pt x="74104" y="149944"/>
                  <a:pt x="86661" y="146317"/>
                </a:cubicBezTo>
                <a:cubicBezTo>
                  <a:pt x="95002" y="143898"/>
                  <a:pt x="103219" y="139030"/>
                  <a:pt x="103219" y="129480"/>
                </a:cubicBezTo>
                <a:lnTo>
                  <a:pt x="103219" y="116861"/>
                </a:lnTo>
                <a:lnTo>
                  <a:pt x="70135" y="116861"/>
                </a:lnTo>
                <a:lnTo>
                  <a:pt x="70135" y="112644"/>
                </a:lnTo>
                <a:lnTo>
                  <a:pt x="119807" y="112644"/>
                </a:lnTo>
                <a:cubicBezTo>
                  <a:pt x="129449" y="112644"/>
                  <a:pt x="133015" y="105916"/>
                  <a:pt x="136364" y="95839"/>
                </a:cubicBezTo>
                <a:cubicBezTo>
                  <a:pt x="139836" y="85452"/>
                  <a:pt x="139681" y="75468"/>
                  <a:pt x="136364" y="62167"/>
                </a:cubicBezTo>
                <a:close/>
                <a:moveTo>
                  <a:pt x="88739" y="137883"/>
                </a:moveTo>
                <a:cubicBezTo>
                  <a:pt x="86379" y="138049"/>
                  <a:pt x="84124" y="136883"/>
                  <a:pt x="82894" y="134863"/>
                </a:cubicBezTo>
                <a:cubicBezTo>
                  <a:pt x="81663" y="132842"/>
                  <a:pt x="81663" y="130304"/>
                  <a:pt x="82894" y="128284"/>
                </a:cubicBezTo>
                <a:cubicBezTo>
                  <a:pt x="84124" y="126263"/>
                  <a:pt x="86379" y="125098"/>
                  <a:pt x="88739" y="125264"/>
                </a:cubicBezTo>
                <a:cubicBezTo>
                  <a:pt x="91099" y="125098"/>
                  <a:pt x="93354" y="126263"/>
                  <a:pt x="94584" y="128284"/>
                </a:cubicBezTo>
                <a:cubicBezTo>
                  <a:pt x="95814" y="130304"/>
                  <a:pt x="95814" y="132842"/>
                  <a:pt x="94584" y="134863"/>
                </a:cubicBezTo>
                <a:cubicBezTo>
                  <a:pt x="93354" y="136883"/>
                  <a:pt x="91099" y="138049"/>
                  <a:pt x="88739" y="137883"/>
                </a:cubicBezTo>
                <a:close/>
                <a:moveTo>
                  <a:pt x="52028" y="76926"/>
                </a:moveTo>
                <a:lnTo>
                  <a:pt x="85142" y="76926"/>
                </a:lnTo>
                <a:cubicBezTo>
                  <a:pt x="94351" y="76926"/>
                  <a:pt x="101699" y="69329"/>
                  <a:pt x="101699" y="60089"/>
                </a:cubicBezTo>
                <a:lnTo>
                  <a:pt x="101699" y="28494"/>
                </a:lnTo>
                <a:cubicBezTo>
                  <a:pt x="101699" y="19503"/>
                  <a:pt x="94134" y="12774"/>
                  <a:pt x="85142" y="11255"/>
                </a:cubicBezTo>
                <a:cubicBezTo>
                  <a:pt x="74042" y="9426"/>
                  <a:pt x="61981" y="9519"/>
                  <a:pt x="52028" y="11286"/>
                </a:cubicBezTo>
                <a:cubicBezTo>
                  <a:pt x="38013" y="13767"/>
                  <a:pt x="35471" y="18945"/>
                  <a:pt x="35471" y="28525"/>
                </a:cubicBezTo>
                <a:lnTo>
                  <a:pt x="35471" y="41145"/>
                </a:lnTo>
                <a:lnTo>
                  <a:pt x="68616" y="41145"/>
                </a:lnTo>
                <a:lnTo>
                  <a:pt x="68616" y="45362"/>
                </a:lnTo>
                <a:lnTo>
                  <a:pt x="23037" y="45362"/>
                </a:lnTo>
                <a:cubicBezTo>
                  <a:pt x="13395" y="45362"/>
                  <a:pt x="4961" y="51160"/>
                  <a:pt x="2325" y="62167"/>
                </a:cubicBezTo>
                <a:cubicBezTo>
                  <a:pt x="-713" y="74786"/>
                  <a:pt x="-837" y="82662"/>
                  <a:pt x="2325" y="95839"/>
                </a:cubicBezTo>
                <a:cubicBezTo>
                  <a:pt x="4682" y="105637"/>
                  <a:pt x="10294" y="112644"/>
                  <a:pt x="19937" y="112644"/>
                </a:cubicBezTo>
                <a:lnTo>
                  <a:pt x="31316" y="112644"/>
                </a:lnTo>
                <a:lnTo>
                  <a:pt x="31316" y="97513"/>
                </a:lnTo>
                <a:cubicBezTo>
                  <a:pt x="31316" y="86568"/>
                  <a:pt x="40773" y="76926"/>
                  <a:pt x="52028" y="76926"/>
                </a:cubicBezTo>
                <a:close/>
                <a:moveTo>
                  <a:pt x="49981" y="20061"/>
                </a:moveTo>
                <a:cubicBezTo>
                  <a:pt x="53472" y="20061"/>
                  <a:pt x="56307" y="22895"/>
                  <a:pt x="56307" y="26386"/>
                </a:cubicBezTo>
                <a:cubicBezTo>
                  <a:pt x="56307" y="29877"/>
                  <a:pt x="53472" y="32711"/>
                  <a:pt x="49981" y="32711"/>
                </a:cubicBezTo>
                <a:cubicBezTo>
                  <a:pt x="46490" y="32711"/>
                  <a:pt x="43656" y="29877"/>
                  <a:pt x="43656" y="26386"/>
                </a:cubicBezTo>
                <a:cubicBezTo>
                  <a:pt x="43656" y="22895"/>
                  <a:pt x="46490" y="20061"/>
                  <a:pt x="49981" y="20061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909637" y="303292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637" y="3223420"/>
            <a:ext cx="1563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programming language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0700" y="3572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5716" y="376317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49609"/>
                </a:moveTo>
                <a:lnTo>
                  <a:pt x="79375" y="79375"/>
                </a:lnTo>
                <a:lnTo>
                  <a:pt x="119062" y="79375"/>
                </a:lnTo>
                <a:lnTo>
                  <a:pt x="119062" y="49609"/>
                </a:lnTo>
                <a:lnTo>
                  <a:pt x="79375" y="49609"/>
                </a:lnTo>
                <a:close/>
                <a:moveTo>
                  <a:pt x="59531" y="49609"/>
                </a:moveTo>
                <a:lnTo>
                  <a:pt x="19844" y="49609"/>
                </a:lnTo>
                <a:lnTo>
                  <a:pt x="19844" y="79375"/>
                </a:lnTo>
                <a:lnTo>
                  <a:pt x="59531" y="79375"/>
                </a:lnTo>
                <a:lnTo>
                  <a:pt x="59531" y="49609"/>
                </a:lnTo>
                <a:close/>
                <a:moveTo>
                  <a:pt x="0" y="99219"/>
                </a:moveTo>
                <a:lnTo>
                  <a:pt x="0" y="29766"/>
                </a:lnTo>
                <a:cubicBezTo>
                  <a:pt x="0" y="18821"/>
                  <a:pt x="8899" y="9922"/>
                  <a:pt x="19844" y="9922"/>
                </a:cubicBezTo>
                <a:lnTo>
                  <a:pt x="119062" y="9922"/>
                </a:lnTo>
                <a:cubicBezTo>
                  <a:pt x="130008" y="9922"/>
                  <a:pt x="138906" y="18821"/>
                  <a:pt x="138906" y="29766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99219"/>
                </a:lnTo>
                <a:close/>
                <a:moveTo>
                  <a:pt x="119062" y="99219"/>
                </a:moveTo>
                <a:lnTo>
                  <a:pt x="79375" y="99219"/>
                </a:lnTo>
                <a:lnTo>
                  <a:pt x="79375" y="128984"/>
                </a:lnTo>
                <a:lnTo>
                  <a:pt x="119062" y="128984"/>
                </a:lnTo>
                <a:lnTo>
                  <a:pt x="119062" y="99219"/>
                </a:lnTo>
                <a:close/>
                <a:moveTo>
                  <a:pt x="59531" y="128984"/>
                </a:moveTo>
                <a:lnTo>
                  <a:pt x="59531" y="99219"/>
                </a:lnTo>
                <a:lnTo>
                  <a:pt x="19844" y="99219"/>
                </a:lnTo>
                <a:lnTo>
                  <a:pt x="19844" y="128984"/>
                </a:lnTo>
                <a:lnTo>
                  <a:pt x="59531" y="128984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0" name="Text 18"/>
          <p:cNvSpPr/>
          <p:nvPr/>
        </p:nvSpPr>
        <p:spPr>
          <a:xfrm>
            <a:off x="909637" y="3667920"/>
            <a:ext cx="155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9637" y="3858420"/>
            <a:ext cx="1547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manipulation and analysis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0700" y="4207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5637" y="439817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4" name="Text 22"/>
          <p:cNvSpPr/>
          <p:nvPr/>
        </p:nvSpPr>
        <p:spPr>
          <a:xfrm>
            <a:off x="909637" y="430292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9637" y="4493420"/>
            <a:ext cx="1087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computing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1725" y="2074069"/>
            <a:ext cx="5688013" cy="2870200"/>
          </a:xfrm>
          <a:custGeom>
            <a:avLst/>
            <a:gdLst/>
            <a:ahLst/>
            <a:cxnLst/>
            <a:rect l="l" t="t" r="r" b="b"/>
            <a:pathLst>
              <a:path w="5688013" h="2870200">
                <a:moveTo>
                  <a:pt x="63489" y="0"/>
                </a:moveTo>
                <a:lnTo>
                  <a:pt x="5624524" y="0"/>
                </a:lnTo>
                <a:cubicBezTo>
                  <a:pt x="5659588" y="0"/>
                  <a:pt x="5688013" y="28425"/>
                  <a:pt x="5688013" y="63489"/>
                </a:cubicBezTo>
                <a:lnTo>
                  <a:pt x="5688013" y="2806711"/>
                </a:lnTo>
                <a:cubicBezTo>
                  <a:pt x="5688013" y="2841775"/>
                  <a:pt x="5659588" y="2870200"/>
                  <a:pt x="5624524" y="2870200"/>
                </a:cubicBezTo>
                <a:lnTo>
                  <a:pt x="63489" y="2870200"/>
                </a:lnTo>
                <a:cubicBezTo>
                  <a:pt x="28425" y="2870200"/>
                  <a:pt x="0" y="2841775"/>
                  <a:pt x="0" y="2806711"/>
                </a:cubicBezTo>
                <a:lnTo>
                  <a:pt x="0" y="63489"/>
                </a:lnTo>
                <a:cubicBezTo>
                  <a:pt x="0" y="28448"/>
                  <a:pt x="28448" y="0"/>
                  <a:pt x="6348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8575" y="22709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6515497" y="240585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4883" y="14883"/>
                </a:moveTo>
                <a:cubicBezTo>
                  <a:pt x="23115" y="14883"/>
                  <a:pt x="29766" y="21534"/>
                  <a:pt x="29766" y="29766"/>
                </a:cubicBez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223242" y="193477"/>
                </a:lnTo>
                <a:cubicBezTo>
                  <a:pt x="231474" y="193477"/>
                  <a:pt x="238125" y="200127"/>
                  <a:pt x="238125" y="208359"/>
                </a:cubicBezTo>
                <a:cubicBezTo>
                  <a:pt x="238125" y="216591"/>
                  <a:pt x="231474" y="223242"/>
                  <a:pt x="223242" y="223242"/>
                </a:cubicBezTo>
                <a:lnTo>
                  <a:pt x="37207" y="223242"/>
                </a:lnTo>
                <a:cubicBezTo>
                  <a:pt x="16650" y="223242"/>
                  <a:pt x="0" y="206592"/>
                  <a:pt x="0" y="186035"/>
                </a:cubicBezTo>
                <a:lnTo>
                  <a:pt x="0" y="29766"/>
                </a:lnTo>
                <a:cubicBezTo>
                  <a:pt x="0" y="21534"/>
                  <a:pt x="6651" y="14883"/>
                  <a:pt x="14883" y="14883"/>
                </a:cubicBezTo>
                <a:close/>
                <a:moveTo>
                  <a:pt x="59531" y="44648"/>
                </a:moveTo>
                <a:cubicBezTo>
                  <a:pt x="59531" y="36416"/>
                  <a:pt x="66182" y="29766"/>
                  <a:pt x="74414" y="29766"/>
                </a:cubicBezTo>
                <a:lnTo>
                  <a:pt x="163711" y="29766"/>
                </a:lnTo>
                <a:cubicBezTo>
                  <a:pt x="171943" y="29766"/>
                  <a:pt x="178594" y="36416"/>
                  <a:pt x="178594" y="44648"/>
                </a:cubicBezTo>
                <a:cubicBezTo>
                  <a:pt x="178594" y="52880"/>
                  <a:pt x="171943" y="59531"/>
                  <a:pt x="163711" y="59531"/>
                </a:cubicBezTo>
                <a:lnTo>
                  <a:pt x="74414" y="59531"/>
                </a:lnTo>
                <a:cubicBezTo>
                  <a:pt x="66182" y="59531"/>
                  <a:pt x="59531" y="52880"/>
                  <a:pt x="59531" y="44648"/>
                </a:cubicBezTo>
                <a:close/>
                <a:moveTo>
                  <a:pt x="74414" y="81855"/>
                </a:moveTo>
                <a:lnTo>
                  <a:pt x="133945" y="81855"/>
                </a:lnTo>
                <a:cubicBezTo>
                  <a:pt x="142177" y="81855"/>
                  <a:pt x="148828" y="88506"/>
                  <a:pt x="148828" y="96738"/>
                </a:cubicBezTo>
                <a:cubicBezTo>
                  <a:pt x="148828" y="104970"/>
                  <a:pt x="142177" y="111621"/>
                  <a:pt x="133945" y="111621"/>
                </a:cubicBezTo>
                <a:lnTo>
                  <a:pt x="74414" y="111621"/>
                </a:lnTo>
                <a:cubicBezTo>
                  <a:pt x="66182" y="111621"/>
                  <a:pt x="59531" y="104970"/>
                  <a:pt x="59531" y="96738"/>
                </a:cubicBezTo>
                <a:cubicBezTo>
                  <a:pt x="59531" y="88506"/>
                  <a:pt x="66182" y="81855"/>
                  <a:pt x="74414" y="81855"/>
                </a:cubicBezTo>
                <a:close/>
                <a:moveTo>
                  <a:pt x="74414" y="133945"/>
                </a:moveTo>
                <a:lnTo>
                  <a:pt x="193477" y="133945"/>
                </a:lnTo>
                <a:cubicBezTo>
                  <a:pt x="201709" y="133945"/>
                  <a:pt x="208359" y="140596"/>
                  <a:pt x="208359" y="148828"/>
                </a:cubicBezTo>
                <a:cubicBezTo>
                  <a:pt x="208359" y="157060"/>
                  <a:pt x="201709" y="163711"/>
                  <a:pt x="193477" y="163711"/>
                </a:cubicBezTo>
                <a:lnTo>
                  <a:pt x="74414" y="163711"/>
                </a:lnTo>
                <a:cubicBezTo>
                  <a:pt x="66182" y="163711"/>
                  <a:pt x="59531" y="157060"/>
                  <a:pt x="59531" y="148828"/>
                </a:cubicBezTo>
                <a:cubicBezTo>
                  <a:pt x="59531" y="140596"/>
                  <a:pt x="66182" y="133945"/>
                  <a:pt x="74414" y="13394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9" name="Text 27"/>
          <p:cNvSpPr/>
          <p:nvPr/>
        </p:nvSpPr>
        <p:spPr>
          <a:xfrm>
            <a:off x="7013575" y="2302670"/>
            <a:ext cx="1516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13575" y="2556569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visualization libraries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8575" y="2937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93669" y="312817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3" name="Text 31"/>
          <p:cNvSpPr/>
          <p:nvPr/>
        </p:nvSpPr>
        <p:spPr>
          <a:xfrm>
            <a:off x="6767513" y="303292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67513" y="3223420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and interactive plots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8575" y="3572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93669" y="376317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74414" y="29766"/>
                </a:moveTo>
                <a:cubicBezTo>
                  <a:pt x="76491" y="29766"/>
                  <a:pt x="78476" y="30634"/>
                  <a:pt x="79902" y="32184"/>
                </a:cubicBezTo>
                <a:lnTo>
                  <a:pt x="101947" y="56214"/>
                </a:lnTo>
                <a:lnTo>
                  <a:pt x="116272" y="41858"/>
                </a:lnTo>
                <a:cubicBezTo>
                  <a:pt x="119187" y="38943"/>
                  <a:pt x="123899" y="38943"/>
                  <a:pt x="126783" y="41858"/>
                </a:cubicBezTo>
                <a:lnTo>
                  <a:pt x="146627" y="61702"/>
                </a:lnTo>
                <a:cubicBezTo>
                  <a:pt x="148022" y="63097"/>
                  <a:pt x="148797" y="64988"/>
                  <a:pt x="148797" y="66973"/>
                </a:cubicBezTo>
                <a:lnTo>
                  <a:pt x="148797" y="101699"/>
                </a:lnTo>
                <a:cubicBezTo>
                  <a:pt x="148797" y="105823"/>
                  <a:pt x="145479" y="109141"/>
                  <a:pt x="141356" y="109141"/>
                </a:cubicBezTo>
                <a:lnTo>
                  <a:pt x="47098" y="109141"/>
                </a:lnTo>
                <a:cubicBezTo>
                  <a:pt x="42974" y="109141"/>
                  <a:pt x="39656" y="105823"/>
                  <a:pt x="39656" y="101699"/>
                </a:cubicBezTo>
                <a:lnTo>
                  <a:pt x="39656" y="66973"/>
                </a:lnTo>
                <a:cubicBezTo>
                  <a:pt x="39656" y="65112"/>
                  <a:pt x="40370" y="63314"/>
                  <a:pt x="41610" y="61950"/>
                </a:cubicBezTo>
                <a:lnTo>
                  <a:pt x="68895" y="32184"/>
                </a:lnTo>
                <a:cubicBezTo>
                  <a:pt x="70290" y="30634"/>
                  <a:pt x="72306" y="29766"/>
                  <a:pt x="74383" y="2976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7" name="Text 35"/>
          <p:cNvSpPr/>
          <p:nvPr/>
        </p:nvSpPr>
        <p:spPr>
          <a:xfrm>
            <a:off x="6767513" y="3667920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Seaborn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7513" y="3858420"/>
            <a:ext cx="135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data visualization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3850" y="5115720"/>
            <a:ext cx="5688013" cy="2235200"/>
          </a:xfrm>
          <a:custGeom>
            <a:avLst/>
            <a:gdLst/>
            <a:ahLst/>
            <a:cxnLst/>
            <a:rect l="l" t="t" r="r" b="b"/>
            <a:pathLst>
              <a:path w="5688013" h="2235200">
                <a:moveTo>
                  <a:pt x="63502" y="0"/>
                </a:moveTo>
                <a:lnTo>
                  <a:pt x="5624510" y="0"/>
                </a:lnTo>
                <a:cubicBezTo>
                  <a:pt x="5659582" y="0"/>
                  <a:pt x="5688013" y="28431"/>
                  <a:pt x="5688013" y="63502"/>
                </a:cubicBezTo>
                <a:lnTo>
                  <a:pt x="5688013" y="2171698"/>
                </a:lnTo>
                <a:cubicBezTo>
                  <a:pt x="5688013" y="2206769"/>
                  <a:pt x="5659582" y="2235200"/>
                  <a:pt x="5624510" y="2235200"/>
                </a:cubicBezTo>
                <a:lnTo>
                  <a:pt x="63502" y="2235200"/>
                </a:lnTo>
                <a:cubicBezTo>
                  <a:pt x="28431" y="2235200"/>
                  <a:pt x="0" y="2206769"/>
                  <a:pt x="0" y="21716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0700" y="53125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41" name="Shape 39"/>
          <p:cNvSpPr/>
          <p:nvPr/>
        </p:nvSpPr>
        <p:spPr>
          <a:xfrm>
            <a:off x="657622" y="544750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1155700" y="5344321"/>
            <a:ext cx="174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55700" y="559822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framework and algorithms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0700" y="5979321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5950" y="6169821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6" name="Text 44"/>
          <p:cNvSpPr/>
          <p:nvPr/>
        </p:nvSpPr>
        <p:spPr>
          <a:xfrm>
            <a:off x="909637" y="6074571"/>
            <a:ext cx="396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9637" y="6265071"/>
            <a:ext cx="395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ML library with regression, classification, and preprocessing tools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81725" y="5115720"/>
            <a:ext cx="5688013" cy="2235200"/>
          </a:xfrm>
          <a:custGeom>
            <a:avLst/>
            <a:gdLst/>
            <a:ahLst/>
            <a:cxnLst/>
            <a:rect l="l" t="t" r="r" b="b"/>
            <a:pathLst>
              <a:path w="5688013" h="2235200">
                <a:moveTo>
                  <a:pt x="63502" y="0"/>
                </a:moveTo>
                <a:lnTo>
                  <a:pt x="5624510" y="0"/>
                </a:lnTo>
                <a:cubicBezTo>
                  <a:pt x="5659582" y="0"/>
                  <a:pt x="5688013" y="28431"/>
                  <a:pt x="5688013" y="63502"/>
                </a:cubicBezTo>
                <a:lnTo>
                  <a:pt x="5688013" y="2171698"/>
                </a:lnTo>
                <a:cubicBezTo>
                  <a:pt x="5688013" y="2206769"/>
                  <a:pt x="5659582" y="2235200"/>
                  <a:pt x="5624510" y="2235200"/>
                </a:cubicBezTo>
                <a:lnTo>
                  <a:pt x="63502" y="2235200"/>
                </a:lnTo>
                <a:cubicBezTo>
                  <a:pt x="28431" y="2235200"/>
                  <a:pt x="0" y="2206769"/>
                  <a:pt x="0" y="21716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78575" y="531257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D8A252"/>
              </a:gs>
            </a:gsLst>
            <a:lin ang="270000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6515497" y="544750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5905" y="92878"/>
                </a:moveTo>
                <a:lnTo>
                  <a:pt x="40277" y="107249"/>
                </a:lnTo>
                <a:cubicBezTo>
                  <a:pt x="43067" y="110040"/>
                  <a:pt x="46834" y="111621"/>
                  <a:pt x="50788" y="111621"/>
                </a:cubicBezTo>
                <a:lnTo>
                  <a:pt x="60787" y="111621"/>
                </a:lnTo>
                <a:cubicBezTo>
                  <a:pt x="64740" y="111621"/>
                  <a:pt x="68507" y="113202"/>
                  <a:pt x="71298" y="115993"/>
                </a:cubicBezTo>
                <a:lnTo>
                  <a:pt x="84925" y="129620"/>
                </a:lnTo>
                <a:cubicBezTo>
                  <a:pt x="87716" y="132411"/>
                  <a:pt x="89297" y="136178"/>
                  <a:pt x="89297" y="140131"/>
                </a:cubicBezTo>
                <a:lnTo>
                  <a:pt x="89297" y="157572"/>
                </a:lnTo>
                <a:cubicBezTo>
                  <a:pt x="89297" y="161525"/>
                  <a:pt x="90878" y="165292"/>
                  <a:pt x="93669" y="168083"/>
                </a:cubicBezTo>
                <a:lnTo>
                  <a:pt x="99854" y="174268"/>
                </a:lnTo>
                <a:cubicBezTo>
                  <a:pt x="102645" y="177059"/>
                  <a:pt x="104226" y="180826"/>
                  <a:pt x="104226" y="184779"/>
                </a:cubicBezTo>
                <a:lnTo>
                  <a:pt x="104226" y="193477"/>
                </a:lnTo>
                <a:cubicBezTo>
                  <a:pt x="104226" y="201709"/>
                  <a:pt x="110877" y="208359"/>
                  <a:pt x="119109" y="208359"/>
                </a:cubicBezTo>
                <a:cubicBezTo>
                  <a:pt x="127341" y="208359"/>
                  <a:pt x="133992" y="201709"/>
                  <a:pt x="133992" y="193477"/>
                </a:cubicBezTo>
                <a:lnTo>
                  <a:pt x="133992" y="192221"/>
                </a:lnTo>
                <a:cubicBezTo>
                  <a:pt x="133992" y="188268"/>
                  <a:pt x="135573" y="184500"/>
                  <a:pt x="138364" y="181710"/>
                </a:cubicBezTo>
                <a:lnTo>
                  <a:pt x="159432" y="160641"/>
                </a:lnTo>
                <a:cubicBezTo>
                  <a:pt x="162223" y="157851"/>
                  <a:pt x="163804" y="154084"/>
                  <a:pt x="163804" y="150130"/>
                </a:cubicBezTo>
                <a:lnTo>
                  <a:pt x="163804" y="133992"/>
                </a:lnTo>
                <a:cubicBezTo>
                  <a:pt x="163804" y="125760"/>
                  <a:pt x="157153" y="119109"/>
                  <a:pt x="148921" y="119109"/>
                </a:cubicBezTo>
                <a:lnTo>
                  <a:pt x="110458" y="119109"/>
                </a:lnTo>
                <a:cubicBezTo>
                  <a:pt x="106505" y="119109"/>
                  <a:pt x="102738" y="117528"/>
                  <a:pt x="99947" y="114737"/>
                </a:cubicBezTo>
                <a:lnTo>
                  <a:pt x="92506" y="107296"/>
                </a:lnTo>
                <a:cubicBezTo>
                  <a:pt x="90553" y="105342"/>
                  <a:pt x="89436" y="102645"/>
                  <a:pt x="89436" y="99854"/>
                </a:cubicBezTo>
                <a:cubicBezTo>
                  <a:pt x="89436" y="94041"/>
                  <a:pt x="94134" y="89343"/>
                  <a:pt x="99947" y="89343"/>
                </a:cubicBezTo>
                <a:lnTo>
                  <a:pt x="116086" y="89343"/>
                </a:lnTo>
                <a:cubicBezTo>
                  <a:pt x="121900" y="89343"/>
                  <a:pt x="126597" y="84646"/>
                  <a:pt x="126597" y="78832"/>
                </a:cubicBezTo>
                <a:cubicBezTo>
                  <a:pt x="126597" y="76042"/>
                  <a:pt x="125481" y="73344"/>
                  <a:pt x="123527" y="71391"/>
                </a:cubicBezTo>
                <a:lnTo>
                  <a:pt x="114365" y="62229"/>
                </a:lnTo>
                <a:cubicBezTo>
                  <a:pt x="112551" y="60461"/>
                  <a:pt x="111621" y="58182"/>
                  <a:pt x="111621" y="55811"/>
                </a:cubicBezTo>
                <a:cubicBezTo>
                  <a:pt x="111621" y="53439"/>
                  <a:pt x="112551" y="51160"/>
                  <a:pt x="114272" y="49439"/>
                </a:cubicBezTo>
                <a:lnTo>
                  <a:pt x="122318" y="41393"/>
                </a:lnTo>
                <a:cubicBezTo>
                  <a:pt x="125016" y="38695"/>
                  <a:pt x="126550" y="35021"/>
                  <a:pt x="126550" y="31207"/>
                </a:cubicBezTo>
                <a:cubicBezTo>
                  <a:pt x="126550" y="27859"/>
                  <a:pt x="125434" y="24836"/>
                  <a:pt x="123574" y="22417"/>
                </a:cubicBezTo>
                <a:cubicBezTo>
                  <a:pt x="122086" y="22371"/>
                  <a:pt x="120597" y="22324"/>
                  <a:pt x="119109" y="22324"/>
                </a:cubicBezTo>
                <a:cubicBezTo>
                  <a:pt x="74740" y="22324"/>
                  <a:pt x="37393" y="52183"/>
                  <a:pt x="25952" y="92878"/>
                </a:cubicBezTo>
                <a:close/>
                <a:moveTo>
                  <a:pt x="215801" y="119062"/>
                </a:moveTo>
                <a:cubicBezTo>
                  <a:pt x="215801" y="102970"/>
                  <a:pt x="211894" y="87809"/>
                  <a:pt x="204918" y="74507"/>
                </a:cubicBezTo>
                <a:cubicBezTo>
                  <a:pt x="201941" y="74926"/>
                  <a:pt x="199011" y="76321"/>
                  <a:pt x="196593" y="78739"/>
                </a:cubicBezTo>
                <a:lnTo>
                  <a:pt x="190360" y="84972"/>
                </a:lnTo>
                <a:cubicBezTo>
                  <a:pt x="187570" y="87762"/>
                  <a:pt x="185989" y="91529"/>
                  <a:pt x="185989" y="95483"/>
                </a:cubicBezTo>
                <a:lnTo>
                  <a:pt x="185989" y="111621"/>
                </a:lnTo>
                <a:cubicBezTo>
                  <a:pt x="185989" y="119853"/>
                  <a:pt x="192639" y="126504"/>
                  <a:pt x="200871" y="126504"/>
                </a:cubicBezTo>
                <a:lnTo>
                  <a:pt x="212080" y="126504"/>
                </a:lnTo>
                <a:cubicBezTo>
                  <a:pt x="213243" y="126504"/>
                  <a:pt x="214406" y="126364"/>
                  <a:pt x="215475" y="126132"/>
                </a:cubicBezTo>
                <a:cubicBezTo>
                  <a:pt x="215661" y="123806"/>
                  <a:pt x="215708" y="121434"/>
                  <a:pt x="215708" y="119062"/>
                </a:cubicBezTo>
                <a:close/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51" name="Text 49"/>
          <p:cNvSpPr/>
          <p:nvPr/>
        </p:nvSpPr>
        <p:spPr>
          <a:xfrm>
            <a:off x="7013575" y="5344321"/>
            <a:ext cx="1960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Geospatial Processing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13575" y="5598220"/>
            <a:ext cx="192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data handling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8575" y="5979321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93669" y="616982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14883"/>
                </a:moveTo>
                <a:cubicBezTo>
                  <a:pt x="158750" y="11441"/>
                  <a:pt x="156983" y="8248"/>
                  <a:pt x="154037" y="6449"/>
                </a:cubicBezTo>
                <a:cubicBezTo>
                  <a:pt x="151092" y="4651"/>
                  <a:pt x="147464" y="4465"/>
                  <a:pt x="144394" y="6015"/>
                </a:cubicBezTo>
                <a:lnTo>
                  <a:pt x="108365" y="24030"/>
                </a:lnTo>
                <a:lnTo>
                  <a:pt x="52741" y="5457"/>
                </a:lnTo>
                <a:cubicBezTo>
                  <a:pt x="50229" y="4620"/>
                  <a:pt x="47532" y="4806"/>
                  <a:pt x="45176" y="5984"/>
                </a:cubicBezTo>
                <a:lnTo>
                  <a:pt x="5488" y="25828"/>
                </a:lnTo>
                <a:cubicBezTo>
                  <a:pt x="2108" y="27533"/>
                  <a:pt x="0" y="30975"/>
                  <a:pt x="0" y="34727"/>
                </a:cubicBezTo>
                <a:lnTo>
                  <a:pt x="0" y="143867"/>
                </a:lnTo>
                <a:cubicBezTo>
                  <a:pt x="0" y="147309"/>
                  <a:pt x="1767" y="150502"/>
                  <a:pt x="4713" y="152301"/>
                </a:cubicBezTo>
                <a:cubicBezTo>
                  <a:pt x="7658" y="154099"/>
                  <a:pt x="11286" y="154285"/>
                  <a:pt x="14356" y="152735"/>
                </a:cubicBezTo>
                <a:lnTo>
                  <a:pt x="50354" y="134720"/>
                </a:lnTo>
                <a:lnTo>
                  <a:pt x="105978" y="153262"/>
                </a:lnTo>
                <a:cubicBezTo>
                  <a:pt x="108490" y="154099"/>
                  <a:pt x="111187" y="153913"/>
                  <a:pt x="113543" y="152735"/>
                </a:cubicBezTo>
                <a:lnTo>
                  <a:pt x="153231" y="132891"/>
                </a:lnTo>
                <a:cubicBezTo>
                  <a:pt x="156580" y="131217"/>
                  <a:pt x="158719" y="127775"/>
                  <a:pt x="158719" y="124023"/>
                </a:cubicBezTo>
                <a:lnTo>
                  <a:pt x="158719" y="14883"/>
                </a:lnTo>
                <a:close/>
                <a:moveTo>
                  <a:pt x="59531" y="116861"/>
                </a:moveTo>
                <a:lnTo>
                  <a:pt x="59531" y="28649"/>
                </a:lnTo>
                <a:lnTo>
                  <a:pt x="99219" y="41889"/>
                </a:lnTo>
                <a:lnTo>
                  <a:pt x="99219" y="130101"/>
                </a:lnTo>
                <a:lnTo>
                  <a:pt x="59531" y="116861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55" name="Text 53"/>
          <p:cNvSpPr/>
          <p:nvPr/>
        </p:nvSpPr>
        <p:spPr>
          <a:xfrm>
            <a:off x="6767513" y="6074571"/>
            <a:ext cx="146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GeoPandas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767513" y="6265071"/>
            <a:ext cx="145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Geospatial data manipulation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78575" y="6614321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93669" y="680482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0"/>
                </a:moveTo>
                <a:cubicBezTo>
                  <a:pt x="27192" y="0"/>
                  <a:pt x="33610" y="4000"/>
                  <a:pt x="37021" y="9922"/>
                </a:cubicBezTo>
                <a:lnTo>
                  <a:pt x="121698" y="9922"/>
                </a:lnTo>
                <a:cubicBezTo>
                  <a:pt x="125140" y="4000"/>
                  <a:pt x="131527" y="0"/>
                  <a:pt x="138875" y="0"/>
                </a:cubicBezTo>
                <a:cubicBezTo>
                  <a:pt x="149820" y="0"/>
                  <a:pt x="158719" y="8899"/>
                  <a:pt x="158719" y="19844"/>
                </a:cubicBezTo>
                <a:cubicBezTo>
                  <a:pt x="158719" y="30386"/>
                  <a:pt x="150502" y="39005"/>
                  <a:pt x="140115" y="39656"/>
                </a:cubicBezTo>
                <a:lnTo>
                  <a:pt x="139464" y="40556"/>
                </a:lnTo>
                <a:lnTo>
                  <a:pt x="117295" y="71282"/>
                </a:lnTo>
                <a:cubicBezTo>
                  <a:pt x="118411" y="73763"/>
                  <a:pt x="119031" y="76522"/>
                  <a:pt x="119031" y="79406"/>
                </a:cubicBezTo>
                <a:cubicBezTo>
                  <a:pt x="119031" y="82290"/>
                  <a:pt x="118411" y="85049"/>
                  <a:pt x="117295" y="87530"/>
                </a:cubicBezTo>
                <a:lnTo>
                  <a:pt x="117977" y="88491"/>
                </a:lnTo>
                <a:lnTo>
                  <a:pt x="139464" y="118256"/>
                </a:lnTo>
                <a:lnTo>
                  <a:pt x="140115" y="119156"/>
                </a:lnTo>
                <a:cubicBezTo>
                  <a:pt x="150502" y="119807"/>
                  <a:pt x="158719" y="128426"/>
                  <a:pt x="158719" y="138968"/>
                </a:cubicBezTo>
                <a:cubicBezTo>
                  <a:pt x="158719" y="149913"/>
                  <a:pt x="149820" y="158812"/>
                  <a:pt x="138875" y="158812"/>
                </a:cubicBezTo>
                <a:cubicBezTo>
                  <a:pt x="131527" y="158812"/>
                  <a:pt x="125109" y="154812"/>
                  <a:pt x="121698" y="148890"/>
                </a:cubicBezTo>
                <a:lnTo>
                  <a:pt x="37021" y="148890"/>
                </a:lnTo>
                <a:cubicBezTo>
                  <a:pt x="33579" y="154812"/>
                  <a:pt x="27192" y="158812"/>
                  <a:pt x="19844" y="158812"/>
                </a:cubicBezTo>
                <a:cubicBezTo>
                  <a:pt x="8899" y="158812"/>
                  <a:pt x="0" y="149913"/>
                  <a:pt x="0" y="138968"/>
                </a:cubicBezTo>
                <a:cubicBezTo>
                  <a:pt x="0" y="131620"/>
                  <a:pt x="4000" y="125202"/>
                  <a:pt x="9922" y="121791"/>
                </a:cubicBezTo>
                <a:lnTo>
                  <a:pt x="9922" y="37114"/>
                </a:lnTo>
                <a:cubicBezTo>
                  <a:pt x="4000" y="33610"/>
                  <a:pt x="0" y="27192"/>
                  <a:pt x="0" y="19844"/>
                </a:cubicBezTo>
                <a:cubicBezTo>
                  <a:pt x="0" y="8899"/>
                  <a:pt x="8899" y="0"/>
                  <a:pt x="19844" y="0"/>
                </a:cubicBezTo>
                <a:close/>
                <a:moveTo>
                  <a:pt x="122225" y="128178"/>
                </a:moveTo>
                <a:lnTo>
                  <a:pt x="101916" y="100087"/>
                </a:lnTo>
                <a:lnTo>
                  <a:pt x="101234" y="99126"/>
                </a:lnTo>
                <a:cubicBezTo>
                  <a:pt x="100583" y="99188"/>
                  <a:pt x="99901" y="99219"/>
                  <a:pt x="99219" y="99219"/>
                </a:cubicBezTo>
                <a:cubicBezTo>
                  <a:pt x="88274" y="99219"/>
                  <a:pt x="79375" y="90320"/>
                  <a:pt x="79375" y="79375"/>
                </a:cubicBezTo>
                <a:cubicBezTo>
                  <a:pt x="79375" y="68430"/>
                  <a:pt x="88274" y="59531"/>
                  <a:pt x="99219" y="59531"/>
                </a:cubicBezTo>
                <a:cubicBezTo>
                  <a:pt x="99901" y="59531"/>
                  <a:pt x="100583" y="59562"/>
                  <a:pt x="101234" y="59624"/>
                </a:cubicBezTo>
                <a:lnTo>
                  <a:pt x="122225" y="30572"/>
                </a:lnTo>
                <a:cubicBezTo>
                  <a:pt x="122039" y="30293"/>
                  <a:pt x="121884" y="30045"/>
                  <a:pt x="121729" y="29766"/>
                </a:cubicBezTo>
                <a:lnTo>
                  <a:pt x="37021" y="29766"/>
                </a:lnTo>
                <a:cubicBezTo>
                  <a:pt x="35285" y="32773"/>
                  <a:pt x="32773" y="35285"/>
                  <a:pt x="29766" y="37021"/>
                </a:cubicBezTo>
                <a:lnTo>
                  <a:pt x="29766" y="121698"/>
                </a:lnTo>
                <a:cubicBezTo>
                  <a:pt x="32773" y="123434"/>
                  <a:pt x="35285" y="125946"/>
                  <a:pt x="37021" y="128953"/>
                </a:cubicBezTo>
                <a:lnTo>
                  <a:pt x="121698" y="128953"/>
                </a:lnTo>
                <a:cubicBezTo>
                  <a:pt x="121853" y="128674"/>
                  <a:pt x="122039" y="128395"/>
                  <a:pt x="122194" y="128147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59" name="Text 57"/>
          <p:cNvSpPr/>
          <p:nvPr/>
        </p:nvSpPr>
        <p:spPr>
          <a:xfrm>
            <a:off x="6767513" y="6709571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Shapely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67513" y="6900071"/>
            <a:ext cx="109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Geometric operations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5057" y="328625"/>
            <a:ext cx="1059817" cy="328625"/>
          </a:xfrm>
          <a:custGeom>
            <a:avLst/>
            <a:gdLst/>
            <a:ahLst/>
            <a:cxnLst/>
            <a:rect l="l" t="t" r="r" b="b"/>
            <a:pathLst>
              <a:path w="1059817" h="328625">
                <a:moveTo>
                  <a:pt x="0" y="0"/>
                </a:moveTo>
                <a:lnTo>
                  <a:pt x="1059817" y="0"/>
                </a:lnTo>
                <a:lnTo>
                  <a:pt x="1059817" y="328625"/>
                </a:lnTo>
                <a:lnTo>
                  <a:pt x="0" y="328625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5057" y="328625"/>
            <a:ext cx="32863" cy="328625"/>
          </a:xfrm>
          <a:custGeom>
            <a:avLst/>
            <a:gdLst/>
            <a:ahLst/>
            <a:cxnLst/>
            <a:rect l="l" t="t" r="r" b="b"/>
            <a:pathLst>
              <a:path w="32863" h="328625">
                <a:moveTo>
                  <a:pt x="0" y="0"/>
                </a:moveTo>
                <a:lnTo>
                  <a:pt x="32863" y="0"/>
                </a:lnTo>
                <a:lnTo>
                  <a:pt x="32863" y="328625"/>
                </a:lnTo>
                <a:lnTo>
                  <a:pt x="0" y="328625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92938" y="394350"/>
            <a:ext cx="846210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spc="52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8625" y="788701"/>
            <a:ext cx="11731925" cy="39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0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Loading &amp; Initial Inspection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057" y="1380226"/>
            <a:ext cx="11518318" cy="599741"/>
          </a:xfrm>
          <a:custGeom>
            <a:avLst/>
            <a:gdLst/>
            <a:ahLst/>
            <a:cxnLst/>
            <a:rect l="l" t="t" r="r" b="b"/>
            <a:pathLst>
              <a:path w="11518318" h="599741">
                <a:moveTo>
                  <a:pt x="32860" y="0"/>
                </a:moveTo>
                <a:lnTo>
                  <a:pt x="11485458" y="0"/>
                </a:lnTo>
                <a:cubicBezTo>
                  <a:pt x="11503606" y="0"/>
                  <a:pt x="11518318" y="14712"/>
                  <a:pt x="11518318" y="32860"/>
                </a:cubicBezTo>
                <a:lnTo>
                  <a:pt x="11518318" y="566881"/>
                </a:lnTo>
                <a:cubicBezTo>
                  <a:pt x="11518318" y="585029"/>
                  <a:pt x="11503606" y="599741"/>
                  <a:pt x="11485458" y="599741"/>
                </a:cubicBezTo>
                <a:lnTo>
                  <a:pt x="32860" y="599741"/>
                </a:lnTo>
                <a:cubicBezTo>
                  <a:pt x="14712" y="599741"/>
                  <a:pt x="0" y="585029"/>
                  <a:pt x="0" y="566881"/>
                </a:cubicBezTo>
                <a:lnTo>
                  <a:pt x="0" y="32860"/>
                </a:lnTo>
                <a:cubicBezTo>
                  <a:pt x="0" y="14724"/>
                  <a:pt x="14724" y="0"/>
                  <a:pt x="3286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5057" y="1380226"/>
            <a:ext cx="32863" cy="599741"/>
          </a:xfrm>
          <a:custGeom>
            <a:avLst/>
            <a:gdLst/>
            <a:ahLst/>
            <a:cxnLst/>
            <a:rect l="l" t="t" r="r" b="b"/>
            <a:pathLst>
              <a:path w="32863" h="599741">
                <a:moveTo>
                  <a:pt x="32863" y="0"/>
                </a:moveTo>
                <a:lnTo>
                  <a:pt x="32863" y="0"/>
                </a:lnTo>
                <a:lnTo>
                  <a:pt x="32863" y="599741"/>
                </a:lnTo>
                <a:lnTo>
                  <a:pt x="32863" y="599741"/>
                </a:lnTo>
                <a:cubicBezTo>
                  <a:pt x="14713" y="599741"/>
                  <a:pt x="0" y="585028"/>
                  <a:pt x="0" y="566879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25801" y="1544539"/>
            <a:ext cx="11255418" cy="27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initial data exploration phase involved loading the dataset and conducting a comprehensive assessment of its structure and quality.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5198" y="2146745"/>
            <a:ext cx="5673716" cy="1623409"/>
          </a:xfrm>
          <a:custGeom>
            <a:avLst/>
            <a:gdLst/>
            <a:ahLst/>
            <a:cxnLst/>
            <a:rect l="l" t="t" r="r" b="b"/>
            <a:pathLst>
              <a:path w="5673716" h="1623409">
                <a:moveTo>
                  <a:pt x="65732" y="0"/>
                </a:moveTo>
                <a:lnTo>
                  <a:pt x="5607985" y="0"/>
                </a:lnTo>
                <a:cubicBezTo>
                  <a:pt x="5644287" y="0"/>
                  <a:pt x="5673716" y="29429"/>
                  <a:pt x="5673716" y="65732"/>
                </a:cubicBezTo>
                <a:lnTo>
                  <a:pt x="5673716" y="1557677"/>
                </a:lnTo>
                <a:cubicBezTo>
                  <a:pt x="5673716" y="1593980"/>
                  <a:pt x="5644287" y="1623409"/>
                  <a:pt x="5607985" y="1623409"/>
                </a:cubicBezTo>
                <a:lnTo>
                  <a:pt x="65732" y="1623409"/>
                </a:lnTo>
                <a:cubicBezTo>
                  <a:pt x="29429" y="1623409"/>
                  <a:pt x="0" y="1593980"/>
                  <a:pt x="0" y="1557677"/>
                </a:cubicBezTo>
                <a:lnTo>
                  <a:pt x="0" y="65732"/>
                </a:lnTo>
                <a:cubicBezTo>
                  <a:pt x="0" y="29453"/>
                  <a:pt x="29453" y="0"/>
                  <a:pt x="6573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083" y="2317631"/>
            <a:ext cx="460075" cy="460075"/>
          </a:xfrm>
          <a:custGeom>
            <a:avLst/>
            <a:gdLst/>
            <a:ahLst/>
            <a:cxnLst/>
            <a:rect l="l" t="t" r="r" b="b"/>
            <a:pathLst>
              <a:path w="460075" h="460075">
                <a:moveTo>
                  <a:pt x="230038" y="0"/>
                </a:moveTo>
                <a:lnTo>
                  <a:pt x="230038" y="0"/>
                </a:lnTo>
                <a:cubicBezTo>
                  <a:pt x="357084" y="0"/>
                  <a:pt x="460075" y="102991"/>
                  <a:pt x="460075" y="230038"/>
                </a:cubicBezTo>
                <a:lnTo>
                  <a:pt x="460075" y="230038"/>
                </a:lnTo>
                <a:cubicBezTo>
                  <a:pt x="460075" y="357084"/>
                  <a:pt x="357084" y="460075"/>
                  <a:pt x="230038" y="460075"/>
                </a:cubicBezTo>
                <a:lnTo>
                  <a:pt x="230038" y="460075"/>
                </a:lnTo>
                <a:cubicBezTo>
                  <a:pt x="102991" y="460075"/>
                  <a:pt x="0" y="357084"/>
                  <a:pt x="0" y="230038"/>
                </a:cubicBezTo>
                <a:lnTo>
                  <a:pt x="0" y="230038"/>
                </a:lnTo>
                <a:cubicBezTo>
                  <a:pt x="0" y="102991"/>
                  <a:pt x="102991" y="0"/>
                  <a:pt x="23003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25210" y="2449081"/>
            <a:ext cx="221822" cy="197175"/>
          </a:xfrm>
          <a:custGeom>
            <a:avLst/>
            <a:gdLst/>
            <a:ahLst/>
            <a:cxnLst/>
            <a:rect l="l" t="t" r="r" b="b"/>
            <a:pathLst>
              <a:path w="221822" h="197175">
                <a:moveTo>
                  <a:pt x="55456" y="184852"/>
                </a:moveTo>
                <a:cubicBezTo>
                  <a:pt x="24839" y="184852"/>
                  <a:pt x="0" y="160012"/>
                  <a:pt x="0" y="129396"/>
                </a:cubicBezTo>
                <a:cubicBezTo>
                  <a:pt x="0" y="104980"/>
                  <a:pt x="15789" y="84262"/>
                  <a:pt x="37702" y="76829"/>
                </a:cubicBezTo>
                <a:cubicBezTo>
                  <a:pt x="37201" y="73864"/>
                  <a:pt x="36970" y="70860"/>
                  <a:pt x="36970" y="67779"/>
                </a:cubicBezTo>
                <a:cubicBezTo>
                  <a:pt x="36970" y="37163"/>
                  <a:pt x="61810" y="12323"/>
                  <a:pt x="92426" y="12323"/>
                </a:cubicBezTo>
                <a:cubicBezTo>
                  <a:pt x="113761" y="12323"/>
                  <a:pt x="132285" y="24377"/>
                  <a:pt x="141566" y="42015"/>
                </a:cubicBezTo>
                <a:cubicBezTo>
                  <a:pt x="147034" y="38819"/>
                  <a:pt x="153427" y="36970"/>
                  <a:pt x="160205" y="36970"/>
                </a:cubicBezTo>
                <a:cubicBezTo>
                  <a:pt x="180616" y="36970"/>
                  <a:pt x="197175" y="53530"/>
                  <a:pt x="197175" y="73941"/>
                </a:cubicBezTo>
                <a:cubicBezTo>
                  <a:pt x="197175" y="79987"/>
                  <a:pt x="195712" y="85725"/>
                  <a:pt x="193132" y="90770"/>
                </a:cubicBezTo>
                <a:cubicBezTo>
                  <a:pt x="210076" y="98588"/>
                  <a:pt x="221822" y="115686"/>
                  <a:pt x="221822" y="135558"/>
                </a:cubicBezTo>
                <a:cubicBezTo>
                  <a:pt x="221822" y="162785"/>
                  <a:pt x="199755" y="184852"/>
                  <a:pt x="172528" y="184852"/>
                </a:cubicBezTo>
                <a:lnTo>
                  <a:pt x="55456" y="184852"/>
                </a:lnTo>
                <a:close/>
                <a:moveTo>
                  <a:pt x="145186" y="120539"/>
                </a:moveTo>
                <a:cubicBezTo>
                  <a:pt x="148806" y="116919"/>
                  <a:pt x="148806" y="111065"/>
                  <a:pt x="145186" y="107484"/>
                </a:cubicBezTo>
                <a:cubicBezTo>
                  <a:pt x="141566" y="103902"/>
                  <a:pt x="135712" y="103864"/>
                  <a:pt x="132130" y="107484"/>
                </a:cubicBezTo>
                <a:lnTo>
                  <a:pt x="120192" y="119422"/>
                </a:lnTo>
                <a:lnTo>
                  <a:pt x="120192" y="80102"/>
                </a:lnTo>
                <a:cubicBezTo>
                  <a:pt x="120192" y="74980"/>
                  <a:pt x="116071" y="70860"/>
                  <a:pt x="110950" y="70860"/>
                </a:cubicBezTo>
                <a:cubicBezTo>
                  <a:pt x="105828" y="70860"/>
                  <a:pt x="101707" y="74980"/>
                  <a:pt x="101707" y="80102"/>
                </a:cubicBezTo>
                <a:lnTo>
                  <a:pt x="101707" y="119422"/>
                </a:lnTo>
                <a:lnTo>
                  <a:pt x="89769" y="107484"/>
                </a:lnTo>
                <a:cubicBezTo>
                  <a:pt x="86149" y="103864"/>
                  <a:pt x="80295" y="103864"/>
                  <a:pt x="76713" y="107484"/>
                </a:cubicBezTo>
                <a:cubicBezTo>
                  <a:pt x="73132" y="111104"/>
                  <a:pt x="73093" y="116957"/>
                  <a:pt x="76713" y="120539"/>
                </a:cubicBezTo>
                <a:lnTo>
                  <a:pt x="104441" y="148267"/>
                </a:lnTo>
                <a:cubicBezTo>
                  <a:pt x="108061" y="151887"/>
                  <a:pt x="113915" y="151887"/>
                  <a:pt x="117496" y="148267"/>
                </a:cubicBezTo>
                <a:lnTo>
                  <a:pt x="145224" y="120539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609" y="2416219"/>
            <a:ext cx="1158404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6083" y="2909157"/>
            <a:ext cx="5331946" cy="690113"/>
          </a:xfrm>
          <a:custGeom>
            <a:avLst/>
            <a:gdLst/>
            <a:ahLst/>
            <a:cxnLst/>
            <a:rect l="l" t="t" r="r" b="b"/>
            <a:pathLst>
              <a:path w="5331946" h="690113">
                <a:moveTo>
                  <a:pt x="32863" y="0"/>
                </a:moveTo>
                <a:lnTo>
                  <a:pt x="5299083" y="0"/>
                </a:lnTo>
                <a:cubicBezTo>
                  <a:pt x="5317233" y="0"/>
                  <a:pt x="5331946" y="14713"/>
                  <a:pt x="5331946" y="32863"/>
                </a:cubicBezTo>
                <a:lnTo>
                  <a:pt x="5331946" y="657250"/>
                </a:lnTo>
                <a:cubicBezTo>
                  <a:pt x="5331946" y="675400"/>
                  <a:pt x="5317233" y="690113"/>
                  <a:pt x="5299083" y="690113"/>
                </a:cubicBezTo>
                <a:lnTo>
                  <a:pt x="32863" y="690113"/>
                </a:lnTo>
                <a:cubicBezTo>
                  <a:pt x="14713" y="690113"/>
                  <a:pt x="0" y="675400"/>
                  <a:pt x="0" y="657250"/>
                </a:cubicBezTo>
                <a:lnTo>
                  <a:pt x="0" y="32863"/>
                </a:lnTo>
                <a:cubicBezTo>
                  <a:pt x="0" y="14713"/>
                  <a:pt x="14713" y="0"/>
                  <a:pt x="3286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3964" y="3066898"/>
            <a:ext cx="131450" cy="131450"/>
          </a:xfrm>
          <a:custGeom>
            <a:avLst/>
            <a:gdLst/>
            <a:ahLst/>
            <a:cxnLst/>
            <a:rect l="l" t="t" r="r" b="b"/>
            <a:pathLst>
              <a:path w="131450" h="131450">
                <a:moveTo>
                  <a:pt x="87034" y="80847"/>
                </a:moveTo>
                <a:lnTo>
                  <a:pt x="45032" y="8216"/>
                </a:lnTo>
                <a:lnTo>
                  <a:pt x="86418" y="8216"/>
                </a:lnTo>
                <a:lnTo>
                  <a:pt x="128421" y="80847"/>
                </a:lnTo>
                <a:lnTo>
                  <a:pt x="87034" y="80847"/>
                </a:lnTo>
                <a:close/>
                <a:moveTo>
                  <a:pt x="51733" y="86906"/>
                </a:moveTo>
                <a:lnTo>
                  <a:pt x="31040" y="123235"/>
                </a:lnTo>
                <a:lnTo>
                  <a:pt x="110757" y="123235"/>
                </a:lnTo>
                <a:lnTo>
                  <a:pt x="131450" y="86906"/>
                </a:lnTo>
                <a:lnTo>
                  <a:pt x="51733" y="86906"/>
                </a:lnTo>
                <a:close/>
                <a:moveTo>
                  <a:pt x="39563" y="17304"/>
                </a:moveTo>
                <a:lnTo>
                  <a:pt x="0" y="86906"/>
                </a:lnTo>
                <a:lnTo>
                  <a:pt x="20693" y="123235"/>
                </a:lnTo>
                <a:lnTo>
                  <a:pt x="60847" y="53607"/>
                </a:lnTo>
                <a:lnTo>
                  <a:pt x="39563" y="17304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5" name="Text 13"/>
          <p:cNvSpPr/>
          <p:nvPr/>
        </p:nvSpPr>
        <p:spPr>
          <a:xfrm>
            <a:off x="844363" y="3040607"/>
            <a:ext cx="4927941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Loaded dataset from Google Drive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7533" y="3303507"/>
            <a:ext cx="5126555" cy="16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cloud storage for easy access and collaboration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5198" y="3914751"/>
            <a:ext cx="5673716" cy="2346385"/>
          </a:xfrm>
          <a:custGeom>
            <a:avLst/>
            <a:gdLst/>
            <a:ahLst/>
            <a:cxnLst/>
            <a:rect l="l" t="t" r="r" b="b"/>
            <a:pathLst>
              <a:path w="5673716" h="2346385">
                <a:moveTo>
                  <a:pt x="65722" y="0"/>
                </a:moveTo>
                <a:lnTo>
                  <a:pt x="5607994" y="0"/>
                </a:lnTo>
                <a:cubicBezTo>
                  <a:pt x="5644292" y="0"/>
                  <a:pt x="5673716" y="29425"/>
                  <a:pt x="5673716" y="65722"/>
                </a:cubicBezTo>
                <a:lnTo>
                  <a:pt x="5673716" y="2280663"/>
                </a:lnTo>
                <a:cubicBezTo>
                  <a:pt x="5673716" y="2316960"/>
                  <a:pt x="5644292" y="2346385"/>
                  <a:pt x="5607994" y="2346385"/>
                </a:cubicBezTo>
                <a:lnTo>
                  <a:pt x="65722" y="2346385"/>
                </a:lnTo>
                <a:cubicBezTo>
                  <a:pt x="29425" y="2346385"/>
                  <a:pt x="0" y="2316960"/>
                  <a:pt x="0" y="2280663"/>
                </a:cubicBezTo>
                <a:lnTo>
                  <a:pt x="0" y="65722"/>
                </a:lnTo>
                <a:cubicBezTo>
                  <a:pt x="0" y="29425"/>
                  <a:pt x="29425" y="0"/>
                  <a:pt x="6572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6083" y="4085637"/>
            <a:ext cx="460075" cy="460075"/>
          </a:xfrm>
          <a:custGeom>
            <a:avLst/>
            <a:gdLst/>
            <a:ahLst/>
            <a:cxnLst/>
            <a:rect l="l" t="t" r="r" b="b"/>
            <a:pathLst>
              <a:path w="460075" h="460075">
                <a:moveTo>
                  <a:pt x="230038" y="0"/>
                </a:moveTo>
                <a:lnTo>
                  <a:pt x="230038" y="0"/>
                </a:lnTo>
                <a:cubicBezTo>
                  <a:pt x="357084" y="0"/>
                  <a:pt x="460075" y="102991"/>
                  <a:pt x="460075" y="230038"/>
                </a:cubicBezTo>
                <a:lnTo>
                  <a:pt x="460075" y="230038"/>
                </a:lnTo>
                <a:cubicBezTo>
                  <a:pt x="460075" y="357084"/>
                  <a:pt x="357084" y="460075"/>
                  <a:pt x="230038" y="460075"/>
                </a:cubicBezTo>
                <a:lnTo>
                  <a:pt x="230038" y="460075"/>
                </a:lnTo>
                <a:cubicBezTo>
                  <a:pt x="102991" y="460075"/>
                  <a:pt x="0" y="357084"/>
                  <a:pt x="0" y="230038"/>
                </a:cubicBezTo>
                <a:lnTo>
                  <a:pt x="0" y="230038"/>
                </a:lnTo>
                <a:cubicBezTo>
                  <a:pt x="0" y="102991"/>
                  <a:pt x="102991" y="0"/>
                  <a:pt x="23003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Shape 17"/>
          <p:cNvSpPr/>
          <p:nvPr/>
        </p:nvSpPr>
        <p:spPr>
          <a:xfrm>
            <a:off x="637533" y="4217087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160205" y="80102"/>
                </a:moveTo>
                <a:cubicBezTo>
                  <a:pt x="160205" y="97779"/>
                  <a:pt x="154467" y="114107"/>
                  <a:pt x="144801" y="127355"/>
                </a:cubicBezTo>
                <a:lnTo>
                  <a:pt x="193555" y="176148"/>
                </a:lnTo>
                <a:cubicBezTo>
                  <a:pt x="198369" y="180962"/>
                  <a:pt x="198369" y="188780"/>
                  <a:pt x="193555" y="193594"/>
                </a:cubicBezTo>
                <a:cubicBezTo>
                  <a:pt x="188741" y="198408"/>
                  <a:pt x="180924" y="198408"/>
                  <a:pt x="176110" y="193594"/>
                </a:cubicBezTo>
                <a:lnTo>
                  <a:pt x="127355" y="144801"/>
                </a:lnTo>
                <a:cubicBezTo>
                  <a:pt x="114107" y="154467"/>
                  <a:pt x="97779" y="160205"/>
                  <a:pt x="80102" y="160205"/>
                </a:cubicBezTo>
                <a:cubicBezTo>
                  <a:pt x="35854" y="160205"/>
                  <a:pt x="0" y="124351"/>
                  <a:pt x="0" y="80102"/>
                </a:cubicBezTo>
                <a:cubicBezTo>
                  <a:pt x="0" y="35854"/>
                  <a:pt x="35854" y="0"/>
                  <a:pt x="80102" y="0"/>
                </a:cubicBezTo>
                <a:cubicBezTo>
                  <a:pt x="124351" y="0"/>
                  <a:pt x="160205" y="35854"/>
                  <a:pt x="160205" y="80102"/>
                </a:cubicBezTo>
                <a:close/>
                <a:moveTo>
                  <a:pt x="80102" y="135558"/>
                </a:moveTo>
                <a:cubicBezTo>
                  <a:pt x="110709" y="135558"/>
                  <a:pt x="135558" y="110709"/>
                  <a:pt x="135558" y="80102"/>
                </a:cubicBezTo>
                <a:cubicBezTo>
                  <a:pt x="135558" y="49496"/>
                  <a:pt x="110709" y="24647"/>
                  <a:pt x="80102" y="24647"/>
                </a:cubicBezTo>
                <a:cubicBezTo>
                  <a:pt x="49496" y="24647"/>
                  <a:pt x="24647" y="49496"/>
                  <a:pt x="24647" y="80102"/>
                </a:cubicBezTo>
                <a:cubicBezTo>
                  <a:pt x="24647" y="110709"/>
                  <a:pt x="49496" y="135558"/>
                  <a:pt x="80102" y="13555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609" y="4184225"/>
            <a:ext cx="1708852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Examination Areas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6083" y="4677163"/>
            <a:ext cx="2620787" cy="657251"/>
          </a:xfrm>
          <a:custGeom>
            <a:avLst/>
            <a:gdLst/>
            <a:ahLst/>
            <a:cxnLst/>
            <a:rect l="l" t="t" r="r" b="b"/>
            <a:pathLst>
              <a:path w="2620787" h="657251">
                <a:moveTo>
                  <a:pt x="32863" y="0"/>
                </a:moveTo>
                <a:lnTo>
                  <a:pt x="2587925" y="0"/>
                </a:lnTo>
                <a:cubicBezTo>
                  <a:pt x="2606074" y="0"/>
                  <a:pt x="2620787" y="14713"/>
                  <a:pt x="2620787" y="32863"/>
                </a:cubicBezTo>
                <a:lnTo>
                  <a:pt x="2620787" y="624388"/>
                </a:lnTo>
                <a:cubicBezTo>
                  <a:pt x="2620787" y="642538"/>
                  <a:pt x="2606074" y="657251"/>
                  <a:pt x="2587925" y="657251"/>
                </a:cubicBezTo>
                <a:lnTo>
                  <a:pt x="32863" y="657251"/>
                </a:lnTo>
                <a:cubicBezTo>
                  <a:pt x="14713" y="657251"/>
                  <a:pt x="0" y="642538"/>
                  <a:pt x="0" y="624388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28159" y="4775750"/>
            <a:ext cx="172528" cy="197175"/>
          </a:xfrm>
          <a:custGeom>
            <a:avLst/>
            <a:gdLst/>
            <a:ahLst/>
            <a:cxnLst/>
            <a:rect l="l" t="t" r="r" b="b"/>
            <a:pathLst>
              <a:path w="172528" h="197175">
                <a:moveTo>
                  <a:pt x="172528" y="79255"/>
                </a:moveTo>
                <a:cubicBezTo>
                  <a:pt x="166829" y="83029"/>
                  <a:pt x="160282" y="86072"/>
                  <a:pt x="153465" y="88498"/>
                </a:cubicBezTo>
                <a:cubicBezTo>
                  <a:pt x="135365" y="94968"/>
                  <a:pt x="111604" y="98588"/>
                  <a:pt x="86264" y="98588"/>
                </a:cubicBezTo>
                <a:cubicBezTo>
                  <a:pt x="60924" y="98588"/>
                  <a:pt x="37124" y="94929"/>
                  <a:pt x="19063" y="88498"/>
                </a:cubicBezTo>
                <a:cubicBezTo>
                  <a:pt x="12285" y="86072"/>
                  <a:pt x="5700" y="83029"/>
                  <a:pt x="0" y="79255"/>
                </a:cubicBezTo>
                <a:lnTo>
                  <a:pt x="0" y="110911"/>
                </a:lnTo>
                <a:cubicBezTo>
                  <a:pt x="0" y="127933"/>
                  <a:pt x="38626" y="141720"/>
                  <a:pt x="86264" y="141720"/>
                </a:cubicBezTo>
                <a:cubicBezTo>
                  <a:pt x="133902" y="141720"/>
                  <a:pt x="172528" y="127933"/>
                  <a:pt x="172528" y="110911"/>
                </a:cubicBezTo>
                <a:lnTo>
                  <a:pt x="172528" y="79255"/>
                </a:lnTo>
                <a:close/>
                <a:moveTo>
                  <a:pt x="172528" y="49294"/>
                </a:moveTo>
                <a:lnTo>
                  <a:pt x="172528" y="30809"/>
                </a:lnTo>
                <a:cubicBezTo>
                  <a:pt x="172528" y="13787"/>
                  <a:pt x="133902" y="0"/>
                  <a:pt x="86264" y="0"/>
                </a:cubicBezTo>
                <a:cubicBezTo>
                  <a:pt x="38626" y="0"/>
                  <a:pt x="0" y="13787"/>
                  <a:pt x="0" y="30809"/>
                </a:cubicBezTo>
                <a:lnTo>
                  <a:pt x="0" y="49294"/>
                </a:lnTo>
                <a:cubicBezTo>
                  <a:pt x="0" y="66316"/>
                  <a:pt x="38626" y="80102"/>
                  <a:pt x="86264" y="80102"/>
                </a:cubicBezTo>
                <a:cubicBezTo>
                  <a:pt x="133902" y="80102"/>
                  <a:pt x="172528" y="66316"/>
                  <a:pt x="172528" y="49294"/>
                </a:cubicBezTo>
                <a:close/>
                <a:moveTo>
                  <a:pt x="153465" y="150115"/>
                </a:moveTo>
                <a:cubicBezTo>
                  <a:pt x="135404" y="156546"/>
                  <a:pt x="111643" y="160205"/>
                  <a:pt x="86264" y="160205"/>
                </a:cubicBezTo>
                <a:cubicBezTo>
                  <a:pt x="60886" y="160205"/>
                  <a:pt x="37124" y="156546"/>
                  <a:pt x="19063" y="150115"/>
                </a:cubicBezTo>
                <a:cubicBezTo>
                  <a:pt x="12285" y="147689"/>
                  <a:pt x="5700" y="144646"/>
                  <a:pt x="0" y="140872"/>
                </a:cubicBezTo>
                <a:lnTo>
                  <a:pt x="0" y="166367"/>
                </a:lnTo>
                <a:cubicBezTo>
                  <a:pt x="0" y="183388"/>
                  <a:pt x="38626" y="197175"/>
                  <a:pt x="86264" y="197175"/>
                </a:cubicBezTo>
                <a:cubicBezTo>
                  <a:pt x="133902" y="197175"/>
                  <a:pt x="172528" y="183388"/>
                  <a:pt x="172528" y="166367"/>
                </a:cubicBezTo>
                <a:lnTo>
                  <a:pt x="172528" y="140872"/>
                </a:lnTo>
                <a:cubicBezTo>
                  <a:pt x="166829" y="144646"/>
                  <a:pt x="160282" y="147689"/>
                  <a:pt x="153465" y="150115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3" name="Text 21"/>
          <p:cNvSpPr/>
          <p:nvPr/>
        </p:nvSpPr>
        <p:spPr>
          <a:xfrm>
            <a:off x="571808" y="5038650"/>
            <a:ext cx="248933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21350" y="4677163"/>
            <a:ext cx="2620787" cy="657251"/>
          </a:xfrm>
          <a:custGeom>
            <a:avLst/>
            <a:gdLst/>
            <a:ahLst/>
            <a:cxnLst/>
            <a:rect l="l" t="t" r="r" b="b"/>
            <a:pathLst>
              <a:path w="2620787" h="657251">
                <a:moveTo>
                  <a:pt x="32863" y="0"/>
                </a:moveTo>
                <a:lnTo>
                  <a:pt x="2587925" y="0"/>
                </a:lnTo>
                <a:cubicBezTo>
                  <a:pt x="2606074" y="0"/>
                  <a:pt x="2620787" y="14713"/>
                  <a:pt x="2620787" y="32863"/>
                </a:cubicBezTo>
                <a:lnTo>
                  <a:pt x="2620787" y="624388"/>
                </a:lnTo>
                <a:cubicBezTo>
                  <a:pt x="2620787" y="642538"/>
                  <a:pt x="2606074" y="657251"/>
                  <a:pt x="2587925" y="657251"/>
                </a:cubicBezTo>
                <a:lnTo>
                  <a:pt x="32863" y="657251"/>
                </a:lnTo>
                <a:cubicBezTo>
                  <a:pt x="14713" y="657251"/>
                  <a:pt x="0" y="642538"/>
                  <a:pt x="0" y="624388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43426" y="4775750"/>
            <a:ext cx="172528" cy="197175"/>
          </a:xfrm>
          <a:custGeom>
            <a:avLst/>
            <a:gdLst/>
            <a:ahLst/>
            <a:cxnLst/>
            <a:rect l="l" t="t" r="r" b="b"/>
            <a:pathLst>
              <a:path w="172528" h="197175">
                <a:moveTo>
                  <a:pt x="98588" y="61617"/>
                </a:moveTo>
                <a:lnTo>
                  <a:pt x="98588" y="98588"/>
                </a:lnTo>
                <a:lnTo>
                  <a:pt x="147881" y="98588"/>
                </a:lnTo>
                <a:lnTo>
                  <a:pt x="147881" y="61617"/>
                </a:lnTo>
                <a:lnTo>
                  <a:pt x="98588" y="61617"/>
                </a:lnTo>
                <a:close/>
                <a:moveTo>
                  <a:pt x="73941" y="61617"/>
                </a:moveTo>
                <a:lnTo>
                  <a:pt x="24647" y="61617"/>
                </a:lnTo>
                <a:lnTo>
                  <a:pt x="24647" y="98588"/>
                </a:lnTo>
                <a:lnTo>
                  <a:pt x="73941" y="98588"/>
                </a:lnTo>
                <a:lnTo>
                  <a:pt x="73941" y="61617"/>
                </a:lnTo>
                <a:close/>
                <a:moveTo>
                  <a:pt x="0" y="123235"/>
                </a:moveTo>
                <a:lnTo>
                  <a:pt x="0" y="36970"/>
                </a:lnTo>
                <a:cubicBezTo>
                  <a:pt x="0" y="23376"/>
                  <a:pt x="11053" y="12323"/>
                  <a:pt x="24647" y="12323"/>
                </a:cubicBezTo>
                <a:lnTo>
                  <a:pt x="147881" y="12323"/>
                </a:lnTo>
                <a:cubicBezTo>
                  <a:pt x="161476" y="12323"/>
                  <a:pt x="172528" y="23376"/>
                  <a:pt x="172528" y="36970"/>
                </a:cubicBezTo>
                <a:lnTo>
                  <a:pt x="172528" y="160205"/>
                </a:lnTo>
                <a:cubicBezTo>
                  <a:pt x="172528" y="173799"/>
                  <a:pt x="161476" y="184852"/>
                  <a:pt x="147881" y="184852"/>
                </a:cubicBezTo>
                <a:lnTo>
                  <a:pt x="24647" y="184852"/>
                </a:lnTo>
                <a:cubicBezTo>
                  <a:pt x="11053" y="184852"/>
                  <a:pt x="0" y="173799"/>
                  <a:pt x="0" y="160205"/>
                </a:cubicBezTo>
                <a:lnTo>
                  <a:pt x="0" y="123235"/>
                </a:lnTo>
                <a:close/>
                <a:moveTo>
                  <a:pt x="147881" y="123235"/>
                </a:moveTo>
                <a:lnTo>
                  <a:pt x="98588" y="123235"/>
                </a:lnTo>
                <a:lnTo>
                  <a:pt x="98588" y="160205"/>
                </a:lnTo>
                <a:lnTo>
                  <a:pt x="147881" y="160205"/>
                </a:lnTo>
                <a:lnTo>
                  <a:pt x="147881" y="123235"/>
                </a:lnTo>
                <a:close/>
                <a:moveTo>
                  <a:pt x="73941" y="160205"/>
                </a:moveTo>
                <a:lnTo>
                  <a:pt x="73941" y="123235"/>
                </a:lnTo>
                <a:lnTo>
                  <a:pt x="24647" y="123235"/>
                </a:lnTo>
                <a:lnTo>
                  <a:pt x="24647" y="160205"/>
                </a:lnTo>
                <a:lnTo>
                  <a:pt x="73941" y="160205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6" name="Text 24"/>
          <p:cNvSpPr/>
          <p:nvPr/>
        </p:nvSpPr>
        <p:spPr>
          <a:xfrm>
            <a:off x="3287075" y="5038650"/>
            <a:ext cx="248933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6083" y="5433001"/>
            <a:ext cx="2620787" cy="657251"/>
          </a:xfrm>
          <a:custGeom>
            <a:avLst/>
            <a:gdLst/>
            <a:ahLst/>
            <a:cxnLst/>
            <a:rect l="l" t="t" r="r" b="b"/>
            <a:pathLst>
              <a:path w="2620787" h="657251">
                <a:moveTo>
                  <a:pt x="32863" y="0"/>
                </a:moveTo>
                <a:lnTo>
                  <a:pt x="2587925" y="0"/>
                </a:lnTo>
                <a:cubicBezTo>
                  <a:pt x="2606074" y="0"/>
                  <a:pt x="2620787" y="14713"/>
                  <a:pt x="2620787" y="32863"/>
                </a:cubicBezTo>
                <a:lnTo>
                  <a:pt x="2620787" y="624388"/>
                </a:lnTo>
                <a:cubicBezTo>
                  <a:pt x="2620787" y="642538"/>
                  <a:pt x="2606074" y="657251"/>
                  <a:pt x="2587925" y="657251"/>
                </a:cubicBezTo>
                <a:lnTo>
                  <a:pt x="32863" y="657251"/>
                </a:lnTo>
                <a:cubicBezTo>
                  <a:pt x="14713" y="657251"/>
                  <a:pt x="0" y="642538"/>
                  <a:pt x="0" y="624388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5835" y="5531588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12323" y="12323"/>
                </a:moveTo>
                <a:cubicBezTo>
                  <a:pt x="19140" y="12323"/>
                  <a:pt x="24647" y="17830"/>
                  <a:pt x="24647" y="24647"/>
                </a:cubicBezTo>
                <a:lnTo>
                  <a:pt x="24647" y="154043"/>
                </a:lnTo>
                <a:cubicBezTo>
                  <a:pt x="24647" y="157432"/>
                  <a:pt x="27420" y="160205"/>
                  <a:pt x="30809" y="160205"/>
                </a:cubicBezTo>
                <a:lnTo>
                  <a:pt x="184852" y="160205"/>
                </a:lnTo>
                <a:cubicBezTo>
                  <a:pt x="191668" y="160205"/>
                  <a:pt x="197175" y="165712"/>
                  <a:pt x="197175" y="172528"/>
                </a:cubicBezTo>
                <a:cubicBezTo>
                  <a:pt x="197175" y="179345"/>
                  <a:pt x="191668" y="184852"/>
                  <a:pt x="184852" y="184852"/>
                </a:cubicBezTo>
                <a:lnTo>
                  <a:pt x="30809" y="184852"/>
                </a:lnTo>
                <a:cubicBezTo>
                  <a:pt x="13787" y="184852"/>
                  <a:pt x="0" y="171065"/>
                  <a:pt x="0" y="154043"/>
                </a:cubicBezTo>
                <a:lnTo>
                  <a:pt x="0" y="24647"/>
                </a:lnTo>
                <a:cubicBezTo>
                  <a:pt x="0" y="17830"/>
                  <a:pt x="5507" y="12323"/>
                  <a:pt x="12323" y="12323"/>
                </a:cubicBezTo>
                <a:close/>
                <a:moveTo>
                  <a:pt x="49294" y="36970"/>
                </a:moveTo>
                <a:cubicBezTo>
                  <a:pt x="49294" y="30154"/>
                  <a:pt x="54801" y="24647"/>
                  <a:pt x="61617" y="24647"/>
                </a:cubicBezTo>
                <a:lnTo>
                  <a:pt x="135558" y="24647"/>
                </a:lnTo>
                <a:cubicBezTo>
                  <a:pt x="142374" y="24647"/>
                  <a:pt x="147881" y="30154"/>
                  <a:pt x="147881" y="36970"/>
                </a:cubicBezTo>
                <a:cubicBezTo>
                  <a:pt x="147881" y="43787"/>
                  <a:pt x="142374" y="49294"/>
                  <a:pt x="135558" y="49294"/>
                </a:cubicBezTo>
                <a:lnTo>
                  <a:pt x="61617" y="49294"/>
                </a:lnTo>
                <a:cubicBezTo>
                  <a:pt x="54801" y="49294"/>
                  <a:pt x="49294" y="43787"/>
                  <a:pt x="49294" y="36970"/>
                </a:cubicBezTo>
                <a:close/>
                <a:moveTo>
                  <a:pt x="61617" y="67779"/>
                </a:moveTo>
                <a:lnTo>
                  <a:pt x="110911" y="67779"/>
                </a:lnTo>
                <a:cubicBezTo>
                  <a:pt x="117727" y="67779"/>
                  <a:pt x="123235" y="73286"/>
                  <a:pt x="123235" y="80102"/>
                </a:cubicBezTo>
                <a:cubicBezTo>
                  <a:pt x="123235" y="86919"/>
                  <a:pt x="117727" y="92426"/>
                  <a:pt x="110911" y="92426"/>
                </a:cubicBezTo>
                <a:lnTo>
                  <a:pt x="61617" y="92426"/>
                </a:lnTo>
                <a:cubicBezTo>
                  <a:pt x="54801" y="92426"/>
                  <a:pt x="49294" y="86919"/>
                  <a:pt x="49294" y="80102"/>
                </a:cubicBezTo>
                <a:cubicBezTo>
                  <a:pt x="49294" y="73286"/>
                  <a:pt x="54801" y="67779"/>
                  <a:pt x="61617" y="67779"/>
                </a:cubicBezTo>
                <a:close/>
                <a:moveTo>
                  <a:pt x="61617" y="110911"/>
                </a:moveTo>
                <a:lnTo>
                  <a:pt x="160205" y="110911"/>
                </a:lnTo>
                <a:cubicBezTo>
                  <a:pt x="167021" y="110911"/>
                  <a:pt x="172528" y="116418"/>
                  <a:pt x="172528" y="123235"/>
                </a:cubicBezTo>
                <a:cubicBezTo>
                  <a:pt x="172528" y="130051"/>
                  <a:pt x="167021" y="135558"/>
                  <a:pt x="160205" y="135558"/>
                </a:cubicBezTo>
                <a:lnTo>
                  <a:pt x="61617" y="135558"/>
                </a:lnTo>
                <a:cubicBezTo>
                  <a:pt x="54801" y="135558"/>
                  <a:pt x="49294" y="130051"/>
                  <a:pt x="49294" y="123235"/>
                </a:cubicBezTo>
                <a:cubicBezTo>
                  <a:pt x="49294" y="116418"/>
                  <a:pt x="54801" y="110911"/>
                  <a:pt x="61617" y="110911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9" name="Text 27"/>
          <p:cNvSpPr/>
          <p:nvPr/>
        </p:nvSpPr>
        <p:spPr>
          <a:xfrm>
            <a:off x="571808" y="5794489"/>
            <a:ext cx="248933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21350" y="5433001"/>
            <a:ext cx="2620787" cy="657251"/>
          </a:xfrm>
          <a:custGeom>
            <a:avLst/>
            <a:gdLst/>
            <a:ahLst/>
            <a:cxnLst/>
            <a:rect l="l" t="t" r="r" b="b"/>
            <a:pathLst>
              <a:path w="2620787" h="657251">
                <a:moveTo>
                  <a:pt x="32863" y="0"/>
                </a:moveTo>
                <a:lnTo>
                  <a:pt x="2587925" y="0"/>
                </a:lnTo>
                <a:cubicBezTo>
                  <a:pt x="2606074" y="0"/>
                  <a:pt x="2620787" y="14713"/>
                  <a:pt x="2620787" y="32863"/>
                </a:cubicBezTo>
                <a:lnTo>
                  <a:pt x="2620787" y="624388"/>
                </a:lnTo>
                <a:cubicBezTo>
                  <a:pt x="2620787" y="642538"/>
                  <a:pt x="2606074" y="657251"/>
                  <a:pt x="2587925" y="657251"/>
                </a:cubicBezTo>
                <a:lnTo>
                  <a:pt x="32863" y="657251"/>
                </a:lnTo>
                <a:cubicBezTo>
                  <a:pt x="14713" y="657251"/>
                  <a:pt x="0" y="642538"/>
                  <a:pt x="0" y="624388"/>
                </a:cubicBezTo>
                <a:lnTo>
                  <a:pt x="0" y="32863"/>
                </a:lnTo>
                <a:cubicBezTo>
                  <a:pt x="0" y="14725"/>
                  <a:pt x="14725" y="0"/>
                  <a:pt x="32863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31102" y="5531588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0"/>
                </a:moveTo>
                <a:cubicBezTo>
                  <a:pt x="104249" y="0"/>
                  <a:pt x="109448" y="3119"/>
                  <a:pt x="112143" y="8087"/>
                </a:cubicBezTo>
                <a:lnTo>
                  <a:pt x="195327" y="162130"/>
                </a:lnTo>
                <a:cubicBezTo>
                  <a:pt x="197907" y="166906"/>
                  <a:pt x="197791" y="172682"/>
                  <a:pt x="195019" y="177342"/>
                </a:cubicBezTo>
                <a:cubicBezTo>
                  <a:pt x="192246" y="182002"/>
                  <a:pt x="187201" y="184852"/>
                  <a:pt x="181771" y="184852"/>
                </a:cubicBezTo>
                <a:lnTo>
                  <a:pt x="15404" y="184852"/>
                </a:lnTo>
                <a:cubicBezTo>
                  <a:pt x="9974" y="184852"/>
                  <a:pt x="4968" y="182002"/>
                  <a:pt x="2157" y="177342"/>
                </a:cubicBezTo>
                <a:cubicBezTo>
                  <a:pt x="-655" y="172682"/>
                  <a:pt x="-732" y="166906"/>
                  <a:pt x="1849" y="162130"/>
                </a:cubicBezTo>
                <a:lnTo>
                  <a:pt x="85032" y="8087"/>
                </a:lnTo>
                <a:cubicBezTo>
                  <a:pt x="87728" y="3119"/>
                  <a:pt x="92927" y="0"/>
                  <a:pt x="98588" y="0"/>
                </a:cubicBezTo>
                <a:close/>
                <a:moveTo>
                  <a:pt x="98588" y="64698"/>
                </a:moveTo>
                <a:cubicBezTo>
                  <a:pt x="93466" y="64698"/>
                  <a:pt x="89345" y="68819"/>
                  <a:pt x="89345" y="73941"/>
                </a:cubicBezTo>
                <a:lnTo>
                  <a:pt x="89345" y="117073"/>
                </a:lnTo>
                <a:cubicBezTo>
                  <a:pt x="89345" y="122195"/>
                  <a:pt x="93466" y="126315"/>
                  <a:pt x="98588" y="126315"/>
                </a:cubicBezTo>
                <a:cubicBezTo>
                  <a:pt x="103710" y="126315"/>
                  <a:pt x="107830" y="122195"/>
                  <a:pt x="107830" y="117073"/>
                </a:cubicBezTo>
                <a:lnTo>
                  <a:pt x="107830" y="73941"/>
                </a:lnTo>
                <a:cubicBezTo>
                  <a:pt x="107830" y="68819"/>
                  <a:pt x="103710" y="64698"/>
                  <a:pt x="98588" y="64698"/>
                </a:cubicBezTo>
                <a:close/>
                <a:moveTo>
                  <a:pt x="108870" y="147881"/>
                </a:moveTo>
                <a:cubicBezTo>
                  <a:pt x="109104" y="144065"/>
                  <a:pt x="107201" y="140433"/>
                  <a:pt x="103929" y="138454"/>
                </a:cubicBezTo>
                <a:cubicBezTo>
                  <a:pt x="100657" y="136475"/>
                  <a:pt x="96557" y="136475"/>
                  <a:pt x="93285" y="138454"/>
                </a:cubicBezTo>
                <a:cubicBezTo>
                  <a:pt x="90013" y="140433"/>
                  <a:pt x="88110" y="144065"/>
                  <a:pt x="88344" y="147881"/>
                </a:cubicBezTo>
                <a:cubicBezTo>
                  <a:pt x="88110" y="151698"/>
                  <a:pt x="90013" y="155329"/>
                  <a:pt x="93285" y="157308"/>
                </a:cubicBezTo>
                <a:cubicBezTo>
                  <a:pt x="96557" y="159288"/>
                  <a:pt x="100657" y="159288"/>
                  <a:pt x="103929" y="157308"/>
                </a:cubicBezTo>
                <a:cubicBezTo>
                  <a:pt x="107201" y="155329"/>
                  <a:pt x="109104" y="151698"/>
                  <a:pt x="108870" y="147881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2" name="Text 30"/>
          <p:cNvSpPr/>
          <p:nvPr/>
        </p:nvSpPr>
        <p:spPr>
          <a:xfrm>
            <a:off x="3287075" y="5794489"/>
            <a:ext cx="2489337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6475" y="2146745"/>
            <a:ext cx="5673716" cy="2313522"/>
          </a:xfrm>
          <a:custGeom>
            <a:avLst/>
            <a:gdLst/>
            <a:ahLst/>
            <a:cxnLst/>
            <a:rect l="l" t="t" r="r" b="b"/>
            <a:pathLst>
              <a:path w="5673716" h="2313522">
                <a:moveTo>
                  <a:pt x="65727" y="0"/>
                </a:moveTo>
                <a:lnTo>
                  <a:pt x="5607989" y="0"/>
                </a:lnTo>
                <a:cubicBezTo>
                  <a:pt x="5644289" y="0"/>
                  <a:pt x="5673716" y="29427"/>
                  <a:pt x="5673716" y="65727"/>
                </a:cubicBezTo>
                <a:lnTo>
                  <a:pt x="5673716" y="2247795"/>
                </a:lnTo>
                <a:cubicBezTo>
                  <a:pt x="5673716" y="2284095"/>
                  <a:pt x="5644289" y="2313522"/>
                  <a:pt x="5607989" y="2313522"/>
                </a:cubicBezTo>
                <a:lnTo>
                  <a:pt x="65727" y="2313522"/>
                </a:lnTo>
                <a:cubicBezTo>
                  <a:pt x="29451" y="2313522"/>
                  <a:pt x="0" y="2284071"/>
                  <a:pt x="0" y="2247795"/>
                </a:cubicBezTo>
                <a:lnTo>
                  <a:pt x="0" y="65727"/>
                </a:lnTo>
                <a:cubicBezTo>
                  <a:pt x="0" y="29427"/>
                  <a:pt x="29427" y="0"/>
                  <a:pt x="6572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7360" y="2317631"/>
            <a:ext cx="460075" cy="460075"/>
          </a:xfrm>
          <a:custGeom>
            <a:avLst/>
            <a:gdLst/>
            <a:ahLst/>
            <a:cxnLst/>
            <a:rect l="l" t="t" r="r" b="b"/>
            <a:pathLst>
              <a:path w="460075" h="460075">
                <a:moveTo>
                  <a:pt x="230038" y="0"/>
                </a:moveTo>
                <a:lnTo>
                  <a:pt x="230038" y="0"/>
                </a:lnTo>
                <a:cubicBezTo>
                  <a:pt x="357084" y="0"/>
                  <a:pt x="460075" y="102991"/>
                  <a:pt x="460075" y="230038"/>
                </a:cubicBezTo>
                <a:lnTo>
                  <a:pt x="460075" y="230038"/>
                </a:lnTo>
                <a:cubicBezTo>
                  <a:pt x="460075" y="357084"/>
                  <a:pt x="357084" y="460075"/>
                  <a:pt x="230038" y="460075"/>
                </a:cubicBezTo>
                <a:lnTo>
                  <a:pt x="230038" y="460075"/>
                </a:lnTo>
                <a:cubicBezTo>
                  <a:pt x="102991" y="460075"/>
                  <a:pt x="0" y="357084"/>
                  <a:pt x="0" y="230038"/>
                </a:cubicBezTo>
                <a:lnTo>
                  <a:pt x="0" y="230038"/>
                </a:lnTo>
                <a:cubicBezTo>
                  <a:pt x="0" y="102991"/>
                  <a:pt x="102991" y="0"/>
                  <a:pt x="230038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5" name="Shape 33"/>
          <p:cNvSpPr/>
          <p:nvPr/>
        </p:nvSpPr>
        <p:spPr>
          <a:xfrm>
            <a:off x="6488810" y="2449081"/>
            <a:ext cx="197175" cy="197175"/>
          </a:xfrm>
          <a:custGeom>
            <a:avLst/>
            <a:gdLst/>
            <a:ahLst/>
            <a:cxnLst/>
            <a:rect l="l" t="t" r="r" b="b"/>
            <a:pathLst>
              <a:path w="197175" h="197175">
                <a:moveTo>
                  <a:pt x="98588" y="197175"/>
                </a:moveTo>
                <a:cubicBezTo>
                  <a:pt x="153000" y="197175"/>
                  <a:pt x="197175" y="153000"/>
                  <a:pt x="197175" y="98588"/>
                </a:cubicBezTo>
                <a:cubicBezTo>
                  <a:pt x="197175" y="44176"/>
                  <a:pt x="153000" y="0"/>
                  <a:pt x="98588" y="0"/>
                </a:cubicBezTo>
                <a:cubicBezTo>
                  <a:pt x="44176" y="0"/>
                  <a:pt x="0" y="44176"/>
                  <a:pt x="0" y="98588"/>
                </a:cubicBezTo>
                <a:cubicBezTo>
                  <a:pt x="0" y="153000"/>
                  <a:pt x="44176" y="197175"/>
                  <a:pt x="98588" y="197175"/>
                </a:cubicBezTo>
                <a:close/>
                <a:moveTo>
                  <a:pt x="98588" y="52375"/>
                </a:moveTo>
                <a:cubicBezTo>
                  <a:pt x="103710" y="52375"/>
                  <a:pt x="107830" y="56495"/>
                  <a:pt x="107830" y="61617"/>
                </a:cubicBezTo>
                <a:lnTo>
                  <a:pt x="107830" y="104749"/>
                </a:lnTo>
                <a:cubicBezTo>
                  <a:pt x="107830" y="109871"/>
                  <a:pt x="103710" y="113992"/>
                  <a:pt x="98588" y="113992"/>
                </a:cubicBezTo>
                <a:cubicBezTo>
                  <a:pt x="93466" y="113992"/>
                  <a:pt x="89345" y="109871"/>
                  <a:pt x="89345" y="104749"/>
                </a:cubicBezTo>
                <a:lnTo>
                  <a:pt x="89345" y="61617"/>
                </a:lnTo>
                <a:cubicBezTo>
                  <a:pt x="89345" y="56495"/>
                  <a:pt x="93466" y="52375"/>
                  <a:pt x="98588" y="52375"/>
                </a:cubicBezTo>
                <a:close/>
                <a:moveTo>
                  <a:pt x="88305" y="135558"/>
                </a:moveTo>
                <a:cubicBezTo>
                  <a:pt x="88071" y="131741"/>
                  <a:pt x="89975" y="128110"/>
                  <a:pt x="93247" y="126131"/>
                </a:cubicBezTo>
                <a:cubicBezTo>
                  <a:pt x="96518" y="124152"/>
                  <a:pt x="100618" y="124152"/>
                  <a:pt x="103890" y="126131"/>
                </a:cubicBezTo>
                <a:cubicBezTo>
                  <a:pt x="107162" y="128110"/>
                  <a:pt x="109065" y="131741"/>
                  <a:pt x="108831" y="135558"/>
                </a:cubicBezTo>
                <a:cubicBezTo>
                  <a:pt x="109065" y="139375"/>
                  <a:pt x="107162" y="143006"/>
                  <a:pt x="103890" y="144985"/>
                </a:cubicBezTo>
                <a:cubicBezTo>
                  <a:pt x="100618" y="146964"/>
                  <a:pt x="96518" y="146964"/>
                  <a:pt x="93247" y="144985"/>
                </a:cubicBezTo>
                <a:cubicBezTo>
                  <a:pt x="89975" y="143006"/>
                  <a:pt x="88071" y="139375"/>
                  <a:pt x="88305" y="13555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6948885" y="2416219"/>
            <a:ext cx="1404873" cy="26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Checks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360" y="2909157"/>
            <a:ext cx="5331946" cy="394350"/>
          </a:xfrm>
          <a:custGeom>
            <a:avLst/>
            <a:gdLst/>
            <a:ahLst/>
            <a:cxnLst/>
            <a:rect l="l" t="t" r="r" b="b"/>
            <a:pathLst>
              <a:path w="5331946" h="394350">
                <a:moveTo>
                  <a:pt x="32861" y="0"/>
                </a:moveTo>
                <a:lnTo>
                  <a:pt x="5299085" y="0"/>
                </a:lnTo>
                <a:cubicBezTo>
                  <a:pt x="5317234" y="0"/>
                  <a:pt x="5331946" y="14712"/>
                  <a:pt x="5331946" y="32861"/>
                </a:cubicBezTo>
                <a:lnTo>
                  <a:pt x="5331946" y="361489"/>
                </a:lnTo>
                <a:cubicBezTo>
                  <a:pt x="5331946" y="379638"/>
                  <a:pt x="5317234" y="394350"/>
                  <a:pt x="5299085" y="394350"/>
                </a:cubicBezTo>
                <a:lnTo>
                  <a:pt x="32861" y="394350"/>
                </a:lnTo>
                <a:cubicBezTo>
                  <a:pt x="14712" y="394350"/>
                  <a:pt x="0" y="379638"/>
                  <a:pt x="0" y="361489"/>
                </a:cubicBezTo>
                <a:lnTo>
                  <a:pt x="0" y="32861"/>
                </a:lnTo>
                <a:cubicBezTo>
                  <a:pt x="0" y="14712"/>
                  <a:pt x="14712" y="0"/>
                  <a:pt x="32861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76487" y="3024175"/>
            <a:ext cx="164313" cy="164313"/>
          </a:xfrm>
          <a:custGeom>
            <a:avLst/>
            <a:gdLst/>
            <a:ahLst/>
            <a:cxnLst/>
            <a:rect l="l" t="t" r="r" b="b"/>
            <a:pathLst>
              <a:path w="164313" h="164313">
                <a:moveTo>
                  <a:pt x="92426" y="143774"/>
                </a:moveTo>
                <a:lnTo>
                  <a:pt x="20539" y="143774"/>
                </a:lnTo>
                <a:lnTo>
                  <a:pt x="20539" y="71887"/>
                </a:lnTo>
                <a:lnTo>
                  <a:pt x="35943" y="71887"/>
                </a:lnTo>
                <a:lnTo>
                  <a:pt x="35943" y="51348"/>
                </a:lnTo>
                <a:lnTo>
                  <a:pt x="20539" y="51348"/>
                </a:lnTo>
                <a:cubicBezTo>
                  <a:pt x="9210" y="51348"/>
                  <a:pt x="0" y="60558"/>
                  <a:pt x="0" y="71887"/>
                </a:cubicBezTo>
                <a:lnTo>
                  <a:pt x="0" y="143774"/>
                </a:lnTo>
                <a:cubicBezTo>
                  <a:pt x="0" y="155102"/>
                  <a:pt x="9210" y="164313"/>
                  <a:pt x="20539" y="164313"/>
                </a:cubicBezTo>
                <a:lnTo>
                  <a:pt x="92426" y="164313"/>
                </a:lnTo>
                <a:cubicBezTo>
                  <a:pt x="103754" y="164313"/>
                  <a:pt x="112965" y="155102"/>
                  <a:pt x="112965" y="143774"/>
                </a:cubicBezTo>
                <a:lnTo>
                  <a:pt x="112965" y="128369"/>
                </a:lnTo>
                <a:lnTo>
                  <a:pt x="92426" y="128369"/>
                </a:lnTo>
                <a:lnTo>
                  <a:pt x="92426" y="143774"/>
                </a:lnTo>
                <a:close/>
                <a:moveTo>
                  <a:pt x="71887" y="112965"/>
                </a:moveTo>
                <a:lnTo>
                  <a:pt x="143774" y="112965"/>
                </a:lnTo>
                <a:cubicBezTo>
                  <a:pt x="155102" y="112965"/>
                  <a:pt x="164313" y="103754"/>
                  <a:pt x="164313" y="92426"/>
                </a:cubicBezTo>
                <a:lnTo>
                  <a:pt x="164313" y="20539"/>
                </a:lnTo>
                <a:cubicBezTo>
                  <a:pt x="164313" y="9210"/>
                  <a:pt x="155102" y="0"/>
                  <a:pt x="143774" y="0"/>
                </a:cubicBezTo>
                <a:lnTo>
                  <a:pt x="71887" y="0"/>
                </a:lnTo>
                <a:cubicBezTo>
                  <a:pt x="60558" y="0"/>
                  <a:pt x="51348" y="9210"/>
                  <a:pt x="51348" y="20539"/>
                </a:cubicBezTo>
                <a:lnTo>
                  <a:pt x="51348" y="92426"/>
                </a:lnTo>
                <a:cubicBezTo>
                  <a:pt x="51348" y="103754"/>
                  <a:pt x="60558" y="112965"/>
                  <a:pt x="71887" y="112965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9" name="Text 37"/>
          <p:cNvSpPr/>
          <p:nvPr/>
        </p:nvSpPr>
        <p:spPr>
          <a:xfrm>
            <a:off x="6759926" y="3007744"/>
            <a:ext cx="1626695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duplicate records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7360" y="3402095"/>
            <a:ext cx="5331946" cy="394350"/>
          </a:xfrm>
          <a:custGeom>
            <a:avLst/>
            <a:gdLst/>
            <a:ahLst/>
            <a:cxnLst/>
            <a:rect l="l" t="t" r="r" b="b"/>
            <a:pathLst>
              <a:path w="5331946" h="394350">
                <a:moveTo>
                  <a:pt x="32861" y="0"/>
                </a:moveTo>
                <a:lnTo>
                  <a:pt x="5299085" y="0"/>
                </a:lnTo>
                <a:cubicBezTo>
                  <a:pt x="5317234" y="0"/>
                  <a:pt x="5331946" y="14712"/>
                  <a:pt x="5331946" y="32861"/>
                </a:cubicBezTo>
                <a:lnTo>
                  <a:pt x="5331946" y="361489"/>
                </a:lnTo>
                <a:cubicBezTo>
                  <a:pt x="5331946" y="379638"/>
                  <a:pt x="5317234" y="394350"/>
                  <a:pt x="5299085" y="394350"/>
                </a:cubicBezTo>
                <a:lnTo>
                  <a:pt x="32861" y="394350"/>
                </a:lnTo>
                <a:cubicBezTo>
                  <a:pt x="14712" y="394350"/>
                  <a:pt x="0" y="379638"/>
                  <a:pt x="0" y="361489"/>
                </a:cubicBezTo>
                <a:lnTo>
                  <a:pt x="0" y="32861"/>
                </a:lnTo>
                <a:cubicBezTo>
                  <a:pt x="0" y="14712"/>
                  <a:pt x="14712" y="0"/>
                  <a:pt x="32861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66217" y="3517113"/>
            <a:ext cx="184852" cy="164313"/>
          </a:xfrm>
          <a:custGeom>
            <a:avLst/>
            <a:gdLst/>
            <a:ahLst/>
            <a:cxnLst/>
            <a:rect l="l" t="t" r="r" b="b"/>
            <a:pathLst>
              <a:path w="184852" h="164313">
                <a:moveTo>
                  <a:pt x="61617" y="30809"/>
                </a:moveTo>
                <a:cubicBezTo>
                  <a:pt x="61617" y="13800"/>
                  <a:pt x="75417" y="0"/>
                  <a:pt x="92426" y="0"/>
                </a:cubicBezTo>
                <a:cubicBezTo>
                  <a:pt x="109435" y="0"/>
                  <a:pt x="123235" y="13800"/>
                  <a:pt x="123235" y="30809"/>
                </a:cubicBezTo>
                <a:lnTo>
                  <a:pt x="123235" y="31964"/>
                </a:lnTo>
                <a:cubicBezTo>
                  <a:pt x="123235" y="37002"/>
                  <a:pt x="119159" y="41078"/>
                  <a:pt x="114120" y="41078"/>
                </a:cubicBezTo>
                <a:lnTo>
                  <a:pt x="70764" y="41078"/>
                </a:lnTo>
                <a:cubicBezTo>
                  <a:pt x="65725" y="41078"/>
                  <a:pt x="61649" y="37002"/>
                  <a:pt x="61649" y="31964"/>
                </a:cubicBezTo>
                <a:lnTo>
                  <a:pt x="61649" y="30809"/>
                </a:lnTo>
                <a:close/>
                <a:moveTo>
                  <a:pt x="172528" y="34916"/>
                </a:moveTo>
                <a:cubicBezTo>
                  <a:pt x="175930" y="39441"/>
                  <a:pt x="174999" y="45892"/>
                  <a:pt x="170474" y="49294"/>
                </a:cubicBezTo>
                <a:lnTo>
                  <a:pt x="139088" y="72817"/>
                </a:lnTo>
                <a:cubicBezTo>
                  <a:pt x="140789" y="75674"/>
                  <a:pt x="142073" y="78819"/>
                  <a:pt x="142875" y="82156"/>
                </a:cubicBezTo>
                <a:lnTo>
                  <a:pt x="174582" y="82156"/>
                </a:lnTo>
                <a:cubicBezTo>
                  <a:pt x="180263" y="82156"/>
                  <a:pt x="184852" y="86746"/>
                  <a:pt x="184852" y="92426"/>
                </a:cubicBezTo>
                <a:cubicBezTo>
                  <a:pt x="184852" y="98106"/>
                  <a:pt x="180263" y="102695"/>
                  <a:pt x="174582" y="102695"/>
                </a:cubicBezTo>
                <a:lnTo>
                  <a:pt x="143774" y="102695"/>
                </a:lnTo>
                <a:lnTo>
                  <a:pt x="143774" y="112965"/>
                </a:lnTo>
                <a:cubicBezTo>
                  <a:pt x="143774" y="113799"/>
                  <a:pt x="143741" y="114666"/>
                  <a:pt x="143709" y="115500"/>
                </a:cubicBezTo>
                <a:lnTo>
                  <a:pt x="170474" y="135558"/>
                </a:lnTo>
                <a:cubicBezTo>
                  <a:pt x="174999" y="138960"/>
                  <a:pt x="175930" y="145410"/>
                  <a:pt x="172528" y="149935"/>
                </a:cubicBezTo>
                <a:cubicBezTo>
                  <a:pt x="169127" y="154460"/>
                  <a:pt x="162676" y="155391"/>
                  <a:pt x="158151" y="151989"/>
                </a:cubicBezTo>
                <a:lnTo>
                  <a:pt x="137901" y="136810"/>
                </a:lnTo>
                <a:cubicBezTo>
                  <a:pt x="130455" y="150994"/>
                  <a:pt x="116559" y="161264"/>
                  <a:pt x="100128" y="163735"/>
                </a:cubicBezTo>
                <a:lnTo>
                  <a:pt x="100128" y="89858"/>
                </a:lnTo>
                <a:cubicBezTo>
                  <a:pt x="100128" y="85590"/>
                  <a:pt x="96694" y="82156"/>
                  <a:pt x="92426" y="82156"/>
                </a:cubicBezTo>
                <a:cubicBezTo>
                  <a:pt x="88158" y="82156"/>
                  <a:pt x="84724" y="85590"/>
                  <a:pt x="84724" y="89858"/>
                </a:cubicBezTo>
                <a:lnTo>
                  <a:pt x="84724" y="163735"/>
                </a:lnTo>
                <a:cubicBezTo>
                  <a:pt x="68292" y="161264"/>
                  <a:pt x="54396" y="150994"/>
                  <a:pt x="46951" y="136810"/>
                </a:cubicBezTo>
                <a:lnTo>
                  <a:pt x="26701" y="151989"/>
                </a:lnTo>
                <a:cubicBezTo>
                  <a:pt x="22176" y="155391"/>
                  <a:pt x="15725" y="154460"/>
                  <a:pt x="12323" y="149935"/>
                </a:cubicBezTo>
                <a:cubicBezTo>
                  <a:pt x="8922" y="145410"/>
                  <a:pt x="9852" y="138960"/>
                  <a:pt x="14377" y="135558"/>
                </a:cubicBezTo>
                <a:lnTo>
                  <a:pt x="41142" y="115500"/>
                </a:lnTo>
                <a:cubicBezTo>
                  <a:pt x="41110" y="114666"/>
                  <a:pt x="41078" y="113831"/>
                  <a:pt x="41078" y="112965"/>
                </a:cubicBezTo>
                <a:lnTo>
                  <a:pt x="41078" y="102695"/>
                </a:lnTo>
                <a:lnTo>
                  <a:pt x="10270" y="102695"/>
                </a:lnTo>
                <a:cubicBezTo>
                  <a:pt x="4589" y="102695"/>
                  <a:pt x="0" y="98106"/>
                  <a:pt x="0" y="92426"/>
                </a:cubicBezTo>
                <a:cubicBezTo>
                  <a:pt x="0" y="86746"/>
                  <a:pt x="4589" y="82156"/>
                  <a:pt x="10270" y="82156"/>
                </a:cubicBezTo>
                <a:lnTo>
                  <a:pt x="41977" y="82156"/>
                </a:lnTo>
                <a:cubicBezTo>
                  <a:pt x="42779" y="78819"/>
                  <a:pt x="44063" y="75674"/>
                  <a:pt x="45764" y="72817"/>
                </a:cubicBezTo>
                <a:lnTo>
                  <a:pt x="14377" y="49294"/>
                </a:lnTo>
                <a:cubicBezTo>
                  <a:pt x="9852" y="45892"/>
                  <a:pt x="8922" y="39441"/>
                  <a:pt x="12323" y="34916"/>
                </a:cubicBezTo>
                <a:cubicBezTo>
                  <a:pt x="15725" y="30391"/>
                  <a:pt x="22176" y="29461"/>
                  <a:pt x="26701" y="32863"/>
                </a:cubicBezTo>
                <a:lnTo>
                  <a:pt x="61617" y="59050"/>
                </a:lnTo>
                <a:cubicBezTo>
                  <a:pt x="65565" y="57413"/>
                  <a:pt x="69897" y="56482"/>
                  <a:pt x="74454" y="56482"/>
                </a:cubicBezTo>
                <a:lnTo>
                  <a:pt x="110398" y="56482"/>
                </a:lnTo>
                <a:cubicBezTo>
                  <a:pt x="114955" y="56482"/>
                  <a:pt x="119287" y="57381"/>
                  <a:pt x="123235" y="59050"/>
                </a:cubicBezTo>
                <a:lnTo>
                  <a:pt x="158151" y="32863"/>
                </a:lnTo>
                <a:cubicBezTo>
                  <a:pt x="162676" y="29461"/>
                  <a:pt x="169127" y="30391"/>
                  <a:pt x="172528" y="3491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2" name="Text 40"/>
          <p:cNvSpPr/>
          <p:nvPr/>
        </p:nvSpPr>
        <p:spPr>
          <a:xfrm>
            <a:off x="6759926" y="3500682"/>
            <a:ext cx="1470598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Detected data anomalies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7360" y="3895033"/>
            <a:ext cx="5331946" cy="394350"/>
          </a:xfrm>
          <a:custGeom>
            <a:avLst/>
            <a:gdLst/>
            <a:ahLst/>
            <a:cxnLst/>
            <a:rect l="l" t="t" r="r" b="b"/>
            <a:pathLst>
              <a:path w="5331946" h="394350">
                <a:moveTo>
                  <a:pt x="32861" y="0"/>
                </a:moveTo>
                <a:lnTo>
                  <a:pt x="5299085" y="0"/>
                </a:lnTo>
                <a:cubicBezTo>
                  <a:pt x="5317234" y="0"/>
                  <a:pt x="5331946" y="14712"/>
                  <a:pt x="5331946" y="32861"/>
                </a:cubicBezTo>
                <a:lnTo>
                  <a:pt x="5331946" y="361489"/>
                </a:lnTo>
                <a:cubicBezTo>
                  <a:pt x="5331946" y="379638"/>
                  <a:pt x="5317234" y="394350"/>
                  <a:pt x="5299085" y="394350"/>
                </a:cubicBezTo>
                <a:lnTo>
                  <a:pt x="32861" y="394350"/>
                </a:lnTo>
                <a:cubicBezTo>
                  <a:pt x="14712" y="394350"/>
                  <a:pt x="0" y="379638"/>
                  <a:pt x="0" y="361489"/>
                </a:cubicBezTo>
                <a:lnTo>
                  <a:pt x="0" y="32861"/>
                </a:lnTo>
                <a:cubicBezTo>
                  <a:pt x="0" y="14712"/>
                  <a:pt x="14712" y="0"/>
                  <a:pt x="32861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6487" y="4010051"/>
            <a:ext cx="164313" cy="164313"/>
          </a:xfrm>
          <a:custGeom>
            <a:avLst/>
            <a:gdLst/>
            <a:ahLst/>
            <a:cxnLst/>
            <a:rect l="l" t="t" r="r" b="b"/>
            <a:pathLst>
              <a:path w="164313" h="164313">
                <a:moveTo>
                  <a:pt x="10270" y="20539"/>
                </a:moveTo>
                <a:cubicBezTo>
                  <a:pt x="6130" y="20539"/>
                  <a:pt x="2375" y="23042"/>
                  <a:pt x="770" y="26893"/>
                </a:cubicBezTo>
                <a:cubicBezTo>
                  <a:pt x="-834" y="30744"/>
                  <a:pt x="64" y="35141"/>
                  <a:pt x="3017" y="38061"/>
                </a:cubicBezTo>
                <a:lnTo>
                  <a:pt x="61617" y="96694"/>
                </a:lnTo>
                <a:lnTo>
                  <a:pt x="61617" y="133504"/>
                </a:lnTo>
                <a:cubicBezTo>
                  <a:pt x="61617" y="136232"/>
                  <a:pt x="62708" y="138831"/>
                  <a:pt x="64634" y="140757"/>
                </a:cubicBezTo>
                <a:lnTo>
                  <a:pt x="85173" y="161296"/>
                </a:lnTo>
                <a:cubicBezTo>
                  <a:pt x="88126" y="164248"/>
                  <a:pt x="92522" y="165115"/>
                  <a:pt x="96373" y="163510"/>
                </a:cubicBezTo>
                <a:cubicBezTo>
                  <a:pt x="100224" y="161906"/>
                  <a:pt x="102695" y="158183"/>
                  <a:pt x="102695" y="154043"/>
                </a:cubicBezTo>
                <a:lnTo>
                  <a:pt x="102695" y="96694"/>
                </a:lnTo>
                <a:lnTo>
                  <a:pt x="161296" y="38094"/>
                </a:lnTo>
                <a:cubicBezTo>
                  <a:pt x="164248" y="35141"/>
                  <a:pt x="165115" y="30744"/>
                  <a:pt x="163510" y="26893"/>
                </a:cubicBezTo>
                <a:cubicBezTo>
                  <a:pt x="161906" y="23042"/>
                  <a:pt x="158183" y="20539"/>
                  <a:pt x="154043" y="20539"/>
                </a:cubicBezTo>
                <a:lnTo>
                  <a:pt x="10270" y="20539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5" name="Text 43"/>
          <p:cNvSpPr/>
          <p:nvPr/>
        </p:nvSpPr>
        <p:spPr>
          <a:xfrm>
            <a:off x="6759926" y="3993620"/>
            <a:ext cx="1626695" cy="19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Flagged inconsistent entries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86475" y="4604864"/>
            <a:ext cx="5673716" cy="851140"/>
          </a:xfrm>
          <a:custGeom>
            <a:avLst/>
            <a:gdLst/>
            <a:ahLst/>
            <a:cxnLst/>
            <a:rect l="l" t="t" r="r" b="b"/>
            <a:pathLst>
              <a:path w="5673716" h="851140">
                <a:moveTo>
                  <a:pt x="65725" y="0"/>
                </a:moveTo>
                <a:lnTo>
                  <a:pt x="5607991" y="0"/>
                </a:lnTo>
                <a:cubicBezTo>
                  <a:pt x="5644290" y="0"/>
                  <a:pt x="5673716" y="29426"/>
                  <a:pt x="5673716" y="65725"/>
                </a:cubicBezTo>
                <a:lnTo>
                  <a:pt x="5673716" y="785415"/>
                </a:lnTo>
                <a:cubicBezTo>
                  <a:pt x="5673716" y="821714"/>
                  <a:pt x="5644290" y="851140"/>
                  <a:pt x="5607991" y="851140"/>
                </a:cubicBezTo>
                <a:lnTo>
                  <a:pt x="65725" y="851140"/>
                </a:lnTo>
                <a:cubicBezTo>
                  <a:pt x="29450" y="851140"/>
                  <a:pt x="0" y="821689"/>
                  <a:pt x="0" y="785415"/>
                </a:cubicBezTo>
                <a:lnTo>
                  <a:pt x="0" y="65725"/>
                </a:lnTo>
                <a:cubicBezTo>
                  <a:pt x="0" y="29450"/>
                  <a:pt x="29450" y="0"/>
                  <a:pt x="6572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270000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94330" y="4882553"/>
            <a:ext cx="295763" cy="295763"/>
          </a:xfrm>
          <a:custGeom>
            <a:avLst/>
            <a:gdLst/>
            <a:ahLst/>
            <a:cxnLst/>
            <a:rect l="l" t="t" r="r" b="b"/>
            <a:pathLst>
              <a:path w="295763" h="295763">
                <a:moveTo>
                  <a:pt x="258792" y="147881"/>
                </a:moveTo>
                <a:cubicBezTo>
                  <a:pt x="258792" y="86668"/>
                  <a:pt x="209095" y="36970"/>
                  <a:pt x="147881" y="36970"/>
                </a:cubicBezTo>
                <a:cubicBezTo>
                  <a:pt x="86668" y="36970"/>
                  <a:pt x="36970" y="86668"/>
                  <a:pt x="36970" y="147881"/>
                </a:cubicBezTo>
                <a:cubicBezTo>
                  <a:pt x="36970" y="209095"/>
                  <a:pt x="86668" y="258792"/>
                  <a:pt x="147881" y="258792"/>
                </a:cubicBezTo>
                <a:cubicBezTo>
                  <a:pt x="209095" y="258792"/>
                  <a:pt x="258792" y="209095"/>
                  <a:pt x="258792" y="147881"/>
                </a:cubicBezTo>
                <a:close/>
                <a:moveTo>
                  <a:pt x="0" y="147881"/>
                </a:moveTo>
                <a:cubicBezTo>
                  <a:pt x="0" y="66263"/>
                  <a:pt x="66263" y="0"/>
                  <a:pt x="147881" y="0"/>
                </a:cubicBezTo>
                <a:cubicBezTo>
                  <a:pt x="229499" y="0"/>
                  <a:pt x="295763" y="66263"/>
                  <a:pt x="295763" y="147881"/>
                </a:cubicBezTo>
                <a:cubicBezTo>
                  <a:pt x="295763" y="229499"/>
                  <a:pt x="229499" y="295763"/>
                  <a:pt x="147881" y="295763"/>
                </a:cubicBezTo>
                <a:cubicBezTo>
                  <a:pt x="66263" y="295763"/>
                  <a:pt x="0" y="229499"/>
                  <a:pt x="0" y="147881"/>
                </a:cubicBezTo>
                <a:close/>
                <a:moveTo>
                  <a:pt x="147881" y="194094"/>
                </a:moveTo>
                <a:cubicBezTo>
                  <a:pt x="173387" y="194094"/>
                  <a:pt x="194094" y="173387"/>
                  <a:pt x="194094" y="147881"/>
                </a:cubicBezTo>
                <a:cubicBezTo>
                  <a:pt x="194094" y="122376"/>
                  <a:pt x="173387" y="101668"/>
                  <a:pt x="147881" y="101668"/>
                </a:cubicBezTo>
                <a:cubicBezTo>
                  <a:pt x="122376" y="101668"/>
                  <a:pt x="101668" y="122376"/>
                  <a:pt x="101668" y="147881"/>
                </a:cubicBezTo>
                <a:cubicBezTo>
                  <a:pt x="101668" y="173387"/>
                  <a:pt x="122376" y="194094"/>
                  <a:pt x="147881" y="194094"/>
                </a:cubicBezTo>
                <a:close/>
                <a:moveTo>
                  <a:pt x="147881" y="64698"/>
                </a:moveTo>
                <a:cubicBezTo>
                  <a:pt x="193792" y="64698"/>
                  <a:pt x="231065" y="101971"/>
                  <a:pt x="231065" y="147881"/>
                </a:cubicBezTo>
                <a:cubicBezTo>
                  <a:pt x="231065" y="193792"/>
                  <a:pt x="193792" y="231065"/>
                  <a:pt x="147881" y="231065"/>
                </a:cubicBezTo>
                <a:cubicBezTo>
                  <a:pt x="101971" y="231065"/>
                  <a:pt x="64698" y="193792"/>
                  <a:pt x="64698" y="147881"/>
                </a:cubicBezTo>
                <a:cubicBezTo>
                  <a:pt x="64698" y="101971"/>
                  <a:pt x="101971" y="64698"/>
                  <a:pt x="147881" y="64698"/>
                </a:cubicBezTo>
                <a:close/>
                <a:moveTo>
                  <a:pt x="129396" y="147881"/>
                </a:moveTo>
                <a:cubicBezTo>
                  <a:pt x="129396" y="137679"/>
                  <a:pt x="137679" y="129396"/>
                  <a:pt x="147881" y="129396"/>
                </a:cubicBezTo>
                <a:cubicBezTo>
                  <a:pt x="158084" y="129396"/>
                  <a:pt x="166367" y="137679"/>
                  <a:pt x="166367" y="147881"/>
                </a:cubicBezTo>
                <a:cubicBezTo>
                  <a:pt x="166367" y="158084"/>
                  <a:pt x="158084" y="166367"/>
                  <a:pt x="147881" y="166367"/>
                </a:cubicBezTo>
                <a:cubicBezTo>
                  <a:pt x="137679" y="166367"/>
                  <a:pt x="129396" y="158084"/>
                  <a:pt x="129396" y="147881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513" y="4775750"/>
            <a:ext cx="4641833" cy="23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58513" y="5071513"/>
            <a:ext cx="4625402" cy="213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</a:t>
            </a:r>
            <a:pPr>
              <a:lnSpc>
                <a:spcPct val="140000"/>
              </a:lnSpc>
            </a:pPr>
            <a:r>
              <a:rPr lang="en-US" sz="1035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and data quality</a:t>
            </a:r>
            <a:pPr>
              <a:lnSpc>
                <a:spcPct val="140000"/>
              </a:lnSpc>
            </a:pPr>
            <a:r>
              <a:rPr lang="en-US" sz="103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modeling to ensure reliable results.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92" y="334945"/>
            <a:ext cx="1080198" cy="334945"/>
          </a:xfrm>
          <a:custGeom>
            <a:avLst/>
            <a:gdLst/>
            <a:ahLst/>
            <a:cxnLst/>
            <a:rect l="l" t="t" r="r" b="b"/>
            <a:pathLst>
              <a:path w="1080198" h="334945">
                <a:moveTo>
                  <a:pt x="0" y="0"/>
                </a:moveTo>
                <a:lnTo>
                  <a:pt x="1080198" y="0"/>
                </a:lnTo>
                <a:lnTo>
                  <a:pt x="1080198" y="334945"/>
                </a:lnTo>
                <a:lnTo>
                  <a:pt x="0" y="334945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1692" y="334945"/>
            <a:ext cx="33495" cy="334945"/>
          </a:xfrm>
          <a:custGeom>
            <a:avLst/>
            <a:gdLst/>
            <a:ahLst/>
            <a:cxnLst/>
            <a:rect l="l" t="t" r="r" b="b"/>
            <a:pathLst>
              <a:path w="33495" h="334945">
                <a:moveTo>
                  <a:pt x="0" y="0"/>
                </a:moveTo>
                <a:lnTo>
                  <a:pt x="33495" y="0"/>
                </a:lnTo>
                <a:lnTo>
                  <a:pt x="33495" y="334945"/>
                </a:lnTo>
                <a:lnTo>
                  <a:pt x="0" y="334945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02418" y="401934"/>
            <a:ext cx="86248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spc="53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4945" y="803868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Assessment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692" y="1406769"/>
            <a:ext cx="11505363" cy="611275"/>
          </a:xfrm>
          <a:custGeom>
            <a:avLst/>
            <a:gdLst/>
            <a:ahLst/>
            <a:cxnLst/>
            <a:rect l="l" t="t" r="r" b="b"/>
            <a:pathLst>
              <a:path w="11505363" h="611275">
                <a:moveTo>
                  <a:pt x="33492" y="0"/>
                </a:moveTo>
                <a:lnTo>
                  <a:pt x="11471871" y="0"/>
                </a:lnTo>
                <a:cubicBezTo>
                  <a:pt x="11490368" y="0"/>
                  <a:pt x="11505363" y="14995"/>
                  <a:pt x="11505363" y="33492"/>
                </a:cubicBezTo>
                <a:lnTo>
                  <a:pt x="11505363" y="577783"/>
                </a:lnTo>
                <a:cubicBezTo>
                  <a:pt x="11505363" y="596280"/>
                  <a:pt x="11490368" y="611275"/>
                  <a:pt x="11471871" y="611275"/>
                </a:cubicBezTo>
                <a:lnTo>
                  <a:pt x="33492" y="611275"/>
                </a:lnTo>
                <a:cubicBezTo>
                  <a:pt x="14995" y="611275"/>
                  <a:pt x="0" y="596280"/>
                  <a:pt x="0" y="577783"/>
                </a:cubicBezTo>
                <a:lnTo>
                  <a:pt x="0" y="33492"/>
                </a:lnTo>
                <a:cubicBezTo>
                  <a:pt x="0" y="15007"/>
                  <a:pt x="15007" y="0"/>
                  <a:pt x="3349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1692" y="1406769"/>
            <a:ext cx="33495" cy="611275"/>
          </a:xfrm>
          <a:custGeom>
            <a:avLst/>
            <a:gdLst/>
            <a:ahLst/>
            <a:cxnLst/>
            <a:rect l="l" t="t" r="r" b="b"/>
            <a:pathLst>
              <a:path w="33495" h="611275">
                <a:moveTo>
                  <a:pt x="33495" y="0"/>
                </a:moveTo>
                <a:lnTo>
                  <a:pt x="33495" y="0"/>
                </a:lnTo>
                <a:lnTo>
                  <a:pt x="33495" y="611275"/>
                </a:lnTo>
                <a:lnTo>
                  <a:pt x="33495" y="611275"/>
                </a:lnTo>
                <a:cubicBezTo>
                  <a:pt x="14996" y="611275"/>
                  <a:pt x="0" y="596279"/>
                  <a:pt x="0" y="57778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35912" y="1574242"/>
            <a:ext cx="11237407" cy="276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quality checks were performed to ensure data reliability and validity before model training.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4945" y="2181330"/>
            <a:ext cx="5777802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D8A2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Areas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1644" y="2589860"/>
            <a:ext cx="5665596" cy="683288"/>
          </a:xfrm>
          <a:custGeom>
            <a:avLst/>
            <a:gdLst/>
            <a:ahLst/>
            <a:cxnLst/>
            <a:rect l="l" t="t" r="r" b="b"/>
            <a:pathLst>
              <a:path w="5665596" h="683288">
                <a:moveTo>
                  <a:pt x="66990" y="0"/>
                </a:moveTo>
                <a:lnTo>
                  <a:pt x="5598606" y="0"/>
                </a:lnTo>
                <a:cubicBezTo>
                  <a:pt x="5635603" y="0"/>
                  <a:pt x="5665596" y="29992"/>
                  <a:pt x="5665596" y="66990"/>
                </a:cubicBezTo>
                <a:lnTo>
                  <a:pt x="5665596" y="616298"/>
                </a:lnTo>
                <a:cubicBezTo>
                  <a:pt x="5665596" y="653296"/>
                  <a:pt x="5635603" y="683288"/>
                  <a:pt x="5598606" y="683288"/>
                </a:cubicBezTo>
                <a:lnTo>
                  <a:pt x="66990" y="683288"/>
                </a:lnTo>
                <a:cubicBezTo>
                  <a:pt x="30017" y="683288"/>
                  <a:pt x="0" y="653271"/>
                  <a:pt x="0" y="616298"/>
                </a:cubicBezTo>
                <a:lnTo>
                  <a:pt x="0" y="66990"/>
                </a:lnTo>
                <a:cubicBezTo>
                  <a:pt x="0" y="29992"/>
                  <a:pt x="29992" y="0"/>
                  <a:pt x="6699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321" y="2730534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200967" y="0"/>
                </a:moveTo>
                <a:lnTo>
                  <a:pt x="200967" y="0"/>
                </a:lnTo>
                <a:cubicBezTo>
                  <a:pt x="311884" y="0"/>
                  <a:pt x="401934" y="90050"/>
                  <a:pt x="401934" y="200967"/>
                </a:cubicBezTo>
                <a:lnTo>
                  <a:pt x="401934" y="200967"/>
                </a:lnTo>
                <a:cubicBezTo>
                  <a:pt x="401934" y="311884"/>
                  <a:pt x="311884" y="401934"/>
                  <a:pt x="200967" y="401934"/>
                </a:cubicBezTo>
                <a:lnTo>
                  <a:pt x="200967" y="401934"/>
                </a:lnTo>
                <a:cubicBezTo>
                  <a:pt x="90050" y="401934"/>
                  <a:pt x="0" y="311884"/>
                  <a:pt x="0" y="200967"/>
                </a:cubicBezTo>
                <a:lnTo>
                  <a:pt x="0" y="200967"/>
                </a:lnTo>
                <a:cubicBezTo>
                  <a:pt x="0" y="90050"/>
                  <a:pt x="90050" y="0"/>
                  <a:pt x="20096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9552" y="2847765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167473"/>
                </a:moveTo>
                <a:cubicBezTo>
                  <a:pt x="129952" y="167473"/>
                  <a:pt x="167473" y="129952"/>
                  <a:pt x="167473" y="83736"/>
                </a:cubicBezTo>
                <a:cubicBezTo>
                  <a:pt x="167473" y="37521"/>
                  <a:pt x="129952" y="0"/>
                  <a:pt x="83736" y="0"/>
                </a:cubicBezTo>
                <a:cubicBezTo>
                  <a:pt x="37521" y="0"/>
                  <a:pt x="0" y="37521"/>
                  <a:pt x="0" y="83736"/>
                </a:cubicBezTo>
                <a:cubicBezTo>
                  <a:pt x="0" y="129952"/>
                  <a:pt x="37521" y="167473"/>
                  <a:pt x="83736" y="167473"/>
                </a:cubicBezTo>
                <a:close/>
                <a:moveTo>
                  <a:pt x="83736" y="57569"/>
                </a:moveTo>
                <a:cubicBezTo>
                  <a:pt x="77947" y="57569"/>
                  <a:pt x="73269" y="62246"/>
                  <a:pt x="73269" y="68036"/>
                </a:cubicBezTo>
                <a:cubicBezTo>
                  <a:pt x="73269" y="72386"/>
                  <a:pt x="69769" y="75886"/>
                  <a:pt x="65419" y="75886"/>
                </a:cubicBezTo>
                <a:cubicBezTo>
                  <a:pt x="61069" y="75886"/>
                  <a:pt x="57569" y="72386"/>
                  <a:pt x="57569" y="68036"/>
                </a:cubicBezTo>
                <a:cubicBezTo>
                  <a:pt x="57569" y="53578"/>
                  <a:pt x="69279" y="41868"/>
                  <a:pt x="83736" y="41868"/>
                </a:cubicBezTo>
                <a:cubicBezTo>
                  <a:pt x="98194" y="41868"/>
                  <a:pt x="109904" y="53578"/>
                  <a:pt x="109904" y="68036"/>
                </a:cubicBezTo>
                <a:cubicBezTo>
                  <a:pt x="109904" y="83475"/>
                  <a:pt x="98128" y="90016"/>
                  <a:pt x="91587" y="92404"/>
                </a:cubicBezTo>
                <a:lnTo>
                  <a:pt x="91587" y="93647"/>
                </a:lnTo>
                <a:cubicBezTo>
                  <a:pt x="91587" y="97998"/>
                  <a:pt x="88087" y="101498"/>
                  <a:pt x="83736" y="101498"/>
                </a:cubicBezTo>
                <a:cubicBezTo>
                  <a:pt x="79386" y="101498"/>
                  <a:pt x="75886" y="97998"/>
                  <a:pt x="75886" y="93647"/>
                </a:cubicBezTo>
                <a:lnTo>
                  <a:pt x="75886" y="90998"/>
                </a:lnTo>
                <a:cubicBezTo>
                  <a:pt x="75886" y="84292"/>
                  <a:pt x="80727" y="79484"/>
                  <a:pt x="85732" y="77849"/>
                </a:cubicBezTo>
                <a:cubicBezTo>
                  <a:pt x="87825" y="77162"/>
                  <a:pt x="90049" y="76050"/>
                  <a:pt x="91685" y="74479"/>
                </a:cubicBezTo>
                <a:cubicBezTo>
                  <a:pt x="93091" y="73106"/>
                  <a:pt x="94203" y="71209"/>
                  <a:pt x="94203" y="68068"/>
                </a:cubicBezTo>
                <a:cubicBezTo>
                  <a:pt x="94203" y="62279"/>
                  <a:pt x="89526" y="57601"/>
                  <a:pt x="83736" y="57601"/>
                </a:cubicBezTo>
                <a:close/>
                <a:moveTo>
                  <a:pt x="73269" y="120371"/>
                </a:moveTo>
                <a:cubicBezTo>
                  <a:pt x="73269" y="114594"/>
                  <a:pt x="77959" y="109904"/>
                  <a:pt x="83736" y="109904"/>
                </a:cubicBezTo>
                <a:cubicBezTo>
                  <a:pt x="89513" y="109904"/>
                  <a:pt x="94203" y="114594"/>
                  <a:pt x="94203" y="120371"/>
                </a:cubicBezTo>
                <a:cubicBezTo>
                  <a:pt x="94203" y="126148"/>
                  <a:pt x="89513" y="130838"/>
                  <a:pt x="83736" y="130838"/>
                </a:cubicBezTo>
                <a:cubicBezTo>
                  <a:pt x="77959" y="130838"/>
                  <a:pt x="73269" y="126148"/>
                  <a:pt x="73269" y="12037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18233" y="2730534"/>
            <a:ext cx="188406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8233" y="2964996"/>
            <a:ext cx="1867319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and quantified null entries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644" y="3387027"/>
            <a:ext cx="5665596" cy="683288"/>
          </a:xfrm>
          <a:custGeom>
            <a:avLst/>
            <a:gdLst/>
            <a:ahLst/>
            <a:cxnLst/>
            <a:rect l="l" t="t" r="r" b="b"/>
            <a:pathLst>
              <a:path w="5665596" h="683288">
                <a:moveTo>
                  <a:pt x="66990" y="0"/>
                </a:moveTo>
                <a:lnTo>
                  <a:pt x="5598606" y="0"/>
                </a:lnTo>
                <a:cubicBezTo>
                  <a:pt x="5635603" y="0"/>
                  <a:pt x="5665596" y="29992"/>
                  <a:pt x="5665596" y="66990"/>
                </a:cubicBezTo>
                <a:lnTo>
                  <a:pt x="5665596" y="616298"/>
                </a:lnTo>
                <a:cubicBezTo>
                  <a:pt x="5665596" y="653296"/>
                  <a:pt x="5635603" y="683288"/>
                  <a:pt x="5598606" y="683288"/>
                </a:cubicBezTo>
                <a:lnTo>
                  <a:pt x="66990" y="683288"/>
                </a:lnTo>
                <a:cubicBezTo>
                  <a:pt x="30017" y="683288"/>
                  <a:pt x="0" y="653271"/>
                  <a:pt x="0" y="616298"/>
                </a:cubicBezTo>
                <a:lnTo>
                  <a:pt x="0" y="66990"/>
                </a:lnTo>
                <a:cubicBezTo>
                  <a:pt x="0" y="29992"/>
                  <a:pt x="29992" y="0"/>
                  <a:pt x="6699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321" y="3527705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200967" y="0"/>
                </a:moveTo>
                <a:lnTo>
                  <a:pt x="200967" y="0"/>
                </a:lnTo>
                <a:cubicBezTo>
                  <a:pt x="311884" y="0"/>
                  <a:pt x="401934" y="90050"/>
                  <a:pt x="401934" y="200967"/>
                </a:cubicBezTo>
                <a:lnTo>
                  <a:pt x="401934" y="200967"/>
                </a:lnTo>
                <a:cubicBezTo>
                  <a:pt x="401934" y="311884"/>
                  <a:pt x="311884" y="401934"/>
                  <a:pt x="200967" y="401934"/>
                </a:cubicBezTo>
                <a:lnTo>
                  <a:pt x="200967" y="401934"/>
                </a:lnTo>
                <a:cubicBezTo>
                  <a:pt x="90050" y="401934"/>
                  <a:pt x="0" y="311884"/>
                  <a:pt x="0" y="200967"/>
                </a:cubicBezTo>
                <a:lnTo>
                  <a:pt x="0" y="200967"/>
                </a:lnTo>
                <a:cubicBezTo>
                  <a:pt x="0" y="90050"/>
                  <a:pt x="90050" y="0"/>
                  <a:pt x="200967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7" name="Shape 15"/>
          <p:cNvSpPr/>
          <p:nvPr/>
        </p:nvSpPr>
        <p:spPr>
          <a:xfrm>
            <a:off x="599552" y="3644936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94203" y="146538"/>
                </a:moveTo>
                <a:lnTo>
                  <a:pt x="20934" y="146538"/>
                </a:lnTo>
                <a:lnTo>
                  <a:pt x="20934" y="73269"/>
                </a:lnTo>
                <a:lnTo>
                  <a:pt x="36635" y="73269"/>
                </a:lnTo>
                <a:lnTo>
                  <a:pt x="36635" y="52335"/>
                </a:lnTo>
                <a:lnTo>
                  <a:pt x="20934" y="52335"/>
                </a:lnTo>
                <a:cubicBezTo>
                  <a:pt x="9388" y="52335"/>
                  <a:pt x="0" y="61723"/>
                  <a:pt x="0" y="73269"/>
                </a:cubicBezTo>
                <a:lnTo>
                  <a:pt x="0" y="146538"/>
                </a:lnTo>
                <a:cubicBezTo>
                  <a:pt x="0" y="158085"/>
                  <a:pt x="9388" y="167473"/>
                  <a:pt x="20934" y="167473"/>
                </a:cubicBezTo>
                <a:lnTo>
                  <a:pt x="94203" y="167473"/>
                </a:lnTo>
                <a:cubicBezTo>
                  <a:pt x="105750" y="167473"/>
                  <a:pt x="115137" y="158085"/>
                  <a:pt x="115137" y="146538"/>
                </a:cubicBezTo>
                <a:lnTo>
                  <a:pt x="115137" y="130838"/>
                </a:lnTo>
                <a:lnTo>
                  <a:pt x="94203" y="130838"/>
                </a:lnTo>
                <a:lnTo>
                  <a:pt x="94203" y="146538"/>
                </a:lnTo>
                <a:close/>
                <a:moveTo>
                  <a:pt x="73269" y="115137"/>
                </a:moveTo>
                <a:lnTo>
                  <a:pt x="146538" y="115137"/>
                </a:lnTo>
                <a:cubicBezTo>
                  <a:pt x="158085" y="115137"/>
                  <a:pt x="167473" y="105750"/>
                  <a:pt x="167473" y="94203"/>
                </a:cubicBezTo>
                <a:lnTo>
                  <a:pt x="167473" y="20934"/>
                </a:lnTo>
                <a:cubicBezTo>
                  <a:pt x="167473" y="9388"/>
                  <a:pt x="158085" y="0"/>
                  <a:pt x="146538" y="0"/>
                </a:cubicBezTo>
                <a:lnTo>
                  <a:pt x="73269" y="0"/>
                </a:lnTo>
                <a:cubicBezTo>
                  <a:pt x="61723" y="0"/>
                  <a:pt x="52335" y="9388"/>
                  <a:pt x="52335" y="20934"/>
                </a:cubicBezTo>
                <a:lnTo>
                  <a:pt x="52335" y="94203"/>
                </a:lnTo>
                <a:cubicBezTo>
                  <a:pt x="52335" y="105750"/>
                  <a:pt x="61723" y="115137"/>
                  <a:pt x="73269" y="115137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18233" y="3527705"/>
            <a:ext cx="1440264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Rows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8233" y="3762166"/>
            <a:ext cx="142351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Detected repeated records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1644" y="4184198"/>
            <a:ext cx="5665596" cy="683288"/>
          </a:xfrm>
          <a:custGeom>
            <a:avLst/>
            <a:gdLst/>
            <a:ahLst/>
            <a:cxnLst/>
            <a:rect l="l" t="t" r="r" b="b"/>
            <a:pathLst>
              <a:path w="5665596" h="683288">
                <a:moveTo>
                  <a:pt x="66990" y="0"/>
                </a:moveTo>
                <a:lnTo>
                  <a:pt x="5598606" y="0"/>
                </a:lnTo>
                <a:cubicBezTo>
                  <a:pt x="5635603" y="0"/>
                  <a:pt x="5665596" y="29992"/>
                  <a:pt x="5665596" y="66990"/>
                </a:cubicBezTo>
                <a:lnTo>
                  <a:pt x="5665596" y="616298"/>
                </a:lnTo>
                <a:cubicBezTo>
                  <a:pt x="5665596" y="653296"/>
                  <a:pt x="5635603" y="683288"/>
                  <a:pt x="5598606" y="683288"/>
                </a:cubicBezTo>
                <a:lnTo>
                  <a:pt x="66990" y="683288"/>
                </a:lnTo>
                <a:cubicBezTo>
                  <a:pt x="30017" y="683288"/>
                  <a:pt x="0" y="653271"/>
                  <a:pt x="0" y="616298"/>
                </a:cubicBezTo>
                <a:lnTo>
                  <a:pt x="0" y="66990"/>
                </a:lnTo>
                <a:cubicBezTo>
                  <a:pt x="0" y="29992"/>
                  <a:pt x="29992" y="0"/>
                  <a:pt x="6699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321" y="4324876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200967" y="0"/>
                </a:moveTo>
                <a:lnTo>
                  <a:pt x="200967" y="0"/>
                </a:lnTo>
                <a:cubicBezTo>
                  <a:pt x="311884" y="0"/>
                  <a:pt x="401934" y="90050"/>
                  <a:pt x="401934" y="200967"/>
                </a:cubicBezTo>
                <a:lnTo>
                  <a:pt x="401934" y="200967"/>
                </a:lnTo>
                <a:cubicBezTo>
                  <a:pt x="401934" y="311884"/>
                  <a:pt x="311884" y="401934"/>
                  <a:pt x="200967" y="401934"/>
                </a:cubicBezTo>
                <a:lnTo>
                  <a:pt x="200967" y="401934"/>
                </a:lnTo>
                <a:cubicBezTo>
                  <a:pt x="90050" y="401934"/>
                  <a:pt x="0" y="311884"/>
                  <a:pt x="0" y="200967"/>
                </a:cubicBezTo>
                <a:lnTo>
                  <a:pt x="0" y="200967"/>
                </a:lnTo>
                <a:cubicBezTo>
                  <a:pt x="0" y="90050"/>
                  <a:pt x="90050" y="0"/>
                  <a:pt x="200967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2" name="Shape 20"/>
          <p:cNvSpPr/>
          <p:nvPr/>
        </p:nvSpPr>
        <p:spPr>
          <a:xfrm>
            <a:off x="599552" y="4442107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20934" y="20934"/>
                </a:moveTo>
                <a:cubicBezTo>
                  <a:pt x="20934" y="15144"/>
                  <a:pt x="16257" y="10467"/>
                  <a:pt x="10467" y="10467"/>
                </a:cubicBezTo>
                <a:cubicBezTo>
                  <a:pt x="4677" y="10467"/>
                  <a:pt x="0" y="15144"/>
                  <a:pt x="0" y="20934"/>
                </a:cubicBezTo>
                <a:lnTo>
                  <a:pt x="0" y="130838"/>
                </a:lnTo>
                <a:cubicBezTo>
                  <a:pt x="0" y="145296"/>
                  <a:pt x="11710" y="157005"/>
                  <a:pt x="26168" y="157005"/>
                </a:cubicBezTo>
                <a:lnTo>
                  <a:pt x="157005" y="157005"/>
                </a:lnTo>
                <a:cubicBezTo>
                  <a:pt x="162795" y="157005"/>
                  <a:pt x="167473" y="152328"/>
                  <a:pt x="167473" y="146538"/>
                </a:cubicBezTo>
                <a:cubicBezTo>
                  <a:pt x="167473" y="140749"/>
                  <a:pt x="162795" y="136071"/>
                  <a:pt x="157005" y="136071"/>
                </a:cubicBezTo>
                <a:lnTo>
                  <a:pt x="26168" y="136071"/>
                </a:lnTo>
                <a:cubicBezTo>
                  <a:pt x="23289" y="136071"/>
                  <a:pt x="20934" y="133716"/>
                  <a:pt x="20934" y="130838"/>
                </a:cubicBezTo>
                <a:lnTo>
                  <a:pt x="20934" y="20934"/>
                </a:lnTo>
                <a:close/>
                <a:moveTo>
                  <a:pt x="153931" y="49260"/>
                </a:moveTo>
                <a:cubicBezTo>
                  <a:pt x="158019" y="45172"/>
                  <a:pt x="158019" y="38532"/>
                  <a:pt x="153931" y="34443"/>
                </a:cubicBezTo>
                <a:cubicBezTo>
                  <a:pt x="149842" y="30354"/>
                  <a:pt x="143202" y="30354"/>
                  <a:pt x="139113" y="34443"/>
                </a:cubicBezTo>
                <a:lnTo>
                  <a:pt x="104670" y="68919"/>
                </a:lnTo>
                <a:lnTo>
                  <a:pt x="85895" y="50176"/>
                </a:lnTo>
                <a:cubicBezTo>
                  <a:pt x="81806" y="46088"/>
                  <a:pt x="75166" y="46088"/>
                  <a:pt x="71078" y="50176"/>
                </a:cubicBezTo>
                <a:lnTo>
                  <a:pt x="39677" y="81577"/>
                </a:lnTo>
                <a:cubicBezTo>
                  <a:pt x="35588" y="85666"/>
                  <a:pt x="35588" y="92306"/>
                  <a:pt x="39677" y="96395"/>
                </a:cubicBezTo>
                <a:cubicBezTo>
                  <a:pt x="43765" y="100484"/>
                  <a:pt x="50405" y="100484"/>
                  <a:pt x="54494" y="96395"/>
                </a:cubicBezTo>
                <a:lnTo>
                  <a:pt x="78503" y="72386"/>
                </a:lnTo>
                <a:lnTo>
                  <a:pt x="97278" y="91161"/>
                </a:lnTo>
                <a:cubicBezTo>
                  <a:pt x="101367" y="95250"/>
                  <a:pt x="108007" y="95250"/>
                  <a:pt x="112095" y="91161"/>
                </a:cubicBezTo>
                <a:lnTo>
                  <a:pt x="153964" y="4929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1018233" y="4324876"/>
            <a:ext cx="126441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8233" y="4559337"/>
            <a:ext cx="124767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Flagged extreme values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644" y="4981365"/>
            <a:ext cx="5665596" cy="683288"/>
          </a:xfrm>
          <a:custGeom>
            <a:avLst/>
            <a:gdLst/>
            <a:ahLst/>
            <a:cxnLst/>
            <a:rect l="l" t="t" r="r" b="b"/>
            <a:pathLst>
              <a:path w="5665596" h="683288">
                <a:moveTo>
                  <a:pt x="66990" y="0"/>
                </a:moveTo>
                <a:lnTo>
                  <a:pt x="5598606" y="0"/>
                </a:lnTo>
                <a:cubicBezTo>
                  <a:pt x="5635603" y="0"/>
                  <a:pt x="5665596" y="29992"/>
                  <a:pt x="5665596" y="66990"/>
                </a:cubicBezTo>
                <a:lnTo>
                  <a:pt x="5665596" y="616298"/>
                </a:lnTo>
                <a:cubicBezTo>
                  <a:pt x="5665596" y="653296"/>
                  <a:pt x="5635603" y="683288"/>
                  <a:pt x="5598606" y="683288"/>
                </a:cubicBezTo>
                <a:lnTo>
                  <a:pt x="66990" y="683288"/>
                </a:lnTo>
                <a:cubicBezTo>
                  <a:pt x="30017" y="683288"/>
                  <a:pt x="0" y="653271"/>
                  <a:pt x="0" y="616298"/>
                </a:cubicBezTo>
                <a:lnTo>
                  <a:pt x="0" y="66990"/>
                </a:lnTo>
                <a:cubicBezTo>
                  <a:pt x="0" y="29992"/>
                  <a:pt x="29992" y="0"/>
                  <a:pt x="6699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321" y="5122043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200967" y="0"/>
                </a:moveTo>
                <a:lnTo>
                  <a:pt x="200967" y="0"/>
                </a:lnTo>
                <a:cubicBezTo>
                  <a:pt x="311884" y="0"/>
                  <a:pt x="401934" y="90050"/>
                  <a:pt x="401934" y="200967"/>
                </a:cubicBezTo>
                <a:lnTo>
                  <a:pt x="401934" y="200967"/>
                </a:lnTo>
                <a:cubicBezTo>
                  <a:pt x="401934" y="311884"/>
                  <a:pt x="311884" y="401934"/>
                  <a:pt x="200967" y="401934"/>
                </a:cubicBezTo>
                <a:lnTo>
                  <a:pt x="200967" y="401934"/>
                </a:lnTo>
                <a:cubicBezTo>
                  <a:pt x="90050" y="401934"/>
                  <a:pt x="0" y="311884"/>
                  <a:pt x="0" y="200967"/>
                </a:cubicBezTo>
                <a:lnTo>
                  <a:pt x="0" y="200967"/>
                </a:lnTo>
                <a:cubicBezTo>
                  <a:pt x="0" y="90050"/>
                  <a:pt x="90050" y="0"/>
                  <a:pt x="20096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7" name="Shape 25"/>
          <p:cNvSpPr/>
          <p:nvPr/>
        </p:nvSpPr>
        <p:spPr>
          <a:xfrm>
            <a:off x="599552" y="5239273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83736" y="167473"/>
                </a:moveTo>
                <a:cubicBezTo>
                  <a:pt x="129952" y="167473"/>
                  <a:pt x="167473" y="129952"/>
                  <a:pt x="167473" y="83736"/>
                </a:cubicBezTo>
                <a:cubicBezTo>
                  <a:pt x="167473" y="37521"/>
                  <a:pt x="129952" y="0"/>
                  <a:pt x="83736" y="0"/>
                </a:cubicBezTo>
                <a:cubicBezTo>
                  <a:pt x="37521" y="0"/>
                  <a:pt x="0" y="37521"/>
                  <a:pt x="0" y="83736"/>
                </a:cubicBezTo>
                <a:cubicBezTo>
                  <a:pt x="0" y="129952"/>
                  <a:pt x="37521" y="167473"/>
                  <a:pt x="83736" y="167473"/>
                </a:cubicBezTo>
                <a:close/>
                <a:moveTo>
                  <a:pt x="54625" y="54625"/>
                </a:moveTo>
                <a:cubicBezTo>
                  <a:pt x="57700" y="51550"/>
                  <a:pt x="62671" y="51550"/>
                  <a:pt x="65713" y="54625"/>
                </a:cubicBezTo>
                <a:lnTo>
                  <a:pt x="83704" y="72615"/>
                </a:lnTo>
                <a:lnTo>
                  <a:pt x="101694" y="54625"/>
                </a:lnTo>
                <a:cubicBezTo>
                  <a:pt x="104768" y="51550"/>
                  <a:pt x="109740" y="51550"/>
                  <a:pt x="112782" y="54625"/>
                </a:cubicBezTo>
                <a:cubicBezTo>
                  <a:pt x="115824" y="57700"/>
                  <a:pt x="115857" y="62671"/>
                  <a:pt x="112782" y="65713"/>
                </a:cubicBezTo>
                <a:lnTo>
                  <a:pt x="94792" y="83704"/>
                </a:lnTo>
                <a:lnTo>
                  <a:pt x="112782" y="101694"/>
                </a:lnTo>
                <a:cubicBezTo>
                  <a:pt x="115857" y="104768"/>
                  <a:pt x="115857" y="109740"/>
                  <a:pt x="112782" y="112782"/>
                </a:cubicBezTo>
                <a:cubicBezTo>
                  <a:pt x="109708" y="115824"/>
                  <a:pt x="104736" y="115857"/>
                  <a:pt x="101694" y="112782"/>
                </a:cubicBezTo>
                <a:lnTo>
                  <a:pt x="83704" y="94792"/>
                </a:lnTo>
                <a:lnTo>
                  <a:pt x="65713" y="112782"/>
                </a:lnTo>
                <a:cubicBezTo>
                  <a:pt x="62639" y="115857"/>
                  <a:pt x="57667" y="115857"/>
                  <a:pt x="54625" y="112782"/>
                </a:cubicBezTo>
                <a:cubicBezTo>
                  <a:pt x="51583" y="109708"/>
                  <a:pt x="51550" y="104736"/>
                  <a:pt x="54625" y="101694"/>
                </a:cubicBezTo>
                <a:lnTo>
                  <a:pt x="72615" y="83704"/>
                </a:lnTo>
                <a:lnTo>
                  <a:pt x="54625" y="65713"/>
                </a:lnTo>
                <a:cubicBezTo>
                  <a:pt x="51550" y="62639"/>
                  <a:pt x="51550" y="57667"/>
                  <a:pt x="54625" y="5462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18233" y="5122043"/>
            <a:ext cx="142351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 Values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8233" y="5356504"/>
            <a:ext cx="1406769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data entry errors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9736" y="2181330"/>
            <a:ext cx="5777802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D8A2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Validation Checks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6435" y="2589860"/>
            <a:ext cx="5665596" cy="2826936"/>
          </a:xfrm>
          <a:custGeom>
            <a:avLst/>
            <a:gdLst/>
            <a:ahLst/>
            <a:cxnLst/>
            <a:rect l="l" t="t" r="r" b="b"/>
            <a:pathLst>
              <a:path w="5665596" h="2826936">
                <a:moveTo>
                  <a:pt x="66998" y="0"/>
                </a:moveTo>
                <a:lnTo>
                  <a:pt x="5598597" y="0"/>
                </a:lnTo>
                <a:cubicBezTo>
                  <a:pt x="5635599" y="0"/>
                  <a:pt x="5665596" y="29996"/>
                  <a:pt x="5665596" y="66998"/>
                </a:cubicBezTo>
                <a:lnTo>
                  <a:pt x="5665596" y="2759938"/>
                </a:lnTo>
                <a:cubicBezTo>
                  <a:pt x="5665596" y="2796940"/>
                  <a:pt x="5635599" y="2826936"/>
                  <a:pt x="5598597" y="2826936"/>
                </a:cubicBezTo>
                <a:lnTo>
                  <a:pt x="66998" y="2826936"/>
                </a:lnTo>
                <a:cubicBezTo>
                  <a:pt x="29996" y="2826936"/>
                  <a:pt x="0" y="2796940"/>
                  <a:pt x="0" y="2759938"/>
                </a:cubicBezTo>
                <a:lnTo>
                  <a:pt x="0" y="66998"/>
                </a:lnTo>
                <a:cubicBezTo>
                  <a:pt x="0" y="29996"/>
                  <a:pt x="29996" y="0"/>
                  <a:pt x="66998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0607" y="2764029"/>
            <a:ext cx="5317253" cy="736879"/>
          </a:xfrm>
          <a:custGeom>
            <a:avLst/>
            <a:gdLst/>
            <a:ahLst/>
            <a:cxnLst/>
            <a:rect l="l" t="t" r="r" b="b"/>
            <a:pathLst>
              <a:path w="5317253" h="736879">
                <a:moveTo>
                  <a:pt x="33491" y="0"/>
                </a:moveTo>
                <a:lnTo>
                  <a:pt x="5283762" y="0"/>
                </a:lnTo>
                <a:cubicBezTo>
                  <a:pt x="5302258" y="0"/>
                  <a:pt x="5317253" y="14995"/>
                  <a:pt x="5317253" y="33491"/>
                </a:cubicBezTo>
                <a:lnTo>
                  <a:pt x="5317253" y="703388"/>
                </a:lnTo>
                <a:cubicBezTo>
                  <a:pt x="5317253" y="721885"/>
                  <a:pt x="5302258" y="736879"/>
                  <a:pt x="5283762" y="736879"/>
                </a:cubicBezTo>
                <a:lnTo>
                  <a:pt x="33491" y="736879"/>
                </a:lnTo>
                <a:cubicBezTo>
                  <a:pt x="14995" y="736879"/>
                  <a:pt x="0" y="721885"/>
                  <a:pt x="0" y="703388"/>
                </a:cubicBezTo>
                <a:lnTo>
                  <a:pt x="0" y="33491"/>
                </a:lnTo>
                <a:cubicBezTo>
                  <a:pt x="0" y="15007"/>
                  <a:pt x="15007" y="0"/>
                  <a:pt x="334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94585" y="2931501"/>
            <a:ext cx="334945" cy="334945"/>
          </a:xfrm>
          <a:custGeom>
            <a:avLst/>
            <a:gdLst/>
            <a:ahLst/>
            <a:cxnLst/>
            <a:rect l="l" t="t" r="r" b="b"/>
            <a:pathLst>
              <a:path w="334945" h="334945">
                <a:moveTo>
                  <a:pt x="167473" y="0"/>
                </a:moveTo>
                <a:lnTo>
                  <a:pt x="167473" y="0"/>
                </a:lnTo>
                <a:cubicBezTo>
                  <a:pt x="259903" y="0"/>
                  <a:pt x="334945" y="75042"/>
                  <a:pt x="334945" y="167473"/>
                </a:cubicBezTo>
                <a:lnTo>
                  <a:pt x="334945" y="167473"/>
                </a:lnTo>
                <a:cubicBezTo>
                  <a:pt x="334945" y="259903"/>
                  <a:pt x="259903" y="334945"/>
                  <a:pt x="167473" y="334945"/>
                </a:cubicBezTo>
                <a:lnTo>
                  <a:pt x="167473" y="334945"/>
                </a:lnTo>
                <a:cubicBezTo>
                  <a:pt x="75042" y="334945"/>
                  <a:pt x="0" y="259903"/>
                  <a:pt x="0" y="167473"/>
                </a:cubicBezTo>
                <a:lnTo>
                  <a:pt x="0" y="167473"/>
                </a:lnTo>
                <a:cubicBezTo>
                  <a:pt x="0" y="75042"/>
                  <a:pt x="75042" y="0"/>
                  <a:pt x="167473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4" name="Shape 32"/>
          <p:cNvSpPr/>
          <p:nvPr/>
        </p:nvSpPr>
        <p:spPr>
          <a:xfrm>
            <a:off x="6598209" y="3023611"/>
            <a:ext cx="131885" cy="150725"/>
          </a:xfrm>
          <a:custGeom>
            <a:avLst/>
            <a:gdLst/>
            <a:ahLst/>
            <a:cxnLst/>
            <a:rect l="l" t="t" r="r" b="b"/>
            <a:pathLst>
              <a:path w="131885" h="150725">
                <a:moveTo>
                  <a:pt x="0" y="75363"/>
                </a:moveTo>
                <a:cubicBezTo>
                  <a:pt x="0" y="70152"/>
                  <a:pt x="4210" y="65942"/>
                  <a:pt x="9420" y="65942"/>
                </a:cubicBezTo>
                <a:lnTo>
                  <a:pt x="122464" y="65942"/>
                </a:lnTo>
                <a:cubicBezTo>
                  <a:pt x="127675" y="65942"/>
                  <a:pt x="131885" y="70152"/>
                  <a:pt x="131885" y="75363"/>
                </a:cubicBezTo>
                <a:cubicBezTo>
                  <a:pt x="131885" y="80573"/>
                  <a:pt x="127675" y="84783"/>
                  <a:pt x="122464" y="84783"/>
                </a:cubicBezTo>
                <a:lnTo>
                  <a:pt x="9420" y="84783"/>
                </a:lnTo>
                <a:cubicBezTo>
                  <a:pt x="4210" y="84783"/>
                  <a:pt x="0" y="80573"/>
                  <a:pt x="0" y="7536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6963508" y="2898007"/>
            <a:ext cx="456362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Fares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63508" y="3165963"/>
            <a:ext cx="455525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trips with negative fare amounts that indicate data errors or refunds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60607" y="3634886"/>
            <a:ext cx="5317253" cy="736879"/>
          </a:xfrm>
          <a:custGeom>
            <a:avLst/>
            <a:gdLst/>
            <a:ahLst/>
            <a:cxnLst/>
            <a:rect l="l" t="t" r="r" b="b"/>
            <a:pathLst>
              <a:path w="5317253" h="736879">
                <a:moveTo>
                  <a:pt x="33491" y="0"/>
                </a:moveTo>
                <a:lnTo>
                  <a:pt x="5283762" y="0"/>
                </a:lnTo>
                <a:cubicBezTo>
                  <a:pt x="5302258" y="0"/>
                  <a:pt x="5317253" y="14995"/>
                  <a:pt x="5317253" y="33491"/>
                </a:cubicBezTo>
                <a:lnTo>
                  <a:pt x="5317253" y="703388"/>
                </a:lnTo>
                <a:cubicBezTo>
                  <a:pt x="5317253" y="721885"/>
                  <a:pt x="5302258" y="736879"/>
                  <a:pt x="5283762" y="736879"/>
                </a:cubicBezTo>
                <a:lnTo>
                  <a:pt x="33491" y="736879"/>
                </a:lnTo>
                <a:cubicBezTo>
                  <a:pt x="14995" y="736879"/>
                  <a:pt x="0" y="721885"/>
                  <a:pt x="0" y="703388"/>
                </a:cubicBezTo>
                <a:lnTo>
                  <a:pt x="0" y="33491"/>
                </a:lnTo>
                <a:cubicBezTo>
                  <a:pt x="0" y="15007"/>
                  <a:pt x="15007" y="0"/>
                  <a:pt x="33491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94585" y="3802358"/>
            <a:ext cx="334945" cy="334945"/>
          </a:xfrm>
          <a:custGeom>
            <a:avLst/>
            <a:gdLst/>
            <a:ahLst/>
            <a:cxnLst/>
            <a:rect l="l" t="t" r="r" b="b"/>
            <a:pathLst>
              <a:path w="334945" h="334945">
                <a:moveTo>
                  <a:pt x="167473" y="0"/>
                </a:moveTo>
                <a:lnTo>
                  <a:pt x="167473" y="0"/>
                </a:lnTo>
                <a:cubicBezTo>
                  <a:pt x="259903" y="0"/>
                  <a:pt x="334945" y="75042"/>
                  <a:pt x="334945" y="167473"/>
                </a:cubicBezTo>
                <a:lnTo>
                  <a:pt x="334945" y="167473"/>
                </a:lnTo>
                <a:cubicBezTo>
                  <a:pt x="334945" y="259903"/>
                  <a:pt x="259903" y="334945"/>
                  <a:pt x="167473" y="334945"/>
                </a:cubicBezTo>
                <a:lnTo>
                  <a:pt x="167473" y="334945"/>
                </a:lnTo>
                <a:cubicBezTo>
                  <a:pt x="75042" y="334945"/>
                  <a:pt x="0" y="259903"/>
                  <a:pt x="0" y="167473"/>
                </a:cubicBezTo>
                <a:lnTo>
                  <a:pt x="0" y="167473"/>
                </a:lnTo>
                <a:cubicBezTo>
                  <a:pt x="0" y="75042"/>
                  <a:pt x="75042" y="0"/>
                  <a:pt x="167473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9" name="Shape 37"/>
          <p:cNvSpPr/>
          <p:nvPr/>
        </p:nvSpPr>
        <p:spPr>
          <a:xfrm>
            <a:off x="6588788" y="3894468"/>
            <a:ext cx="150725" cy="150725"/>
          </a:xfrm>
          <a:custGeom>
            <a:avLst/>
            <a:gdLst/>
            <a:ahLst/>
            <a:cxnLst/>
            <a:rect l="l" t="t" r="r" b="b"/>
            <a:pathLst>
              <a:path w="150725" h="150725">
                <a:moveTo>
                  <a:pt x="75363" y="0"/>
                </a:moveTo>
                <a:cubicBezTo>
                  <a:pt x="116956" y="0"/>
                  <a:pt x="150725" y="33769"/>
                  <a:pt x="150725" y="75363"/>
                </a:cubicBezTo>
                <a:cubicBezTo>
                  <a:pt x="150725" y="116956"/>
                  <a:pt x="116956" y="150725"/>
                  <a:pt x="75363" y="150725"/>
                </a:cubicBezTo>
                <a:cubicBezTo>
                  <a:pt x="33769" y="150725"/>
                  <a:pt x="0" y="116956"/>
                  <a:pt x="0" y="75363"/>
                </a:cubicBezTo>
                <a:cubicBezTo>
                  <a:pt x="0" y="33769"/>
                  <a:pt x="33769" y="0"/>
                  <a:pt x="75363" y="0"/>
                </a:cubicBezTo>
                <a:close/>
                <a:moveTo>
                  <a:pt x="68297" y="35326"/>
                </a:moveTo>
                <a:lnTo>
                  <a:pt x="68297" y="75363"/>
                </a:lnTo>
                <a:cubicBezTo>
                  <a:pt x="68297" y="77718"/>
                  <a:pt x="69475" y="79926"/>
                  <a:pt x="71447" y="81250"/>
                </a:cubicBezTo>
                <a:lnTo>
                  <a:pt x="99708" y="100091"/>
                </a:lnTo>
                <a:cubicBezTo>
                  <a:pt x="102947" y="102269"/>
                  <a:pt x="107333" y="101386"/>
                  <a:pt x="109511" y="98119"/>
                </a:cubicBezTo>
                <a:cubicBezTo>
                  <a:pt x="111690" y="94851"/>
                  <a:pt x="110807" y="90494"/>
                  <a:pt x="107539" y="88316"/>
                </a:cubicBezTo>
                <a:lnTo>
                  <a:pt x="82428" y="71595"/>
                </a:lnTo>
                <a:lnTo>
                  <a:pt x="82428" y="35326"/>
                </a:lnTo>
                <a:cubicBezTo>
                  <a:pt x="82428" y="31411"/>
                  <a:pt x="79278" y="28261"/>
                  <a:pt x="75363" y="28261"/>
                </a:cubicBezTo>
                <a:cubicBezTo>
                  <a:pt x="71447" y="28261"/>
                  <a:pt x="68297" y="31411"/>
                  <a:pt x="68297" y="3532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6963508" y="3768864"/>
            <a:ext cx="329083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Trip Duration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63508" y="4036820"/>
            <a:ext cx="328246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Filtered out trips with zero or unrealistic duration values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60607" y="4505743"/>
            <a:ext cx="5317253" cy="736879"/>
          </a:xfrm>
          <a:custGeom>
            <a:avLst/>
            <a:gdLst/>
            <a:ahLst/>
            <a:cxnLst/>
            <a:rect l="l" t="t" r="r" b="b"/>
            <a:pathLst>
              <a:path w="5317253" h="736879">
                <a:moveTo>
                  <a:pt x="33491" y="0"/>
                </a:moveTo>
                <a:lnTo>
                  <a:pt x="5283762" y="0"/>
                </a:lnTo>
                <a:cubicBezTo>
                  <a:pt x="5302258" y="0"/>
                  <a:pt x="5317253" y="14995"/>
                  <a:pt x="5317253" y="33491"/>
                </a:cubicBezTo>
                <a:lnTo>
                  <a:pt x="5317253" y="703388"/>
                </a:lnTo>
                <a:cubicBezTo>
                  <a:pt x="5317253" y="721885"/>
                  <a:pt x="5302258" y="736879"/>
                  <a:pt x="5283762" y="736879"/>
                </a:cubicBezTo>
                <a:lnTo>
                  <a:pt x="33491" y="736879"/>
                </a:lnTo>
                <a:cubicBezTo>
                  <a:pt x="14995" y="736879"/>
                  <a:pt x="0" y="721885"/>
                  <a:pt x="0" y="703388"/>
                </a:cubicBezTo>
                <a:lnTo>
                  <a:pt x="0" y="33491"/>
                </a:lnTo>
                <a:cubicBezTo>
                  <a:pt x="0" y="15007"/>
                  <a:pt x="15007" y="0"/>
                  <a:pt x="33491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94585" y="4673215"/>
            <a:ext cx="334945" cy="334945"/>
          </a:xfrm>
          <a:custGeom>
            <a:avLst/>
            <a:gdLst/>
            <a:ahLst/>
            <a:cxnLst/>
            <a:rect l="l" t="t" r="r" b="b"/>
            <a:pathLst>
              <a:path w="334945" h="334945">
                <a:moveTo>
                  <a:pt x="167473" y="0"/>
                </a:moveTo>
                <a:lnTo>
                  <a:pt x="167473" y="0"/>
                </a:lnTo>
                <a:cubicBezTo>
                  <a:pt x="259903" y="0"/>
                  <a:pt x="334945" y="75042"/>
                  <a:pt x="334945" y="167473"/>
                </a:cubicBezTo>
                <a:lnTo>
                  <a:pt x="334945" y="167473"/>
                </a:lnTo>
                <a:cubicBezTo>
                  <a:pt x="334945" y="259903"/>
                  <a:pt x="259903" y="334945"/>
                  <a:pt x="167473" y="334945"/>
                </a:cubicBezTo>
                <a:lnTo>
                  <a:pt x="167473" y="334945"/>
                </a:lnTo>
                <a:cubicBezTo>
                  <a:pt x="75042" y="334945"/>
                  <a:pt x="0" y="259903"/>
                  <a:pt x="0" y="167473"/>
                </a:cubicBezTo>
                <a:lnTo>
                  <a:pt x="0" y="167473"/>
                </a:lnTo>
                <a:cubicBezTo>
                  <a:pt x="0" y="75042"/>
                  <a:pt x="75042" y="0"/>
                  <a:pt x="167473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4" name="Shape 42"/>
          <p:cNvSpPr/>
          <p:nvPr/>
        </p:nvSpPr>
        <p:spPr>
          <a:xfrm>
            <a:off x="6588788" y="4765325"/>
            <a:ext cx="150725" cy="150725"/>
          </a:xfrm>
          <a:custGeom>
            <a:avLst/>
            <a:gdLst/>
            <a:ahLst/>
            <a:cxnLst/>
            <a:rect l="l" t="t" r="r" b="b"/>
            <a:pathLst>
              <a:path w="150725" h="150725">
                <a:moveTo>
                  <a:pt x="65913" y="9420"/>
                </a:moveTo>
                <a:lnTo>
                  <a:pt x="43481" y="9420"/>
                </a:lnTo>
                <a:cubicBezTo>
                  <a:pt x="34826" y="9420"/>
                  <a:pt x="27260" y="15337"/>
                  <a:pt x="25199" y="23727"/>
                </a:cubicBezTo>
                <a:lnTo>
                  <a:pt x="412" y="123789"/>
                </a:lnTo>
                <a:cubicBezTo>
                  <a:pt x="-1796" y="132679"/>
                  <a:pt x="4946" y="141305"/>
                  <a:pt x="14130" y="141305"/>
                </a:cubicBezTo>
                <a:lnTo>
                  <a:pt x="65913" y="141305"/>
                </a:lnTo>
                <a:lnTo>
                  <a:pt x="65913" y="122464"/>
                </a:lnTo>
                <a:cubicBezTo>
                  <a:pt x="65913" y="117254"/>
                  <a:pt x="70123" y="113044"/>
                  <a:pt x="75333" y="113044"/>
                </a:cubicBezTo>
                <a:cubicBezTo>
                  <a:pt x="80544" y="113044"/>
                  <a:pt x="84754" y="117254"/>
                  <a:pt x="84754" y="122464"/>
                </a:cubicBezTo>
                <a:lnTo>
                  <a:pt x="84754" y="141305"/>
                </a:lnTo>
                <a:lnTo>
                  <a:pt x="136595" y="141305"/>
                </a:lnTo>
                <a:cubicBezTo>
                  <a:pt x="145780" y="141305"/>
                  <a:pt x="152521" y="132679"/>
                  <a:pt x="150313" y="123789"/>
                </a:cubicBezTo>
                <a:lnTo>
                  <a:pt x="125555" y="23727"/>
                </a:lnTo>
                <a:cubicBezTo>
                  <a:pt x="123465" y="15337"/>
                  <a:pt x="115929" y="9420"/>
                  <a:pt x="107245" y="9420"/>
                </a:cubicBezTo>
                <a:lnTo>
                  <a:pt x="84754" y="9420"/>
                </a:lnTo>
                <a:lnTo>
                  <a:pt x="84754" y="28261"/>
                </a:lnTo>
                <a:cubicBezTo>
                  <a:pt x="84754" y="33472"/>
                  <a:pt x="80544" y="37681"/>
                  <a:pt x="75333" y="37681"/>
                </a:cubicBezTo>
                <a:cubicBezTo>
                  <a:pt x="70123" y="37681"/>
                  <a:pt x="65913" y="33472"/>
                  <a:pt x="65913" y="28261"/>
                </a:cubicBezTo>
                <a:lnTo>
                  <a:pt x="65913" y="9420"/>
                </a:lnTo>
                <a:close/>
                <a:moveTo>
                  <a:pt x="84754" y="65942"/>
                </a:moveTo>
                <a:lnTo>
                  <a:pt x="84754" y="84783"/>
                </a:lnTo>
                <a:cubicBezTo>
                  <a:pt x="84754" y="89994"/>
                  <a:pt x="80544" y="94203"/>
                  <a:pt x="75333" y="94203"/>
                </a:cubicBezTo>
                <a:cubicBezTo>
                  <a:pt x="70123" y="94203"/>
                  <a:pt x="65913" y="89994"/>
                  <a:pt x="65913" y="84783"/>
                </a:cubicBezTo>
                <a:lnTo>
                  <a:pt x="65913" y="65942"/>
                </a:lnTo>
                <a:cubicBezTo>
                  <a:pt x="65913" y="60732"/>
                  <a:pt x="70123" y="56522"/>
                  <a:pt x="75333" y="56522"/>
                </a:cubicBezTo>
                <a:cubicBezTo>
                  <a:pt x="80544" y="56522"/>
                  <a:pt x="84754" y="60732"/>
                  <a:pt x="84754" y="6594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Text 43"/>
          <p:cNvSpPr/>
          <p:nvPr/>
        </p:nvSpPr>
        <p:spPr>
          <a:xfrm>
            <a:off x="6963508" y="4639721"/>
            <a:ext cx="2763297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Abnormal Trip Distances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63508" y="4907677"/>
            <a:ext cx="275492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Flagged and handled extreme distance outliers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6435" y="5564170"/>
            <a:ext cx="5665596" cy="750277"/>
          </a:xfrm>
          <a:custGeom>
            <a:avLst/>
            <a:gdLst/>
            <a:ahLst/>
            <a:cxnLst/>
            <a:rect l="l" t="t" r="r" b="b"/>
            <a:pathLst>
              <a:path w="5665596" h="750277">
                <a:moveTo>
                  <a:pt x="66992" y="0"/>
                </a:moveTo>
                <a:lnTo>
                  <a:pt x="5598603" y="0"/>
                </a:lnTo>
                <a:cubicBezTo>
                  <a:pt x="5635602" y="0"/>
                  <a:pt x="5665596" y="29993"/>
                  <a:pt x="5665596" y="66992"/>
                </a:cubicBezTo>
                <a:lnTo>
                  <a:pt x="5665596" y="683285"/>
                </a:lnTo>
                <a:cubicBezTo>
                  <a:pt x="5665596" y="720283"/>
                  <a:pt x="5635602" y="750277"/>
                  <a:pt x="5598603" y="750277"/>
                </a:cubicBezTo>
                <a:lnTo>
                  <a:pt x="66992" y="750277"/>
                </a:lnTo>
                <a:cubicBezTo>
                  <a:pt x="30018" y="750277"/>
                  <a:pt x="0" y="720259"/>
                  <a:pt x="0" y="683285"/>
                </a:cubicBezTo>
                <a:lnTo>
                  <a:pt x="0" y="66992"/>
                </a:lnTo>
                <a:cubicBezTo>
                  <a:pt x="0" y="30018"/>
                  <a:pt x="30018" y="0"/>
                  <a:pt x="6699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60607" y="5813705"/>
            <a:ext cx="251209" cy="251209"/>
          </a:xfrm>
          <a:custGeom>
            <a:avLst/>
            <a:gdLst/>
            <a:ahLst/>
            <a:cxnLst/>
            <a:rect l="l" t="t" r="r" b="b"/>
            <a:pathLst>
              <a:path w="251209" h="251209">
                <a:moveTo>
                  <a:pt x="125604" y="251209"/>
                </a:moveTo>
                <a:cubicBezTo>
                  <a:pt x="194927" y="251209"/>
                  <a:pt x="251209" y="194927"/>
                  <a:pt x="251209" y="125604"/>
                </a:cubicBezTo>
                <a:cubicBezTo>
                  <a:pt x="251209" y="56281"/>
                  <a:pt x="194927" y="0"/>
                  <a:pt x="125604" y="0"/>
                </a:cubicBezTo>
                <a:cubicBezTo>
                  <a:pt x="56281" y="0"/>
                  <a:pt x="0" y="56281"/>
                  <a:pt x="0" y="125604"/>
                </a:cubicBezTo>
                <a:cubicBezTo>
                  <a:pt x="0" y="194927"/>
                  <a:pt x="56281" y="251209"/>
                  <a:pt x="125604" y="251209"/>
                </a:cubicBezTo>
                <a:close/>
                <a:moveTo>
                  <a:pt x="167015" y="104360"/>
                </a:moveTo>
                <a:lnTo>
                  <a:pt x="127763" y="167162"/>
                </a:lnTo>
                <a:cubicBezTo>
                  <a:pt x="125703" y="170449"/>
                  <a:pt x="122170" y="172510"/>
                  <a:pt x="118294" y="172706"/>
                </a:cubicBezTo>
                <a:cubicBezTo>
                  <a:pt x="114418" y="172902"/>
                  <a:pt x="110689" y="171136"/>
                  <a:pt x="108383" y="167996"/>
                </a:cubicBezTo>
                <a:lnTo>
                  <a:pt x="84832" y="136595"/>
                </a:lnTo>
                <a:cubicBezTo>
                  <a:pt x="80907" y="131394"/>
                  <a:pt x="81986" y="124034"/>
                  <a:pt x="87187" y="120109"/>
                </a:cubicBezTo>
                <a:cubicBezTo>
                  <a:pt x="92388" y="116184"/>
                  <a:pt x="99748" y="117263"/>
                  <a:pt x="103673" y="122464"/>
                </a:cubicBezTo>
                <a:lnTo>
                  <a:pt x="116920" y="140127"/>
                </a:lnTo>
                <a:lnTo>
                  <a:pt x="147045" y="91897"/>
                </a:lnTo>
                <a:cubicBezTo>
                  <a:pt x="150480" y="86402"/>
                  <a:pt x="157741" y="84685"/>
                  <a:pt x="163286" y="88168"/>
                </a:cubicBezTo>
                <a:cubicBezTo>
                  <a:pt x="168830" y="91652"/>
                  <a:pt x="170498" y="98864"/>
                  <a:pt x="167015" y="104409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9" name="Text 47"/>
          <p:cNvSpPr/>
          <p:nvPr/>
        </p:nvSpPr>
        <p:spPr>
          <a:xfrm>
            <a:off x="6741607" y="5704848"/>
            <a:ext cx="3307582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41607" y="5972804"/>
            <a:ext cx="329920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Ensured the dataset was </a:t>
            </a:r>
            <a:pPr>
              <a:lnSpc>
                <a:spcPct val="130000"/>
              </a:lnSpc>
            </a:pPr>
            <a:r>
              <a:rPr lang="en-US" sz="1055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before training models</a:t>
            </a:r>
            <a:pPr>
              <a:lnSpc>
                <a:spcPct val="130000"/>
              </a:lnSpc>
            </a:pPr>
            <a:r>
              <a:rPr lang="en-US" sz="10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1008063" cy="317500"/>
          </a:xfrm>
          <a:custGeom>
            <a:avLst/>
            <a:gdLst/>
            <a:ahLst/>
            <a:cxnLst/>
            <a:rect l="l" t="t" r="r" b="b"/>
            <a:pathLst>
              <a:path w="1008063" h="317500">
                <a:moveTo>
                  <a:pt x="0" y="0"/>
                </a:moveTo>
                <a:lnTo>
                  <a:pt x="1008063" y="0"/>
                </a:lnTo>
                <a:lnTo>
                  <a:pt x="1008063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381000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333500"/>
            <a:ext cx="11541125" cy="579438"/>
          </a:xfrm>
          <a:custGeom>
            <a:avLst/>
            <a:gdLst/>
            <a:ahLst/>
            <a:cxnLst/>
            <a:rect l="l" t="t" r="r" b="b"/>
            <a:pathLst>
              <a:path w="11541125" h="579438">
                <a:moveTo>
                  <a:pt x="31747" y="0"/>
                </a:moveTo>
                <a:lnTo>
                  <a:pt x="11509378" y="0"/>
                </a:lnTo>
                <a:cubicBezTo>
                  <a:pt x="11526911" y="0"/>
                  <a:pt x="11541125" y="14214"/>
                  <a:pt x="11541125" y="31747"/>
                </a:cubicBezTo>
                <a:lnTo>
                  <a:pt x="11541125" y="547690"/>
                </a:lnTo>
                <a:cubicBezTo>
                  <a:pt x="11541125" y="565224"/>
                  <a:pt x="11526911" y="579437"/>
                  <a:pt x="11509378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333500"/>
            <a:ext cx="31750" cy="579438"/>
          </a:xfrm>
          <a:custGeom>
            <a:avLst/>
            <a:gdLst/>
            <a:ahLst/>
            <a:cxnLst/>
            <a:rect l="l" t="t" r="r" b="b"/>
            <a:pathLst>
              <a:path w="31750" h="579438">
                <a:moveTo>
                  <a:pt x="31750" y="0"/>
                </a:moveTo>
                <a:lnTo>
                  <a:pt x="31750" y="0"/>
                </a:lnTo>
                <a:lnTo>
                  <a:pt x="31750" y="579438"/>
                </a:ln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492250"/>
            <a:ext cx="112871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variables were created to enhance model performance by capturing temporal patterns and trip characteristics.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850" y="2074069"/>
            <a:ext cx="5688013" cy="3505200"/>
          </a:xfrm>
          <a:custGeom>
            <a:avLst/>
            <a:gdLst/>
            <a:ahLst/>
            <a:cxnLst/>
            <a:rect l="l" t="t" r="r" b="b"/>
            <a:pathLst>
              <a:path w="5688013" h="3505200">
                <a:moveTo>
                  <a:pt x="63514" y="0"/>
                </a:moveTo>
                <a:lnTo>
                  <a:pt x="5624498" y="0"/>
                </a:lnTo>
                <a:cubicBezTo>
                  <a:pt x="5659576" y="0"/>
                  <a:pt x="5688013" y="28436"/>
                  <a:pt x="5688013" y="63514"/>
                </a:cubicBezTo>
                <a:lnTo>
                  <a:pt x="5688013" y="3441686"/>
                </a:lnTo>
                <a:cubicBezTo>
                  <a:pt x="5688013" y="3476764"/>
                  <a:pt x="5659576" y="3505200"/>
                  <a:pt x="5624498" y="3505200"/>
                </a:cubicBezTo>
                <a:lnTo>
                  <a:pt x="63514" y="3505200"/>
                </a:lnTo>
                <a:cubicBezTo>
                  <a:pt x="28436" y="3505200"/>
                  <a:pt x="0" y="3476764"/>
                  <a:pt x="0" y="3441686"/>
                </a:cubicBezTo>
                <a:lnTo>
                  <a:pt x="0" y="63514"/>
                </a:lnTo>
                <a:cubicBezTo>
                  <a:pt x="0" y="28460"/>
                  <a:pt x="28460" y="0"/>
                  <a:pt x="6351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700" y="22709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788A9C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57622" y="240585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3"/>
                </a:cubicBezTo>
                <a:cubicBezTo>
                  <a:pt x="0" y="53350"/>
                  <a:pt x="53350" y="0"/>
                  <a:pt x="119062" y="0"/>
                </a:cubicBezTo>
                <a:close/>
                <a:moveTo>
                  <a:pt x="107900" y="55811"/>
                </a:moveTo>
                <a:lnTo>
                  <a:pt x="107900" y="119062"/>
                </a:lnTo>
                <a:cubicBezTo>
                  <a:pt x="107900" y="122783"/>
                  <a:pt x="109761" y="126271"/>
                  <a:pt x="112877" y="128364"/>
                </a:cubicBezTo>
                <a:lnTo>
                  <a:pt x="157525" y="158130"/>
                </a:lnTo>
                <a:cubicBezTo>
                  <a:pt x="162641" y="161572"/>
                  <a:pt x="169571" y="160176"/>
                  <a:pt x="173013" y="155014"/>
                </a:cubicBezTo>
                <a:cubicBezTo>
                  <a:pt x="176454" y="149851"/>
                  <a:pt x="175059" y="142968"/>
                  <a:pt x="169897" y="139526"/>
                </a:cubicBezTo>
                <a:lnTo>
                  <a:pt x="130225" y="113109"/>
                </a:lnTo>
                <a:lnTo>
                  <a:pt x="130225" y="55811"/>
                </a:lnTo>
                <a:cubicBezTo>
                  <a:pt x="130225" y="49625"/>
                  <a:pt x="125248" y="44648"/>
                  <a:pt x="119062" y="44648"/>
                </a:cubicBezTo>
                <a:cubicBezTo>
                  <a:pt x="112877" y="44648"/>
                  <a:pt x="107900" y="49625"/>
                  <a:pt x="107900" y="5581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5700" y="2302670"/>
            <a:ext cx="1889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5700" y="2556569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Capturing temporal patterns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2937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5950" y="30329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Shape 14"/>
          <p:cNvSpPr/>
          <p:nvPr/>
        </p:nvSpPr>
        <p:spPr>
          <a:xfrm>
            <a:off x="703262" y="3104357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945" y="0"/>
                </a:moveTo>
                <a:cubicBezTo>
                  <a:pt x="3104" y="0"/>
                  <a:pt x="0" y="3104"/>
                  <a:pt x="0" y="6945"/>
                </a:cubicBezTo>
                <a:cubicBezTo>
                  <a:pt x="0" y="10787"/>
                  <a:pt x="3104" y="13891"/>
                  <a:pt x="6945" y="13891"/>
                </a:cubicBezTo>
                <a:lnTo>
                  <a:pt x="6945" y="16278"/>
                </a:lnTo>
                <a:cubicBezTo>
                  <a:pt x="6945" y="25481"/>
                  <a:pt x="10613" y="34314"/>
                  <a:pt x="17125" y="40825"/>
                </a:cubicBezTo>
                <a:lnTo>
                  <a:pt x="31862" y="55563"/>
                </a:lnTo>
                <a:lnTo>
                  <a:pt x="17125" y="70300"/>
                </a:lnTo>
                <a:cubicBezTo>
                  <a:pt x="10613" y="76811"/>
                  <a:pt x="6945" y="85644"/>
                  <a:pt x="6945" y="94847"/>
                </a:cubicBezTo>
                <a:lnTo>
                  <a:pt x="6945" y="97234"/>
                </a:lnTo>
                <a:cubicBezTo>
                  <a:pt x="3104" y="97234"/>
                  <a:pt x="0" y="100338"/>
                  <a:pt x="0" y="104180"/>
                </a:cubicBezTo>
                <a:cubicBezTo>
                  <a:pt x="0" y="108021"/>
                  <a:pt x="3104" y="111125"/>
                  <a:pt x="6945" y="111125"/>
                </a:cubicBezTo>
                <a:lnTo>
                  <a:pt x="76398" y="111125"/>
                </a:lnTo>
                <a:cubicBezTo>
                  <a:pt x="80240" y="111125"/>
                  <a:pt x="83344" y="108021"/>
                  <a:pt x="83344" y="104180"/>
                </a:cubicBezTo>
                <a:cubicBezTo>
                  <a:pt x="83344" y="100338"/>
                  <a:pt x="80240" y="97234"/>
                  <a:pt x="76398" y="97234"/>
                </a:cubicBezTo>
                <a:lnTo>
                  <a:pt x="76398" y="94847"/>
                </a:lnTo>
                <a:cubicBezTo>
                  <a:pt x="76398" y="85644"/>
                  <a:pt x="72730" y="76811"/>
                  <a:pt x="66219" y="70300"/>
                </a:cubicBezTo>
                <a:lnTo>
                  <a:pt x="51482" y="55563"/>
                </a:lnTo>
                <a:lnTo>
                  <a:pt x="66219" y="40825"/>
                </a:lnTo>
                <a:cubicBezTo>
                  <a:pt x="72730" y="34314"/>
                  <a:pt x="76398" y="25481"/>
                  <a:pt x="76398" y="16278"/>
                </a:cubicBezTo>
                <a:lnTo>
                  <a:pt x="76398" y="13891"/>
                </a:lnTo>
                <a:cubicBezTo>
                  <a:pt x="80240" y="13891"/>
                  <a:pt x="83344" y="10787"/>
                  <a:pt x="83344" y="6945"/>
                </a:cubicBezTo>
                <a:cubicBezTo>
                  <a:pt x="83344" y="3104"/>
                  <a:pt x="80240" y="0"/>
                  <a:pt x="76398" y="0"/>
                </a:cubicBezTo>
                <a:lnTo>
                  <a:pt x="6945" y="0"/>
                </a:lnTo>
                <a:close/>
                <a:moveTo>
                  <a:pt x="62508" y="94847"/>
                </a:moveTo>
                <a:lnTo>
                  <a:pt x="62508" y="97234"/>
                </a:lnTo>
                <a:lnTo>
                  <a:pt x="20836" y="97234"/>
                </a:lnTo>
                <a:lnTo>
                  <a:pt x="20836" y="94847"/>
                </a:lnTo>
                <a:cubicBezTo>
                  <a:pt x="20836" y="89312"/>
                  <a:pt x="23028" y="84017"/>
                  <a:pt x="26935" y="80110"/>
                </a:cubicBezTo>
                <a:lnTo>
                  <a:pt x="41672" y="65373"/>
                </a:lnTo>
                <a:lnTo>
                  <a:pt x="56409" y="80110"/>
                </a:lnTo>
                <a:cubicBezTo>
                  <a:pt x="60316" y="84017"/>
                  <a:pt x="62508" y="89312"/>
                  <a:pt x="62508" y="9484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965200" y="3032920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Hour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3223420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 of day when trip started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0700" y="3572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5950" y="36679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96317" y="373935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27781" y="0"/>
                </a:moveTo>
                <a:cubicBezTo>
                  <a:pt x="31623" y="0"/>
                  <a:pt x="34727" y="3104"/>
                  <a:pt x="34727" y="6945"/>
                </a:cubicBezTo>
                <a:lnTo>
                  <a:pt x="34727" y="13891"/>
                </a:lnTo>
                <a:lnTo>
                  <a:pt x="62508" y="13891"/>
                </a:lnTo>
                <a:lnTo>
                  <a:pt x="62508" y="6945"/>
                </a:lnTo>
                <a:cubicBezTo>
                  <a:pt x="62508" y="3104"/>
                  <a:pt x="65611" y="0"/>
                  <a:pt x="69453" y="0"/>
                </a:cubicBezTo>
                <a:cubicBezTo>
                  <a:pt x="73295" y="0"/>
                  <a:pt x="76398" y="3104"/>
                  <a:pt x="76398" y="6945"/>
                </a:cubicBezTo>
                <a:lnTo>
                  <a:pt x="76398" y="13891"/>
                </a:lnTo>
                <a:lnTo>
                  <a:pt x="83344" y="13891"/>
                </a:lnTo>
                <a:cubicBezTo>
                  <a:pt x="91005" y="13891"/>
                  <a:pt x="97234" y="20120"/>
                  <a:pt x="97234" y="27781"/>
                </a:cubicBezTo>
                <a:lnTo>
                  <a:pt x="97234" y="90289"/>
                </a:lnTo>
                <a:cubicBezTo>
                  <a:pt x="97234" y="97951"/>
                  <a:pt x="91005" y="104180"/>
                  <a:pt x="83344" y="104180"/>
                </a:cubicBezTo>
                <a:lnTo>
                  <a:pt x="13891" y="104180"/>
                </a:lnTo>
                <a:cubicBezTo>
                  <a:pt x="6229" y="104180"/>
                  <a:pt x="0" y="97951"/>
                  <a:pt x="0" y="90289"/>
                </a:cubicBezTo>
                <a:lnTo>
                  <a:pt x="0" y="27781"/>
                </a:lnTo>
                <a:cubicBezTo>
                  <a:pt x="0" y="20120"/>
                  <a:pt x="6229" y="13891"/>
                  <a:pt x="13891" y="13891"/>
                </a:cubicBezTo>
                <a:lnTo>
                  <a:pt x="20836" y="13891"/>
                </a:lnTo>
                <a:lnTo>
                  <a:pt x="20836" y="6945"/>
                </a:lnTo>
                <a:cubicBezTo>
                  <a:pt x="20836" y="3104"/>
                  <a:pt x="23940" y="0"/>
                  <a:pt x="27781" y="0"/>
                </a:cubicBezTo>
                <a:close/>
                <a:moveTo>
                  <a:pt x="27781" y="55563"/>
                </a:moveTo>
                <a:cubicBezTo>
                  <a:pt x="23940" y="55563"/>
                  <a:pt x="20836" y="58666"/>
                  <a:pt x="20836" y="62508"/>
                </a:cubicBezTo>
                <a:lnTo>
                  <a:pt x="20836" y="76398"/>
                </a:lnTo>
                <a:cubicBezTo>
                  <a:pt x="20836" y="80240"/>
                  <a:pt x="23940" y="83344"/>
                  <a:pt x="27781" y="83344"/>
                </a:cubicBezTo>
                <a:lnTo>
                  <a:pt x="41672" y="83344"/>
                </a:lnTo>
                <a:cubicBezTo>
                  <a:pt x="45514" y="83344"/>
                  <a:pt x="48617" y="80240"/>
                  <a:pt x="48617" y="76398"/>
                </a:cubicBezTo>
                <a:lnTo>
                  <a:pt x="48617" y="62508"/>
                </a:lnTo>
                <a:cubicBezTo>
                  <a:pt x="48617" y="58666"/>
                  <a:pt x="45514" y="55563"/>
                  <a:pt x="41672" y="55563"/>
                </a:cubicBezTo>
                <a:lnTo>
                  <a:pt x="27781" y="5556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965200" y="3667920"/>
            <a:ext cx="1579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of Week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" y="3858420"/>
            <a:ext cx="157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vs. weekend patterns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0700" y="4207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15950" y="43029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9372" y="437435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7978" y="74033"/>
                </a:moveTo>
                <a:cubicBezTo>
                  <a:pt x="106697" y="77657"/>
                  <a:pt x="102487" y="79025"/>
                  <a:pt x="99058" y="77310"/>
                </a:cubicBezTo>
                <a:lnTo>
                  <a:pt x="60381" y="57972"/>
                </a:lnTo>
                <a:lnTo>
                  <a:pt x="60034" y="58666"/>
                </a:lnTo>
                <a:lnTo>
                  <a:pt x="40760" y="97234"/>
                </a:lnTo>
                <a:lnTo>
                  <a:pt x="104180" y="97234"/>
                </a:lnTo>
                <a:cubicBezTo>
                  <a:pt x="108021" y="97234"/>
                  <a:pt x="111125" y="100338"/>
                  <a:pt x="111125" y="104180"/>
                </a:cubicBezTo>
                <a:cubicBezTo>
                  <a:pt x="111125" y="108021"/>
                  <a:pt x="108021" y="111125"/>
                  <a:pt x="104180" y="111125"/>
                </a:cubicBezTo>
                <a:lnTo>
                  <a:pt x="6945" y="111125"/>
                </a:lnTo>
                <a:cubicBezTo>
                  <a:pt x="3104" y="111125"/>
                  <a:pt x="0" y="108021"/>
                  <a:pt x="0" y="104180"/>
                </a:cubicBezTo>
                <a:cubicBezTo>
                  <a:pt x="0" y="100338"/>
                  <a:pt x="3104" y="97234"/>
                  <a:pt x="6945" y="97234"/>
                </a:cubicBezTo>
                <a:lnTo>
                  <a:pt x="25220" y="97234"/>
                </a:lnTo>
                <a:lnTo>
                  <a:pt x="47619" y="52459"/>
                </a:lnTo>
                <a:lnTo>
                  <a:pt x="47966" y="51764"/>
                </a:lnTo>
                <a:lnTo>
                  <a:pt x="12067" y="33815"/>
                </a:lnTo>
                <a:cubicBezTo>
                  <a:pt x="8638" y="32100"/>
                  <a:pt x="7206" y="27890"/>
                  <a:pt x="9354" y="24699"/>
                </a:cubicBezTo>
                <a:cubicBezTo>
                  <a:pt x="19317" y="9810"/>
                  <a:pt x="36289" y="0"/>
                  <a:pt x="55563" y="0"/>
                </a:cubicBezTo>
                <a:cubicBezTo>
                  <a:pt x="86252" y="0"/>
                  <a:pt x="111125" y="24873"/>
                  <a:pt x="111125" y="55563"/>
                </a:cubicBezTo>
                <a:cubicBezTo>
                  <a:pt x="111125" y="62030"/>
                  <a:pt x="110018" y="68259"/>
                  <a:pt x="107978" y="7403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Text 25"/>
          <p:cNvSpPr/>
          <p:nvPr/>
        </p:nvSpPr>
        <p:spPr>
          <a:xfrm>
            <a:off x="965200" y="4302920"/>
            <a:ext cx="1436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Indicator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5200" y="4493420"/>
            <a:ext cx="142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flag for weekend trips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0700" y="4842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5950" y="49379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1" name="Shape 29"/>
          <p:cNvSpPr/>
          <p:nvPr/>
        </p:nvSpPr>
        <p:spPr>
          <a:xfrm>
            <a:off x="696317" y="500935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73533" y="-2149"/>
                </a:moveTo>
                <a:cubicBezTo>
                  <a:pt x="76116" y="-282"/>
                  <a:pt x="77071" y="3104"/>
                  <a:pt x="75899" y="6055"/>
                </a:cubicBezTo>
                <a:lnTo>
                  <a:pt x="58883" y="48617"/>
                </a:lnTo>
                <a:lnTo>
                  <a:pt x="90289" y="48617"/>
                </a:lnTo>
                <a:cubicBezTo>
                  <a:pt x="93219" y="48617"/>
                  <a:pt x="95824" y="50440"/>
                  <a:pt x="96822" y="53197"/>
                </a:cubicBezTo>
                <a:cubicBezTo>
                  <a:pt x="97820" y="55953"/>
                  <a:pt x="96974" y="59035"/>
                  <a:pt x="94738" y="60902"/>
                </a:cubicBezTo>
                <a:lnTo>
                  <a:pt x="32231" y="112992"/>
                </a:lnTo>
                <a:cubicBezTo>
                  <a:pt x="29778" y="115032"/>
                  <a:pt x="26284" y="115140"/>
                  <a:pt x="23701" y="113274"/>
                </a:cubicBezTo>
                <a:cubicBezTo>
                  <a:pt x="21118" y="111407"/>
                  <a:pt x="20163" y="108021"/>
                  <a:pt x="21335" y="105070"/>
                </a:cubicBezTo>
                <a:lnTo>
                  <a:pt x="38351" y="62508"/>
                </a:lnTo>
                <a:lnTo>
                  <a:pt x="6945" y="62508"/>
                </a:lnTo>
                <a:cubicBezTo>
                  <a:pt x="4015" y="62508"/>
                  <a:pt x="1411" y="60685"/>
                  <a:pt x="412" y="57928"/>
                </a:cubicBezTo>
                <a:cubicBezTo>
                  <a:pt x="-586" y="55172"/>
                  <a:pt x="260" y="52090"/>
                  <a:pt x="2496" y="50223"/>
                </a:cubicBezTo>
                <a:lnTo>
                  <a:pt x="65004" y="-1867"/>
                </a:lnTo>
                <a:cubicBezTo>
                  <a:pt x="67456" y="-3907"/>
                  <a:pt x="70951" y="-4015"/>
                  <a:pt x="73533" y="-214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965200" y="4937920"/>
            <a:ext cx="127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Rush Hour Indicator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5200" y="5128420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vs. off-peak periods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1725" y="2074069"/>
            <a:ext cx="5688013" cy="3505200"/>
          </a:xfrm>
          <a:custGeom>
            <a:avLst/>
            <a:gdLst/>
            <a:ahLst/>
            <a:cxnLst/>
            <a:rect l="l" t="t" r="r" b="b"/>
            <a:pathLst>
              <a:path w="5688013" h="3505200">
                <a:moveTo>
                  <a:pt x="63514" y="0"/>
                </a:moveTo>
                <a:lnTo>
                  <a:pt x="5624498" y="0"/>
                </a:lnTo>
                <a:cubicBezTo>
                  <a:pt x="5659576" y="0"/>
                  <a:pt x="5688013" y="28436"/>
                  <a:pt x="5688013" y="63514"/>
                </a:cubicBezTo>
                <a:lnTo>
                  <a:pt x="5688013" y="3441686"/>
                </a:lnTo>
                <a:cubicBezTo>
                  <a:pt x="5688013" y="3476764"/>
                  <a:pt x="5659576" y="3505200"/>
                  <a:pt x="5624498" y="3505200"/>
                </a:cubicBezTo>
                <a:lnTo>
                  <a:pt x="63514" y="3505200"/>
                </a:lnTo>
                <a:cubicBezTo>
                  <a:pt x="28436" y="3505200"/>
                  <a:pt x="0" y="3476764"/>
                  <a:pt x="0" y="3441686"/>
                </a:cubicBezTo>
                <a:lnTo>
                  <a:pt x="0" y="63514"/>
                </a:lnTo>
                <a:cubicBezTo>
                  <a:pt x="0" y="28460"/>
                  <a:pt x="28460" y="0"/>
                  <a:pt x="6351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8575" y="227092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6515497" y="240585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44648"/>
                </a:moveTo>
                <a:cubicBezTo>
                  <a:pt x="238125" y="67996"/>
                  <a:pt x="210638" y="102831"/>
                  <a:pt x="198779" y="116737"/>
                </a:cubicBezTo>
                <a:cubicBezTo>
                  <a:pt x="197011" y="118783"/>
                  <a:pt x="194407" y="119574"/>
                  <a:pt x="192035" y="119062"/>
                </a:cubicBezTo>
                <a:lnTo>
                  <a:pt x="148828" y="119062"/>
                </a:lnTo>
                <a:cubicBezTo>
                  <a:pt x="140596" y="119062"/>
                  <a:pt x="133945" y="125713"/>
                  <a:pt x="133945" y="133945"/>
                </a:cubicBezTo>
                <a:cubicBezTo>
                  <a:pt x="133945" y="142177"/>
                  <a:pt x="140596" y="148828"/>
                  <a:pt x="148828" y="148828"/>
                </a:cubicBezTo>
                <a:lnTo>
                  <a:pt x="193477" y="148828"/>
                </a:lnTo>
                <a:cubicBezTo>
                  <a:pt x="218126" y="148828"/>
                  <a:pt x="238125" y="168827"/>
                  <a:pt x="238125" y="193477"/>
                </a:cubicBezTo>
                <a:cubicBezTo>
                  <a:pt x="238125" y="218126"/>
                  <a:pt x="218126" y="238125"/>
                  <a:pt x="193477" y="238125"/>
                </a:cubicBezTo>
                <a:lnTo>
                  <a:pt x="64926" y="238125"/>
                </a:lnTo>
                <a:cubicBezTo>
                  <a:pt x="68973" y="233521"/>
                  <a:pt x="73902" y="227614"/>
                  <a:pt x="78879" y="221010"/>
                </a:cubicBezTo>
                <a:cubicBezTo>
                  <a:pt x="81809" y="217103"/>
                  <a:pt x="84832" y="212824"/>
                  <a:pt x="87716" y="208359"/>
                </a:cubicBezTo>
                <a:lnTo>
                  <a:pt x="193477" y="208359"/>
                </a:lnTo>
                <a:cubicBezTo>
                  <a:pt x="201709" y="208359"/>
                  <a:pt x="208359" y="201709"/>
                  <a:pt x="208359" y="193477"/>
                </a:cubicBezTo>
                <a:cubicBezTo>
                  <a:pt x="208359" y="185245"/>
                  <a:pt x="201709" y="178594"/>
                  <a:pt x="193477" y="178594"/>
                </a:cubicBezTo>
                <a:lnTo>
                  <a:pt x="148828" y="178594"/>
                </a:lnTo>
                <a:cubicBezTo>
                  <a:pt x="124178" y="178594"/>
                  <a:pt x="104180" y="158595"/>
                  <a:pt x="104180" y="133945"/>
                </a:cubicBezTo>
                <a:cubicBezTo>
                  <a:pt x="104180" y="109296"/>
                  <a:pt x="124178" y="89297"/>
                  <a:pt x="148828" y="89297"/>
                </a:cubicBezTo>
                <a:lnTo>
                  <a:pt x="167339" y="89297"/>
                </a:lnTo>
                <a:cubicBezTo>
                  <a:pt x="157572" y="74647"/>
                  <a:pt x="148828" y="57810"/>
                  <a:pt x="148828" y="44648"/>
                </a:cubicBezTo>
                <a:cubicBezTo>
                  <a:pt x="148828" y="19999"/>
                  <a:pt x="168827" y="0"/>
                  <a:pt x="193477" y="0"/>
                </a:cubicBezTo>
                <a:cubicBezTo>
                  <a:pt x="218126" y="0"/>
                  <a:pt x="238125" y="19999"/>
                  <a:pt x="238125" y="44648"/>
                </a:cubicBezTo>
                <a:close/>
                <a:moveTo>
                  <a:pt x="54462" y="227474"/>
                </a:moveTo>
                <a:cubicBezTo>
                  <a:pt x="52694" y="229474"/>
                  <a:pt x="51113" y="231242"/>
                  <a:pt x="49764" y="232730"/>
                </a:cubicBezTo>
                <a:lnTo>
                  <a:pt x="48927" y="233660"/>
                </a:lnTo>
                <a:lnTo>
                  <a:pt x="48834" y="233567"/>
                </a:lnTo>
                <a:cubicBezTo>
                  <a:pt x="46044" y="235707"/>
                  <a:pt x="42044" y="235427"/>
                  <a:pt x="39532" y="232730"/>
                </a:cubicBezTo>
                <a:cubicBezTo>
                  <a:pt x="27812" y="219987"/>
                  <a:pt x="0" y="187198"/>
                  <a:pt x="0" y="163711"/>
                </a:cubicBezTo>
                <a:cubicBezTo>
                  <a:pt x="0" y="139061"/>
                  <a:pt x="19999" y="119062"/>
                  <a:pt x="44648" y="119062"/>
                </a:cubicBezTo>
                <a:cubicBezTo>
                  <a:pt x="69298" y="119062"/>
                  <a:pt x="89297" y="139061"/>
                  <a:pt x="89297" y="163711"/>
                </a:cubicBezTo>
                <a:cubicBezTo>
                  <a:pt x="89297" y="177664"/>
                  <a:pt x="79484" y="194872"/>
                  <a:pt x="69066" y="209243"/>
                </a:cubicBezTo>
                <a:cubicBezTo>
                  <a:pt x="64089" y="216080"/>
                  <a:pt x="58973" y="222266"/>
                  <a:pt x="54741" y="227149"/>
                </a:cubicBezTo>
                <a:lnTo>
                  <a:pt x="54462" y="227474"/>
                </a:lnTo>
                <a:close/>
                <a:moveTo>
                  <a:pt x="59531" y="163711"/>
                </a:moveTo>
                <a:cubicBezTo>
                  <a:pt x="59531" y="155497"/>
                  <a:pt x="52862" y="148828"/>
                  <a:pt x="44648" y="148828"/>
                </a:cubicBezTo>
                <a:cubicBezTo>
                  <a:pt x="36434" y="148828"/>
                  <a:pt x="29766" y="155497"/>
                  <a:pt x="29766" y="163711"/>
                </a:cubicBezTo>
                <a:cubicBezTo>
                  <a:pt x="29766" y="171925"/>
                  <a:pt x="36434" y="178594"/>
                  <a:pt x="44648" y="178594"/>
                </a:cubicBezTo>
                <a:cubicBezTo>
                  <a:pt x="52862" y="178594"/>
                  <a:pt x="59531" y="171925"/>
                  <a:pt x="59531" y="163711"/>
                </a:cubicBezTo>
                <a:close/>
                <a:moveTo>
                  <a:pt x="193477" y="59531"/>
                </a:moveTo>
                <a:cubicBezTo>
                  <a:pt x="201691" y="59531"/>
                  <a:pt x="208359" y="52862"/>
                  <a:pt x="208359" y="44648"/>
                </a:cubicBezTo>
                <a:cubicBezTo>
                  <a:pt x="208359" y="36434"/>
                  <a:pt x="201691" y="29766"/>
                  <a:pt x="193477" y="29766"/>
                </a:cubicBezTo>
                <a:cubicBezTo>
                  <a:pt x="185263" y="29766"/>
                  <a:pt x="178594" y="36434"/>
                  <a:pt x="178594" y="44648"/>
                </a:cubicBezTo>
                <a:cubicBezTo>
                  <a:pt x="178594" y="52862"/>
                  <a:pt x="185263" y="59531"/>
                  <a:pt x="193477" y="595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7013575" y="2302670"/>
            <a:ext cx="1611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 Features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13575" y="2556569"/>
            <a:ext cx="1579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Characterizing trip behavior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8575" y="2937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73825" y="30329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Shape 39"/>
          <p:cNvSpPr/>
          <p:nvPr/>
        </p:nvSpPr>
        <p:spPr>
          <a:xfrm>
            <a:off x="6554192" y="310435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36571" y="0"/>
                </a:moveTo>
                <a:cubicBezTo>
                  <a:pt x="33685" y="0"/>
                  <a:pt x="31362" y="2322"/>
                  <a:pt x="31362" y="5209"/>
                </a:cubicBezTo>
                <a:cubicBezTo>
                  <a:pt x="31362" y="8096"/>
                  <a:pt x="33685" y="10418"/>
                  <a:pt x="36571" y="10418"/>
                </a:cubicBezTo>
                <a:lnTo>
                  <a:pt x="43517" y="10418"/>
                </a:lnTo>
                <a:lnTo>
                  <a:pt x="43517" y="15909"/>
                </a:lnTo>
                <a:cubicBezTo>
                  <a:pt x="20076" y="18492"/>
                  <a:pt x="1845" y="38373"/>
                  <a:pt x="1845" y="62508"/>
                </a:cubicBezTo>
                <a:cubicBezTo>
                  <a:pt x="1845" y="88401"/>
                  <a:pt x="22833" y="109389"/>
                  <a:pt x="48726" y="109389"/>
                </a:cubicBezTo>
                <a:cubicBezTo>
                  <a:pt x="74619" y="109389"/>
                  <a:pt x="95607" y="88401"/>
                  <a:pt x="95607" y="62508"/>
                </a:cubicBezTo>
                <a:cubicBezTo>
                  <a:pt x="95607" y="53870"/>
                  <a:pt x="93263" y="45774"/>
                  <a:pt x="89182" y="38807"/>
                </a:cubicBezTo>
                <a:lnTo>
                  <a:pt x="95303" y="32686"/>
                </a:lnTo>
                <a:cubicBezTo>
                  <a:pt x="98016" y="29973"/>
                  <a:pt x="98016" y="25567"/>
                  <a:pt x="95303" y="22854"/>
                </a:cubicBezTo>
                <a:cubicBezTo>
                  <a:pt x="92590" y="20141"/>
                  <a:pt x="88184" y="20141"/>
                  <a:pt x="85471" y="22854"/>
                </a:cubicBezTo>
                <a:lnTo>
                  <a:pt x="80392" y="27933"/>
                </a:lnTo>
                <a:cubicBezTo>
                  <a:pt x="73251" y="21379"/>
                  <a:pt x="64071" y="17016"/>
                  <a:pt x="53913" y="15887"/>
                </a:cubicBezTo>
                <a:lnTo>
                  <a:pt x="53913" y="10396"/>
                </a:lnTo>
                <a:lnTo>
                  <a:pt x="60858" y="10396"/>
                </a:lnTo>
                <a:cubicBezTo>
                  <a:pt x="63745" y="10396"/>
                  <a:pt x="66067" y="8074"/>
                  <a:pt x="66067" y="5187"/>
                </a:cubicBezTo>
                <a:cubicBezTo>
                  <a:pt x="66067" y="2301"/>
                  <a:pt x="63745" y="-22"/>
                  <a:pt x="60858" y="-22"/>
                </a:cubicBezTo>
                <a:lnTo>
                  <a:pt x="36550" y="-22"/>
                </a:lnTo>
                <a:close/>
                <a:moveTo>
                  <a:pt x="53935" y="39936"/>
                </a:moveTo>
                <a:lnTo>
                  <a:pt x="53935" y="62508"/>
                </a:lnTo>
                <a:cubicBezTo>
                  <a:pt x="53935" y="65394"/>
                  <a:pt x="51612" y="67717"/>
                  <a:pt x="48726" y="67717"/>
                </a:cubicBezTo>
                <a:cubicBezTo>
                  <a:pt x="45839" y="67717"/>
                  <a:pt x="43517" y="65394"/>
                  <a:pt x="43517" y="62508"/>
                </a:cubicBezTo>
                <a:lnTo>
                  <a:pt x="43517" y="39936"/>
                </a:lnTo>
                <a:cubicBezTo>
                  <a:pt x="43517" y="37049"/>
                  <a:pt x="45839" y="34727"/>
                  <a:pt x="48726" y="34727"/>
                </a:cubicBezTo>
                <a:cubicBezTo>
                  <a:pt x="51612" y="34727"/>
                  <a:pt x="53935" y="37049"/>
                  <a:pt x="53935" y="39936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2" name="Text 40"/>
          <p:cNvSpPr/>
          <p:nvPr/>
        </p:nvSpPr>
        <p:spPr>
          <a:xfrm>
            <a:off x="6823075" y="3032920"/>
            <a:ext cx="1738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Duration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23075" y="3223420"/>
            <a:ext cx="1730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Calculated from pickup to drop-off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78575" y="3572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3825" y="36679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6" name="Shape 44"/>
          <p:cNvSpPr/>
          <p:nvPr/>
        </p:nvSpPr>
        <p:spPr>
          <a:xfrm>
            <a:off x="6533357" y="3739357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125016" y="10418"/>
                </a:moveTo>
                <a:cubicBezTo>
                  <a:pt x="125016" y="8009"/>
                  <a:pt x="123778" y="5773"/>
                  <a:pt x="121717" y="4514"/>
                </a:cubicBezTo>
                <a:cubicBezTo>
                  <a:pt x="119655" y="3256"/>
                  <a:pt x="117115" y="3125"/>
                  <a:pt x="114967" y="4211"/>
                </a:cubicBezTo>
                <a:lnTo>
                  <a:pt x="89746" y="16821"/>
                </a:lnTo>
                <a:lnTo>
                  <a:pt x="50809" y="3820"/>
                </a:lnTo>
                <a:cubicBezTo>
                  <a:pt x="49051" y="3234"/>
                  <a:pt x="47163" y="3364"/>
                  <a:pt x="45514" y="4189"/>
                </a:cubicBezTo>
                <a:lnTo>
                  <a:pt x="17732" y="18080"/>
                </a:lnTo>
                <a:cubicBezTo>
                  <a:pt x="15367" y="19273"/>
                  <a:pt x="13891" y="21682"/>
                  <a:pt x="13891" y="24309"/>
                </a:cubicBezTo>
                <a:lnTo>
                  <a:pt x="13891" y="100707"/>
                </a:lnTo>
                <a:cubicBezTo>
                  <a:pt x="13891" y="103116"/>
                  <a:pt x="15128" y="105352"/>
                  <a:pt x="17190" y="106611"/>
                </a:cubicBezTo>
                <a:cubicBezTo>
                  <a:pt x="19252" y="107869"/>
                  <a:pt x="21791" y="108000"/>
                  <a:pt x="23940" y="106914"/>
                </a:cubicBezTo>
                <a:lnTo>
                  <a:pt x="49138" y="94304"/>
                </a:lnTo>
                <a:lnTo>
                  <a:pt x="86751" y="106849"/>
                </a:lnTo>
                <a:cubicBezTo>
                  <a:pt x="85818" y="105460"/>
                  <a:pt x="84906" y="104006"/>
                  <a:pt x="84017" y="102530"/>
                </a:cubicBezTo>
                <a:cubicBezTo>
                  <a:pt x="81629" y="98558"/>
                  <a:pt x="79263" y="94000"/>
                  <a:pt x="77505" y="89117"/>
                </a:cubicBezTo>
                <a:lnTo>
                  <a:pt x="55541" y="81803"/>
                </a:lnTo>
                <a:lnTo>
                  <a:pt x="55541" y="20055"/>
                </a:lnTo>
                <a:lnTo>
                  <a:pt x="83322" y="29322"/>
                </a:lnTo>
                <a:lnTo>
                  <a:pt x="83322" y="50874"/>
                </a:lnTo>
                <a:cubicBezTo>
                  <a:pt x="90050" y="43104"/>
                  <a:pt x="100034" y="38199"/>
                  <a:pt x="111103" y="38199"/>
                </a:cubicBezTo>
                <a:cubicBezTo>
                  <a:pt x="116008" y="38199"/>
                  <a:pt x="120697" y="39154"/>
                  <a:pt x="124994" y="40912"/>
                </a:cubicBezTo>
                <a:lnTo>
                  <a:pt x="125016" y="10418"/>
                </a:lnTo>
                <a:close/>
                <a:moveTo>
                  <a:pt x="111125" y="48617"/>
                </a:moveTo>
                <a:cubicBezTo>
                  <a:pt x="96735" y="48617"/>
                  <a:pt x="85080" y="60077"/>
                  <a:pt x="85080" y="74206"/>
                </a:cubicBezTo>
                <a:cubicBezTo>
                  <a:pt x="85080" y="89160"/>
                  <a:pt x="98992" y="106849"/>
                  <a:pt x="106480" y="115292"/>
                </a:cubicBezTo>
                <a:cubicBezTo>
                  <a:pt x="108998" y="118114"/>
                  <a:pt x="113274" y="118114"/>
                  <a:pt x="115791" y="115292"/>
                </a:cubicBezTo>
                <a:cubicBezTo>
                  <a:pt x="123279" y="106849"/>
                  <a:pt x="137192" y="89160"/>
                  <a:pt x="137192" y="74206"/>
                </a:cubicBezTo>
                <a:cubicBezTo>
                  <a:pt x="137192" y="60077"/>
                  <a:pt x="125537" y="48617"/>
                  <a:pt x="111147" y="48617"/>
                </a:cubicBezTo>
                <a:close/>
                <a:moveTo>
                  <a:pt x="102443" y="74662"/>
                </a:moveTo>
                <a:cubicBezTo>
                  <a:pt x="102443" y="69871"/>
                  <a:pt x="106333" y="65980"/>
                  <a:pt x="111125" y="65980"/>
                </a:cubicBezTo>
                <a:cubicBezTo>
                  <a:pt x="115917" y="65980"/>
                  <a:pt x="119807" y="69871"/>
                  <a:pt x="119807" y="74662"/>
                </a:cubicBezTo>
                <a:cubicBezTo>
                  <a:pt x="119807" y="79454"/>
                  <a:pt x="115917" y="83344"/>
                  <a:pt x="111125" y="83344"/>
                </a:cubicBezTo>
                <a:cubicBezTo>
                  <a:pt x="106333" y="83344"/>
                  <a:pt x="102443" y="79454"/>
                  <a:pt x="102443" y="74662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7" name="Text 45"/>
          <p:cNvSpPr/>
          <p:nvPr/>
        </p:nvSpPr>
        <p:spPr>
          <a:xfrm>
            <a:off x="6823075" y="3667920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Borough Indicator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23075" y="3858420"/>
            <a:ext cx="160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Intra-borough vs. inter-borough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8575" y="4207670"/>
            <a:ext cx="5294313" cy="539750"/>
          </a:xfrm>
          <a:custGeom>
            <a:avLst/>
            <a:gdLst/>
            <a:ahLst/>
            <a:cxnLst/>
            <a:rect l="l" t="t" r="r" b="b"/>
            <a:pathLst>
              <a:path w="5294313" h="539750">
                <a:moveTo>
                  <a:pt x="31748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8"/>
                </a:cubicBezTo>
                <a:lnTo>
                  <a:pt x="5294313" y="508002"/>
                </a:lnTo>
                <a:cubicBezTo>
                  <a:pt x="5294313" y="525536"/>
                  <a:pt x="5280098" y="539750"/>
                  <a:pt x="5262564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73825" y="43029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1" name="Shape 49"/>
          <p:cNvSpPr/>
          <p:nvPr/>
        </p:nvSpPr>
        <p:spPr>
          <a:xfrm>
            <a:off x="6561138" y="4374357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13891" y="0"/>
                </a:moveTo>
                <a:cubicBezTo>
                  <a:pt x="6229" y="0"/>
                  <a:pt x="0" y="6229"/>
                  <a:pt x="0" y="13891"/>
                </a:cubicBezTo>
                <a:lnTo>
                  <a:pt x="0" y="97234"/>
                </a:lnTo>
                <a:cubicBezTo>
                  <a:pt x="0" y="104896"/>
                  <a:pt x="6229" y="111125"/>
                  <a:pt x="13891" y="111125"/>
                </a:cubicBezTo>
                <a:lnTo>
                  <a:pt x="69453" y="111125"/>
                </a:lnTo>
                <a:cubicBezTo>
                  <a:pt x="77115" y="111125"/>
                  <a:pt x="83344" y="104896"/>
                  <a:pt x="83344" y="97234"/>
                </a:cubicBezTo>
                <a:lnTo>
                  <a:pt x="83344" y="13891"/>
                </a:lnTo>
                <a:cubicBezTo>
                  <a:pt x="83344" y="6229"/>
                  <a:pt x="77115" y="0"/>
                  <a:pt x="69453" y="0"/>
                </a:cubicBezTo>
                <a:lnTo>
                  <a:pt x="13891" y="0"/>
                </a:lnTo>
                <a:close/>
                <a:moveTo>
                  <a:pt x="38199" y="76398"/>
                </a:moveTo>
                <a:lnTo>
                  <a:pt x="45145" y="76398"/>
                </a:lnTo>
                <a:cubicBezTo>
                  <a:pt x="48986" y="76398"/>
                  <a:pt x="52090" y="79502"/>
                  <a:pt x="52090" y="83344"/>
                </a:cubicBezTo>
                <a:lnTo>
                  <a:pt x="52090" y="100707"/>
                </a:lnTo>
                <a:lnTo>
                  <a:pt x="31254" y="100707"/>
                </a:lnTo>
                <a:lnTo>
                  <a:pt x="31254" y="83344"/>
                </a:lnTo>
                <a:cubicBezTo>
                  <a:pt x="31254" y="79502"/>
                  <a:pt x="34358" y="76398"/>
                  <a:pt x="38199" y="76398"/>
                </a:cubicBezTo>
                <a:close/>
                <a:moveTo>
                  <a:pt x="20836" y="24309"/>
                </a:moveTo>
                <a:cubicBezTo>
                  <a:pt x="20836" y="22399"/>
                  <a:pt x="22399" y="20836"/>
                  <a:pt x="24309" y="20836"/>
                </a:cubicBezTo>
                <a:lnTo>
                  <a:pt x="31254" y="20836"/>
                </a:lnTo>
                <a:cubicBezTo>
                  <a:pt x="33164" y="20836"/>
                  <a:pt x="34727" y="22399"/>
                  <a:pt x="34727" y="24309"/>
                </a:cubicBezTo>
                <a:lnTo>
                  <a:pt x="34727" y="31254"/>
                </a:lnTo>
                <a:cubicBezTo>
                  <a:pt x="34727" y="33164"/>
                  <a:pt x="33164" y="34727"/>
                  <a:pt x="31254" y="34727"/>
                </a:cubicBezTo>
                <a:lnTo>
                  <a:pt x="24309" y="34727"/>
                </a:lnTo>
                <a:cubicBezTo>
                  <a:pt x="22399" y="34727"/>
                  <a:pt x="20836" y="33164"/>
                  <a:pt x="20836" y="31254"/>
                </a:cubicBezTo>
                <a:lnTo>
                  <a:pt x="20836" y="24309"/>
                </a:lnTo>
                <a:close/>
                <a:moveTo>
                  <a:pt x="52090" y="20836"/>
                </a:moveTo>
                <a:lnTo>
                  <a:pt x="59035" y="20836"/>
                </a:lnTo>
                <a:cubicBezTo>
                  <a:pt x="60945" y="20836"/>
                  <a:pt x="62508" y="22399"/>
                  <a:pt x="62508" y="24309"/>
                </a:cubicBezTo>
                <a:lnTo>
                  <a:pt x="62508" y="31254"/>
                </a:lnTo>
                <a:cubicBezTo>
                  <a:pt x="62508" y="33164"/>
                  <a:pt x="60945" y="34727"/>
                  <a:pt x="59035" y="34727"/>
                </a:cubicBezTo>
                <a:lnTo>
                  <a:pt x="52090" y="34727"/>
                </a:lnTo>
                <a:cubicBezTo>
                  <a:pt x="50180" y="34727"/>
                  <a:pt x="48617" y="33164"/>
                  <a:pt x="48617" y="31254"/>
                </a:cubicBezTo>
                <a:lnTo>
                  <a:pt x="48617" y="24309"/>
                </a:lnTo>
                <a:cubicBezTo>
                  <a:pt x="48617" y="22399"/>
                  <a:pt x="50180" y="20836"/>
                  <a:pt x="52090" y="20836"/>
                </a:cubicBezTo>
                <a:close/>
                <a:moveTo>
                  <a:pt x="20836" y="52090"/>
                </a:moveTo>
                <a:cubicBezTo>
                  <a:pt x="20836" y="50180"/>
                  <a:pt x="22399" y="48617"/>
                  <a:pt x="24309" y="48617"/>
                </a:cubicBezTo>
                <a:lnTo>
                  <a:pt x="31254" y="48617"/>
                </a:lnTo>
                <a:cubicBezTo>
                  <a:pt x="33164" y="48617"/>
                  <a:pt x="34727" y="50180"/>
                  <a:pt x="34727" y="52090"/>
                </a:cubicBezTo>
                <a:lnTo>
                  <a:pt x="34727" y="59035"/>
                </a:lnTo>
                <a:cubicBezTo>
                  <a:pt x="34727" y="60945"/>
                  <a:pt x="33164" y="62508"/>
                  <a:pt x="31254" y="62508"/>
                </a:cubicBezTo>
                <a:lnTo>
                  <a:pt x="24309" y="62508"/>
                </a:lnTo>
                <a:cubicBezTo>
                  <a:pt x="22399" y="62508"/>
                  <a:pt x="20836" y="60945"/>
                  <a:pt x="20836" y="59035"/>
                </a:cubicBezTo>
                <a:lnTo>
                  <a:pt x="20836" y="52090"/>
                </a:lnTo>
                <a:close/>
                <a:moveTo>
                  <a:pt x="52090" y="48617"/>
                </a:moveTo>
                <a:lnTo>
                  <a:pt x="59035" y="48617"/>
                </a:lnTo>
                <a:cubicBezTo>
                  <a:pt x="60945" y="48617"/>
                  <a:pt x="62508" y="50180"/>
                  <a:pt x="62508" y="52090"/>
                </a:cubicBezTo>
                <a:lnTo>
                  <a:pt x="62508" y="59035"/>
                </a:lnTo>
                <a:cubicBezTo>
                  <a:pt x="62508" y="60945"/>
                  <a:pt x="60945" y="62508"/>
                  <a:pt x="59035" y="62508"/>
                </a:cubicBezTo>
                <a:lnTo>
                  <a:pt x="52090" y="62508"/>
                </a:lnTo>
                <a:cubicBezTo>
                  <a:pt x="50180" y="62508"/>
                  <a:pt x="48617" y="60945"/>
                  <a:pt x="48617" y="59035"/>
                </a:cubicBezTo>
                <a:lnTo>
                  <a:pt x="48617" y="52090"/>
                </a:lnTo>
                <a:cubicBezTo>
                  <a:pt x="48617" y="50180"/>
                  <a:pt x="50180" y="48617"/>
                  <a:pt x="52090" y="48617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52" name="Text 50"/>
          <p:cNvSpPr/>
          <p:nvPr/>
        </p:nvSpPr>
        <p:spPr>
          <a:xfrm>
            <a:off x="6823075" y="4302920"/>
            <a:ext cx="154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Manhattan-Only Trip Flag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23075" y="4493420"/>
            <a:ext cx="153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Trips entirely within Manhattan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3850" y="5750720"/>
            <a:ext cx="11545888" cy="806450"/>
          </a:xfrm>
          <a:custGeom>
            <a:avLst/>
            <a:gdLst/>
            <a:ahLst/>
            <a:cxnLst/>
            <a:rect l="l" t="t" r="r" b="b"/>
            <a:pathLst>
              <a:path w="11545888" h="806450">
                <a:moveTo>
                  <a:pt x="63500" y="0"/>
                </a:moveTo>
                <a:lnTo>
                  <a:pt x="11482388" y="0"/>
                </a:lnTo>
                <a:cubicBezTo>
                  <a:pt x="11517458" y="0"/>
                  <a:pt x="11545888" y="28430"/>
                  <a:pt x="11545888" y="63500"/>
                </a:cubicBezTo>
                <a:lnTo>
                  <a:pt x="11545888" y="742950"/>
                </a:lnTo>
                <a:cubicBezTo>
                  <a:pt x="11545888" y="778020"/>
                  <a:pt x="11517458" y="806450"/>
                  <a:pt x="11482388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0388" y="6011071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56" name="Text 54"/>
          <p:cNvSpPr/>
          <p:nvPr/>
        </p:nvSpPr>
        <p:spPr>
          <a:xfrm>
            <a:off x="973137" y="5915821"/>
            <a:ext cx="5222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73137" y="6201571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features help capture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travel behavior patterns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improve model accuracy.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810" y="317914"/>
            <a:ext cx="1025272" cy="317914"/>
          </a:xfrm>
          <a:custGeom>
            <a:avLst/>
            <a:gdLst/>
            <a:ahLst/>
            <a:cxnLst/>
            <a:rect l="l" t="t" r="r" b="b"/>
            <a:pathLst>
              <a:path w="1025272" h="317914">
                <a:moveTo>
                  <a:pt x="0" y="0"/>
                </a:moveTo>
                <a:lnTo>
                  <a:pt x="1025272" y="0"/>
                </a:lnTo>
                <a:lnTo>
                  <a:pt x="1025272" y="317914"/>
                </a:lnTo>
                <a:lnTo>
                  <a:pt x="0" y="317914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810" y="317914"/>
            <a:ext cx="31791" cy="317914"/>
          </a:xfrm>
          <a:custGeom>
            <a:avLst/>
            <a:gdLst/>
            <a:ahLst/>
            <a:cxnLst/>
            <a:rect l="l" t="t" r="r" b="b"/>
            <a:pathLst>
              <a:path w="31791" h="317914">
                <a:moveTo>
                  <a:pt x="0" y="0"/>
                </a:moveTo>
                <a:lnTo>
                  <a:pt x="31791" y="0"/>
                </a:lnTo>
                <a:lnTo>
                  <a:pt x="31791" y="317914"/>
                </a:lnTo>
                <a:lnTo>
                  <a:pt x="0" y="317914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76871" y="381497"/>
            <a:ext cx="818628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spc="5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914" y="762993"/>
            <a:ext cx="11746920" cy="38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Geospatial Feature Creation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810" y="1335239"/>
            <a:ext cx="11540276" cy="580193"/>
          </a:xfrm>
          <a:custGeom>
            <a:avLst/>
            <a:gdLst/>
            <a:ahLst/>
            <a:cxnLst/>
            <a:rect l="l" t="t" r="r" b="b"/>
            <a:pathLst>
              <a:path w="11540276" h="580193">
                <a:moveTo>
                  <a:pt x="31789" y="0"/>
                </a:moveTo>
                <a:lnTo>
                  <a:pt x="11508488" y="0"/>
                </a:lnTo>
                <a:cubicBezTo>
                  <a:pt x="11526044" y="0"/>
                  <a:pt x="11540276" y="14232"/>
                  <a:pt x="11540276" y="31789"/>
                </a:cubicBezTo>
                <a:lnTo>
                  <a:pt x="11540276" y="548404"/>
                </a:lnTo>
                <a:cubicBezTo>
                  <a:pt x="11540276" y="565961"/>
                  <a:pt x="11526044" y="580193"/>
                  <a:pt x="11508488" y="580193"/>
                </a:cubicBezTo>
                <a:lnTo>
                  <a:pt x="31789" y="580193"/>
                </a:lnTo>
                <a:cubicBezTo>
                  <a:pt x="14244" y="580193"/>
                  <a:pt x="0" y="565949"/>
                  <a:pt x="0" y="548404"/>
                </a:cubicBezTo>
                <a:lnTo>
                  <a:pt x="0" y="31789"/>
                </a:lnTo>
                <a:cubicBezTo>
                  <a:pt x="0" y="14244"/>
                  <a:pt x="14244" y="0"/>
                  <a:pt x="3178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810" y="1335239"/>
            <a:ext cx="31791" cy="580193"/>
          </a:xfrm>
          <a:custGeom>
            <a:avLst/>
            <a:gdLst/>
            <a:ahLst/>
            <a:cxnLst/>
            <a:rect l="l" t="t" r="r" b="b"/>
            <a:pathLst>
              <a:path w="31791" h="580193">
                <a:moveTo>
                  <a:pt x="31791" y="0"/>
                </a:moveTo>
                <a:lnTo>
                  <a:pt x="31791" y="0"/>
                </a:lnTo>
                <a:lnTo>
                  <a:pt x="31791" y="580193"/>
                </a:lnTo>
                <a:lnTo>
                  <a:pt x="31791" y="580193"/>
                </a:lnTo>
                <a:cubicBezTo>
                  <a:pt x="14233" y="580193"/>
                  <a:pt x="0" y="565959"/>
                  <a:pt x="0" y="548402"/>
                </a:cubicBezTo>
                <a:lnTo>
                  <a:pt x="0" y="31791"/>
                </a:lnTo>
                <a:cubicBezTo>
                  <a:pt x="0" y="14245"/>
                  <a:pt x="14245" y="0"/>
                  <a:pt x="3179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08662" y="1494196"/>
            <a:ext cx="11285945" cy="262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coordinates were mapped to taxi zones using spatial joins to add location intelligence to the dataset.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272" y="2076773"/>
            <a:ext cx="5687481" cy="2079157"/>
          </a:xfrm>
          <a:custGeom>
            <a:avLst/>
            <a:gdLst/>
            <a:ahLst/>
            <a:cxnLst/>
            <a:rect l="l" t="t" r="r" b="b"/>
            <a:pathLst>
              <a:path w="5687481" h="2079157">
                <a:moveTo>
                  <a:pt x="63581" y="0"/>
                </a:moveTo>
                <a:lnTo>
                  <a:pt x="5623900" y="0"/>
                </a:lnTo>
                <a:cubicBezTo>
                  <a:pt x="5659015" y="0"/>
                  <a:pt x="5687481" y="28466"/>
                  <a:pt x="5687481" y="63581"/>
                </a:cubicBezTo>
                <a:lnTo>
                  <a:pt x="5687481" y="2015577"/>
                </a:lnTo>
                <a:cubicBezTo>
                  <a:pt x="5687481" y="2050691"/>
                  <a:pt x="5659015" y="2079157"/>
                  <a:pt x="5623900" y="2079157"/>
                </a:cubicBezTo>
                <a:lnTo>
                  <a:pt x="63581" y="2079157"/>
                </a:lnTo>
                <a:cubicBezTo>
                  <a:pt x="28466" y="2079157"/>
                  <a:pt x="0" y="2050691"/>
                  <a:pt x="0" y="2015577"/>
                </a:cubicBezTo>
                <a:lnTo>
                  <a:pt x="0" y="63581"/>
                </a:lnTo>
                <a:cubicBezTo>
                  <a:pt x="0" y="28490"/>
                  <a:pt x="28490" y="0"/>
                  <a:pt x="63581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588" y="2242089"/>
            <a:ext cx="445080" cy="445080"/>
          </a:xfrm>
          <a:custGeom>
            <a:avLst/>
            <a:gdLst/>
            <a:ahLst/>
            <a:cxnLst/>
            <a:rect l="l" t="t" r="r" b="b"/>
            <a:pathLst>
              <a:path w="445080" h="445080">
                <a:moveTo>
                  <a:pt x="222540" y="0"/>
                </a:moveTo>
                <a:lnTo>
                  <a:pt x="222540" y="0"/>
                </a:lnTo>
                <a:cubicBezTo>
                  <a:pt x="345445" y="0"/>
                  <a:pt x="445080" y="99634"/>
                  <a:pt x="445080" y="222540"/>
                </a:cubicBezTo>
                <a:lnTo>
                  <a:pt x="445080" y="222540"/>
                </a:lnTo>
                <a:cubicBezTo>
                  <a:pt x="445080" y="345445"/>
                  <a:pt x="345445" y="445080"/>
                  <a:pt x="222540" y="445080"/>
                </a:cubicBezTo>
                <a:lnTo>
                  <a:pt x="222540" y="445080"/>
                </a:lnTo>
                <a:cubicBezTo>
                  <a:pt x="99634" y="445080"/>
                  <a:pt x="0" y="345445"/>
                  <a:pt x="0" y="222540"/>
                </a:cubicBezTo>
                <a:lnTo>
                  <a:pt x="0" y="222540"/>
                </a:lnTo>
                <a:cubicBezTo>
                  <a:pt x="0" y="99634"/>
                  <a:pt x="99634" y="0"/>
                  <a:pt x="22254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52518" y="2369254"/>
            <a:ext cx="119218" cy="190748"/>
          </a:xfrm>
          <a:custGeom>
            <a:avLst/>
            <a:gdLst/>
            <a:ahLst/>
            <a:cxnLst/>
            <a:rect l="l" t="t" r="r" b="b"/>
            <a:pathLst>
              <a:path w="119218" h="190748">
                <a:moveTo>
                  <a:pt x="71531" y="105955"/>
                </a:moveTo>
                <a:cubicBezTo>
                  <a:pt x="95411" y="100553"/>
                  <a:pt x="113257" y="79168"/>
                  <a:pt x="113257" y="53648"/>
                </a:cubicBezTo>
                <a:cubicBezTo>
                  <a:pt x="113257" y="24030"/>
                  <a:pt x="89227" y="0"/>
                  <a:pt x="59609" y="0"/>
                </a:cubicBezTo>
                <a:cubicBezTo>
                  <a:pt x="29991" y="0"/>
                  <a:pt x="5961" y="24030"/>
                  <a:pt x="5961" y="53648"/>
                </a:cubicBezTo>
                <a:cubicBezTo>
                  <a:pt x="5961" y="79168"/>
                  <a:pt x="23806" y="100553"/>
                  <a:pt x="47687" y="105955"/>
                </a:cubicBezTo>
                <a:lnTo>
                  <a:pt x="47687" y="178827"/>
                </a:lnTo>
                <a:cubicBezTo>
                  <a:pt x="47687" y="185421"/>
                  <a:pt x="53015" y="190748"/>
                  <a:pt x="59609" y="190748"/>
                </a:cubicBezTo>
                <a:cubicBezTo>
                  <a:pt x="66203" y="190748"/>
                  <a:pt x="71531" y="185421"/>
                  <a:pt x="71531" y="178827"/>
                </a:cubicBezTo>
                <a:lnTo>
                  <a:pt x="71531" y="105955"/>
                </a:lnTo>
                <a:close/>
                <a:moveTo>
                  <a:pt x="62589" y="35765"/>
                </a:moveTo>
                <a:cubicBezTo>
                  <a:pt x="51077" y="35765"/>
                  <a:pt x="41726" y="45116"/>
                  <a:pt x="41726" y="56628"/>
                </a:cubicBezTo>
                <a:cubicBezTo>
                  <a:pt x="41726" y="61583"/>
                  <a:pt x="37740" y="65570"/>
                  <a:pt x="32785" y="65570"/>
                </a:cubicBezTo>
                <a:cubicBezTo>
                  <a:pt x="27830" y="65570"/>
                  <a:pt x="23844" y="61583"/>
                  <a:pt x="23844" y="56628"/>
                </a:cubicBezTo>
                <a:cubicBezTo>
                  <a:pt x="23844" y="35244"/>
                  <a:pt x="41205" y="17883"/>
                  <a:pt x="62589" y="17883"/>
                </a:cubicBezTo>
                <a:cubicBezTo>
                  <a:pt x="67544" y="17883"/>
                  <a:pt x="71531" y="21869"/>
                  <a:pt x="71531" y="26824"/>
                </a:cubicBezTo>
                <a:cubicBezTo>
                  <a:pt x="71531" y="31779"/>
                  <a:pt x="67544" y="35765"/>
                  <a:pt x="62589" y="3576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61833" y="2337463"/>
            <a:ext cx="1764422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Process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588" y="2814334"/>
            <a:ext cx="5356850" cy="540454"/>
          </a:xfrm>
          <a:custGeom>
            <a:avLst/>
            <a:gdLst/>
            <a:ahLst/>
            <a:cxnLst/>
            <a:rect l="l" t="t" r="r" b="b"/>
            <a:pathLst>
              <a:path w="5356850" h="540454">
                <a:moveTo>
                  <a:pt x="31789" y="0"/>
                </a:moveTo>
                <a:lnTo>
                  <a:pt x="5325061" y="0"/>
                </a:lnTo>
                <a:cubicBezTo>
                  <a:pt x="5342617" y="0"/>
                  <a:pt x="5356850" y="14233"/>
                  <a:pt x="5356850" y="31789"/>
                </a:cubicBezTo>
                <a:lnTo>
                  <a:pt x="5356850" y="508664"/>
                </a:lnTo>
                <a:cubicBezTo>
                  <a:pt x="5356850" y="526221"/>
                  <a:pt x="5342617" y="540454"/>
                  <a:pt x="5325061" y="540454"/>
                </a:cubicBezTo>
                <a:lnTo>
                  <a:pt x="31789" y="540454"/>
                </a:lnTo>
                <a:cubicBezTo>
                  <a:pt x="14233" y="540454"/>
                  <a:pt x="0" y="526221"/>
                  <a:pt x="0" y="508664"/>
                </a:cubicBezTo>
                <a:lnTo>
                  <a:pt x="0" y="31789"/>
                </a:lnTo>
                <a:cubicBezTo>
                  <a:pt x="0" y="14233"/>
                  <a:pt x="14233" y="0"/>
                  <a:pt x="3178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4962" y="2941500"/>
            <a:ext cx="254331" cy="254331"/>
          </a:xfrm>
          <a:custGeom>
            <a:avLst/>
            <a:gdLst/>
            <a:ahLst/>
            <a:cxnLst/>
            <a:rect l="l" t="t" r="r" b="b"/>
            <a:pathLst>
              <a:path w="254331" h="254331">
                <a:moveTo>
                  <a:pt x="127166" y="0"/>
                </a:moveTo>
                <a:lnTo>
                  <a:pt x="127166" y="0"/>
                </a:lnTo>
                <a:cubicBezTo>
                  <a:pt x="197350" y="0"/>
                  <a:pt x="254331" y="56981"/>
                  <a:pt x="254331" y="127166"/>
                </a:cubicBezTo>
                <a:lnTo>
                  <a:pt x="254331" y="127166"/>
                </a:lnTo>
                <a:cubicBezTo>
                  <a:pt x="254331" y="197350"/>
                  <a:pt x="197350" y="254331"/>
                  <a:pt x="127166" y="254331"/>
                </a:cubicBezTo>
                <a:lnTo>
                  <a:pt x="127166" y="254331"/>
                </a:lnTo>
                <a:cubicBezTo>
                  <a:pt x="56981" y="254331"/>
                  <a:pt x="0" y="197350"/>
                  <a:pt x="0" y="127166"/>
                </a:cubicBezTo>
                <a:lnTo>
                  <a:pt x="0" y="127166"/>
                </a:lnTo>
                <a:cubicBezTo>
                  <a:pt x="0" y="56981"/>
                  <a:pt x="56981" y="0"/>
                  <a:pt x="127166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5" name="Text 13"/>
          <p:cNvSpPr/>
          <p:nvPr/>
        </p:nvSpPr>
        <p:spPr>
          <a:xfrm>
            <a:off x="689873" y="2989187"/>
            <a:ext cx="103322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4667" y="2909708"/>
            <a:ext cx="2742008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Coordinate Conversion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4667" y="3100457"/>
            <a:ext cx="2734060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Transformed longitude &amp; latitude into geographic points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588" y="3450162"/>
            <a:ext cx="5356850" cy="540454"/>
          </a:xfrm>
          <a:custGeom>
            <a:avLst/>
            <a:gdLst/>
            <a:ahLst/>
            <a:cxnLst/>
            <a:rect l="l" t="t" r="r" b="b"/>
            <a:pathLst>
              <a:path w="5356850" h="540454">
                <a:moveTo>
                  <a:pt x="31789" y="0"/>
                </a:moveTo>
                <a:lnTo>
                  <a:pt x="5325061" y="0"/>
                </a:lnTo>
                <a:cubicBezTo>
                  <a:pt x="5342617" y="0"/>
                  <a:pt x="5356850" y="14233"/>
                  <a:pt x="5356850" y="31789"/>
                </a:cubicBezTo>
                <a:lnTo>
                  <a:pt x="5356850" y="508664"/>
                </a:lnTo>
                <a:cubicBezTo>
                  <a:pt x="5356850" y="526221"/>
                  <a:pt x="5342617" y="540454"/>
                  <a:pt x="5325061" y="540454"/>
                </a:cubicBezTo>
                <a:lnTo>
                  <a:pt x="31789" y="540454"/>
                </a:lnTo>
                <a:cubicBezTo>
                  <a:pt x="14233" y="540454"/>
                  <a:pt x="0" y="526221"/>
                  <a:pt x="0" y="508664"/>
                </a:cubicBezTo>
                <a:lnTo>
                  <a:pt x="0" y="31789"/>
                </a:lnTo>
                <a:cubicBezTo>
                  <a:pt x="0" y="14233"/>
                  <a:pt x="14233" y="0"/>
                  <a:pt x="3178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4962" y="3577328"/>
            <a:ext cx="254331" cy="254331"/>
          </a:xfrm>
          <a:custGeom>
            <a:avLst/>
            <a:gdLst/>
            <a:ahLst/>
            <a:cxnLst/>
            <a:rect l="l" t="t" r="r" b="b"/>
            <a:pathLst>
              <a:path w="254331" h="254331">
                <a:moveTo>
                  <a:pt x="127166" y="0"/>
                </a:moveTo>
                <a:lnTo>
                  <a:pt x="127166" y="0"/>
                </a:lnTo>
                <a:cubicBezTo>
                  <a:pt x="197350" y="0"/>
                  <a:pt x="254331" y="56981"/>
                  <a:pt x="254331" y="127166"/>
                </a:cubicBezTo>
                <a:lnTo>
                  <a:pt x="254331" y="127166"/>
                </a:lnTo>
                <a:cubicBezTo>
                  <a:pt x="254331" y="197350"/>
                  <a:pt x="197350" y="254331"/>
                  <a:pt x="127166" y="254331"/>
                </a:cubicBezTo>
                <a:lnTo>
                  <a:pt x="127166" y="254331"/>
                </a:lnTo>
                <a:cubicBezTo>
                  <a:pt x="56981" y="254331"/>
                  <a:pt x="0" y="197350"/>
                  <a:pt x="0" y="127166"/>
                </a:cubicBezTo>
                <a:lnTo>
                  <a:pt x="0" y="127166"/>
                </a:lnTo>
                <a:cubicBezTo>
                  <a:pt x="0" y="56981"/>
                  <a:pt x="56981" y="0"/>
                  <a:pt x="127166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0" name="Text 18"/>
          <p:cNvSpPr/>
          <p:nvPr/>
        </p:nvSpPr>
        <p:spPr>
          <a:xfrm>
            <a:off x="679740" y="3625015"/>
            <a:ext cx="119218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4667" y="3545536"/>
            <a:ext cx="2487677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Matching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4667" y="3736284"/>
            <a:ext cx="2479729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Matched each trip with its corresponding taxi zone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4272" y="4295814"/>
            <a:ext cx="5687481" cy="2238114"/>
          </a:xfrm>
          <a:custGeom>
            <a:avLst/>
            <a:gdLst/>
            <a:ahLst/>
            <a:cxnLst/>
            <a:rect l="l" t="t" r="r" b="b"/>
            <a:pathLst>
              <a:path w="5687481" h="2238114">
                <a:moveTo>
                  <a:pt x="63585" y="0"/>
                </a:moveTo>
                <a:lnTo>
                  <a:pt x="5623896" y="0"/>
                </a:lnTo>
                <a:cubicBezTo>
                  <a:pt x="5659013" y="0"/>
                  <a:pt x="5687481" y="28468"/>
                  <a:pt x="5687481" y="63585"/>
                </a:cubicBezTo>
                <a:lnTo>
                  <a:pt x="5687481" y="2174529"/>
                </a:lnTo>
                <a:cubicBezTo>
                  <a:pt x="5687481" y="2209646"/>
                  <a:pt x="5659013" y="2238114"/>
                  <a:pt x="5623896" y="2238114"/>
                </a:cubicBezTo>
                <a:lnTo>
                  <a:pt x="63585" y="2238114"/>
                </a:lnTo>
                <a:cubicBezTo>
                  <a:pt x="28468" y="2238114"/>
                  <a:pt x="0" y="2209646"/>
                  <a:pt x="0" y="2174529"/>
                </a:cubicBezTo>
                <a:lnTo>
                  <a:pt x="0" y="63585"/>
                </a:lnTo>
                <a:cubicBezTo>
                  <a:pt x="0" y="28491"/>
                  <a:pt x="28491" y="0"/>
                  <a:pt x="63585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588" y="4461130"/>
            <a:ext cx="445080" cy="445080"/>
          </a:xfrm>
          <a:custGeom>
            <a:avLst/>
            <a:gdLst/>
            <a:ahLst/>
            <a:cxnLst/>
            <a:rect l="l" t="t" r="r" b="b"/>
            <a:pathLst>
              <a:path w="445080" h="445080">
                <a:moveTo>
                  <a:pt x="222540" y="0"/>
                </a:moveTo>
                <a:lnTo>
                  <a:pt x="222540" y="0"/>
                </a:lnTo>
                <a:cubicBezTo>
                  <a:pt x="345445" y="0"/>
                  <a:pt x="445080" y="99634"/>
                  <a:pt x="445080" y="222540"/>
                </a:cubicBezTo>
                <a:lnTo>
                  <a:pt x="445080" y="222540"/>
                </a:lnTo>
                <a:cubicBezTo>
                  <a:pt x="445080" y="345445"/>
                  <a:pt x="345445" y="445080"/>
                  <a:pt x="222540" y="445080"/>
                </a:cubicBezTo>
                <a:lnTo>
                  <a:pt x="222540" y="445080"/>
                </a:lnTo>
                <a:cubicBezTo>
                  <a:pt x="99634" y="445080"/>
                  <a:pt x="0" y="345445"/>
                  <a:pt x="0" y="222540"/>
                </a:cubicBezTo>
                <a:lnTo>
                  <a:pt x="0" y="222540"/>
                </a:lnTo>
                <a:cubicBezTo>
                  <a:pt x="0" y="99634"/>
                  <a:pt x="99634" y="0"/>
                  <a:pt x="22254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753" y="4588295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86619" y="1937"/>
                </a:moveTo>
                <a:cubicBezTo>
                  <a:pt x="92170" y="-633"/>
                  <a:pt x="98578" y="-633"/>
                  <a:pt x="104129" y="1937"/>
                </a:cubicBezTo>
                <a:lnTo>
                  <a:pt x="185570" y="39565"/>
                </a:lnTo>
                <a:cubicBezTo>
                  <a:pt x="188737" y="41018"/>
                  <a:pt x="190748" y="44185"/>
                  <a:pt x="190748" y="47687"/>
                </a:cubicBezTo>
                <a:cubicBezTo>
                  <a:pt x="190748" y="51189"/>
                  <a:pt x="188737" y="54356"/>
                  <a:pt x="185570" y="55809"/>
                </a:cubicBezTo>
                <a:lnTo>
                  <a:pt x="104129" y="93437"/>
                </a:lnTo>
                <a:cubicBezTo>
                  <a:pt x="98578" y="96008"/>
                  <a:pt x="92170" y="96008"/>
                  <a:pt x="86619" y="93437"/>
                </a:cubicBezTo>
                <a:lnTo>
                  <a:pt x="5179" y="55809"/>
                </a:lnTo>
                <a:cubicBezTo>
                  <a:pt x="2012" y="54319"/>
                  <a:pt x="0" y="51152"/>
                  <a:pt x="0" y="47687"/>
                </a:cubicBezTo>
                <a:cubicBezTo>
                  <a:pt x="0" y="44222"/>
                  <a:pt x="2012" y="41018"/>
                  <a:pt x="5179" y="39565"/>
                </a:cubicBezTo>
                <a:lnTo>
                  <a:pt x="86619" y="1937"/>
                </a:lnTo>
                <a:close/>
                <a:moveTo>
                  <a:pt x="17920" y="81366"/>
                </a:moveTo>
                <a:lnTo>
                  <a:pt x="79131" y="109643"/>
                </a:lnTo>
                <a:cubicBezTo>
                  <a:pt x="89451" y="114412"/>
                  <a:pt x="101335" y="114412"/>
                  <a:pt x="111655" y="109643"/>
                </a:cubicBezTo>
                <a:lnTo>
                  <a:pt x="172866" y="81366"/>
                </a:lnTo>
                <a:lnTo>
                  <a:pt x="185570" y="87252"/>
                </a:lnTo>
                <a:cubicBezTo>
                  <a:pt x="188737" y="88705"/>
                  <a:pt x="190748" y="91872"/>
                  <a:pt x="190748" y="95374"/>
                </a:cubicBezTo>
                <a:cubicBezTo>
                  <a:pt x="190748" y="98876"/>
                  <a:pt x="188737" y="102043"/>
                  <a:pt x="185570" y="103496"/>
                </a:cubicBezTo>
                <a:lnTo>
                  <a:pt x="104129" y="141124"/>
                </a:lnTo>
                <a:cubicBezTo>
                  <a:pt x="98578" y="143695"/>
                  <a:pt x="92170" y="143695"/>
                  <a:pt x="86619" y="141124"/>
                </a:cubicBezTo>
                <a:lnTo>
                  <a:pt x="5179" y="103496"/>
                </a:lnTo>
                <a:cubicBezTo>
                  <a:pt x="2012" y="102006"/>
                  <a:pt x="0" y="98839"/>
                  <a:pt x="0" y="95374"/>
                </a:cubicBezTo>
                <a:cubicBezTo>
                  <a:pt x="0" y="91909"/>
                  <a:pt x="2012" y="88705"/>
                  <a:pt x="5179" y="87252"/>
                </a:cubicBezTo>
                <a:lnTo>
                  <a:pt x="17883" y="81366"/>
                </a:lnTo>
                <a:close/>
                <a:moveTo>
                  <a:pt x="5179" y="134940"/>
                </a:moveTo>
                <a:lnTo>
                  <a:pt x="17883" y="129053"/>
                </a:lnTo>
                <a:lnTo>
                  <a:pt x="79094" y="157330"/>
                </a:lnTo>
                <a:cubicBezTo>
                  <a:pt x="89413" y="162099"/>
                  <a:pt x="101298" y="162099"/>
                  <a:pt x="111618" y="157330"/>
                </a:cubicBezTo>
                <a:lnTo>
                  <a:pt x="172828" y="129053"/>
                </a:lnTo>
                <a:lnTo>
                  <a:pt x="185533" y="134940"/>
                </a:lnTo>
                <a:cubicBezTo>
                  <a:pt x="188699" y="136393"/>
                  <a:pt x="190711" y="139559"/>
                  <a:pt x="190711" y="143061"/>
                </a:cubicBezTo>
                <a:cubicBezTo>
                  <a:pt x="190711" y="146563"/>
                  <a:pt x="188699" y="149730"/>
                  <a:pt x="185533" y="151183"/>
                </a:cubicBezTo>
                <a:lnTo>
                  <a:pt x="104092" y="188811"/>
                </a:lnTo>
                <a:cubicBezTo>
                  <a:pt x="98541" y="191382"/>
                  <a:pt x="92133" y="191382"/>
                  <a:pt x="86582" y="188811"/>
                </a:cubicBezTo>
                <a:lnTo>
                  <a:pt x="5179" y="151183"/>
                </a:lnTo>
                <a:cubicBezTo>
                  <a:pt x="2012" y="149693"/>
                  <a:pt x="0" y="146526"/>
                  <a:pt x="0" y="143061"/>
                </a:cubicBezTo>
                <a:cubicBezTo>
                  <a:pt x="0" y="139597"/>
                  <a:pt x="2012" y="136393"/>
                  <a:pt x="5179" y="13494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833" y="4556504"/>
            <a:ext cx="1430613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Added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9588" y="5033371"/>
            <a:ext cx="5356850" cy="381497"/>
          </a:xfrm>
          <a:custGeom>
            <a:avLst/>
            <a:gdLst/>
            <a:ahLst/>
            <a:cxnLst/>
            <a:rect l="l" t="t" r="r" b="b"/>
            <a:pathLst>
              <a:path w="5356850" h="381497">
                <a:moveTo>
                  <a:pt x="31790" y="0"/>
                </a:moveTo>
                <a:lnTo>
                  <a:pt x="5325060" y="0"/>
                </a:lnTo>
                <a:cubicBezTo>
                  <a:pt x="5342617" y="0"/>
                  <a:pt x="5356850" y="14233"/>
                  <a:pt x="5356850" y="31790"/>
                </a:cubicBezTo>
                <a:lnTo>
                  <a:pt x="5356850" y="349707"/>
                </a:lnTo>
                <a:cubicBezTo>
                  <a:pt x="5356850" y="367264"/>
                  <a:pt x="5342617" y="381497"/>
                  <a:pt x="5325060" y="381497"/>
                </a:cubicBezTo>
                <a:lnTo>
                  <a:pt x="31790" y="381497"/>
                </a:lnTo>
                <a:cubicBezTo>
                  <a:pt x="14245" y="381497"/>
                  <a:pt x="0" y="367252"/>
                  <a:pt x="0" y="349707"/>
                </a:cubicBezTo>
                <a:lnTo>
                  <a:pt x="0" y="31790"/>
                </a:lnTo>
                <a:cubicBezTo>
                  <a:pt x="0" y="14245"/>
                  <a:pt x="14245" y="0"/>
                  <a:pt x="3179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4701" y="5144641"/>
            <a:ext cx="119218" cy="158957"/>
          </a:xfrm>
          <a:custGeom>
            <a:avLst/>
            <a:gdLst/>
            <a:ahLst/>
            <a:cxnLst/>
            <a:rect l="l" t="t" r="r" b="b"/>
            <a:pathLst>
              <a:path w="119218" h="158957">
                <a:moveTo>
                  <a:pt x="0" y="58553"/>
                </a:moveTo>
                <a:cubicBezTo>
                  <a:pt x="0" y="26203"/>
                  <a:pt x="26700" y="0"/>
                  <a:pt x="59609" y="0"/>
                </a:cubicBezTo>
                <a:cubicBezTo>
                  <a:pt x="92518" y="0"/>
                  <a:pt x="119218" y="26203"/>
                  <a:pt x="119218" y="58553"/>
                </a:cubicBezTo>
                <a:cubicBezTo>
                  <a:pt x="119218" y="95592"/>
                  <a:pt x="81900" y="139988"/>
                  <a:pt x="66315" y="156908"/>
                </a:cubicBezTo>
                <a:cubicBezTo>
                  <a:pt x="62651" y="160882"/>
                  <a:pt x="56535" y="160882"/>
                  <a:pt x="52872" y="156908"/>
                </a:cubicBezTo>
                <a:cubicBezTo>
                  <a:pt x="37287" y="139988"/>
                  <a:pt x="-31" y="95592"/>
                  <a:pt x="-31" y="58553"/>
                </a:cubicBezTo>
                <a:close/>
                <a:moveTo>
                  <a:pt x="59609" y="79478"/>
                </a:moveTo>
                <a:cubicBezTo>
                  <a:pt x="70575" y="79478"/>
                  <a:pt x="79478" y="70575"/>
                  <a:pt x="79478" y="59609"/>
                </a:cubicBezTo>
                <a:cubicBezTo>
                  <a:pt x="79478" y="48643"/>
                  <a:pt x="70575" y="39739"/>
                  <a:pt x="59609" y="39739"/>
                </a:cubicBezTo>
                <a:cubicBezTo>
                  <a:pt x="48643" y="39739"/>
                  <a:pt x="39739" y="48643"/>
                  <a:pt x="39739" y="59609"/>
                </a:cubicBezTo>
                <a:cubicBezTo>
                  <a:pt x="39739" y="70575"/>
                  <a:pt x="48643" y="79478"/>
                  <a:pt x="59609" y="79478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9" name="Text 27"/>
          <p:cNvSpPr/>
          <p:nvPr/>
        </p:nvSpPr>
        <p:spPr>
          <a:xfrm>
            <a:off x="879032" y="5128745"/>
            <a:ext cx="1661100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borough identification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9588" y="5510242"/>
            <a:ext cx="5356850" cy="381497"/>
          </a:xfrm>
          <a:custGeom>
            <a:avLst/>
            <a:gdLst/>
            <a:ahLst/>
            <a:cxnLst/>
            <a:rect l="l" t="t" r="r" b="b"/>
            <a:pathLst>
              <a:path w="5356850" h="381497">
                <a:moveTo>
                  <a:pt x="31790" y="0"/>
                </a:moveTo>
                <a:lnTo>
                  <a:pt x="5325060" y="0"/>
                </a:lnTo>
                <a:cubicBezTo>
                  <a:pt x="5342617" y="0"/>
                  <a:pt x="5356850" y="14233"/>
                  <a:pt x="5356850" y="31790"/>
                </a:cubicBezTo>
                <a:lnTo>
                  <a:pt x="5356850" y="349707"/>
                </a:lnTo>
                <a:cubicBezTo>
                  <a:pt x="5356850" y="367264"/>
                  <a:pt x="5342617" y="381497"/>
                  <a:pt x="5325060" y="381497"/>
                </a:cubicBezTo>
                <a:lnTo>
                  <a:pt x="31790" y="381497"/>
                </a:lnTo>
                <a:cubicBezTo>
                  <a:pt x="14245" y="381497"/>
                  <a:pt x="0" y="367252"/>
                  <a:pt x="0" y="349707"/>
                </a:cubicBezTo>
                <a:lnTo>
                  <a:pt x="0" y="31790"/>
                </a:lnTo>
                <a:cubicBezTo>
                  <a:pt x="0" y="14245"/>
                  <a:pt x="14245" y="0"/>
                  <a:pt x="3179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4766" y="5621512"/>
            <a:ext cx="139087" cy="158957"/>
          </a:xfrm>
          <a:custGeom>
            <a:avLst/>
            <a:gdLst/>
            <a:ahLst/>
            <a:cxnLst/>
            <a:rect l="l" t="t" r="r" b="b"/>
            <a:pathLst>
              <a:path w="139087" h="158957">
                <a:moveTo>
                  <a:pt x="9935" y="0"/>
                </a:moveTo>
                <a:cubicBezTo>
                  <a:pt x="15430" y="0"/>
                  <a:pt x="19870" y="4440"/>
                  <a:pt x="19870" y="9935"/>
                </a:cubicBezTo>
                <a:lnTo>
                  <a:pt x="19870" y="14902"/>
                </a:lnTo>
                <a:lnTo>
                  <a:pt x="41292" y="9562"/>
                </a:lnTo>
                <a:cubicBezTo>
                  <a:pt x="53120" y="6613"/>
                  <a:pt x="65601" y="7979"/>
                  <a:pt x="76529" y="13443"/>
                </a:cubicBezTo>
                <a:cubicBezTo>
                  <a:pt x="90904" y="20646"/>
                  <a:pt x="107824" y="20646"/>
                  <a:pt x="122198" y="13443"/>
                </a:cubicBezTo>
                <a:lnTo>
                  <a:pt x="125179" y="11953"/>
                </a:lnTo>
                <a:cubicBezTo>
                  <a:pt x="131574" y="8724"/>
                  <a:pt x="139087" y="13381"/>
                  <a:pt x="139087" y="20522"/>
                </a:cubicBezTo>
                <a:lnTo>
                  <a:pt x="139087" y="107358"/>
                </a:lnTo>
                <a:cubicBezTo>
                  <a:pt x="139087" y="111487"/>
                  <a:pt x="136511" y="115213"/>
                  <a:pt x="132630" y="116672"/>
                </a:cubicBezTo>
                <a:lnTo>
                  <a:pt x="121857" y="120708"/>
                </a:lnTo>
                <a:cubicBezTo>
                  <a:pt x="107513" y="126079"/>
                  <a:pt x="91555" y="125241"/>
                  <a:pt x="77864" y="118411"/>
                </a:cubicBezTo>
                <a:cubicBezTo>
                  <a:pt x="66098" y="112512"/>
                  <a:pt x="52592" y="111053"/>
                  <a:pt x="39832" y="114250"/>
                </a:cubicBezTo>
                <a:lnTo>
                  <a:pt x="19870" y="119218"/>
                </a:lnTo>
                <a:lnTo>
                  <a:pt x="19870" y="149022"/>
                </a:lnTo>
                <a:cubicBezTo>
                  <a:pt x="19870" y="154517"/>
                  <a:pt x="15430" y="158957"/>
                  <a:pt x="9935" y="158957"/>
                </a:cubicBezTo>
                <a:cubicBezTo>
                  <a:pt x="4440" y="158957"/>
                  <a:pt x="0" y="154517"/>
                  <a:pt x="0" y="149022"/>
                </a:cubicBezTo>
                <a:lnTo>
                  <a:pt x="0" y="9935"/>
                </a:lnTo>
                <a:cubicBezTo>
                  <a:pt x="0" y="4440"/>
                  <a:pt x="4440" y="0"/>
                  <a:pt x="9935" y="0"/>
                </a:cubicBezTo>
                <a:close/>
                <a:moveTo>
                  <a:pt x="19870" y="58088"/>
                </a:moveTo>
                <a:lnTo>
                  <a:pt x="39739" y="53772"/>
                </a:lnTo>
                <a:lnTo>
                  <a:pt x="39739" y="74107"/>
                </a:lnTo>
                <a:lnTo>
                  <a:pt x="19870" y="78423"/>
                </a:lnTo>
                <a:lnTo>
                  <a:pt x="19870" y="98758"/>
                </a:lnTo>
                <a:lnTo>
                  <a:pt x="35020" y="94971"/>
                </a:lnTo>
                <a:cubicBezTo>
                  <a:pt x="36604" y="94567"/>
                  <a:pt x="38156" y="94225"/>
                  <a:pt x="39739" y="93946"/>
                </a:cubicBezTo>
                <a:lnTo>
                  <a:pt x="39739" y="74107"/>
                </a:lnTo>
                <a:lnTo>
                  <a:pt x="51816" y="71500"/>
                </a:lnTo>
                <a:cubicBezTo>
                  <a:pt x="54393" y="70941"/>
                  <a:pt x="57001" y="70723"/>
                  <a:pt x="59609" y="70848"/>
                </a:cubicBezTo>
                <a:lnTo>
                  <a:pt x="59609" y="50978"/>
                </a:lnTo>
                <a:cubicBezTo>
                  <a:pt x="63831" y="51102"/>
                  <a:pt x="68053" y="51785"/>
                  <a:pt x="72152" y="52965"/>
                </a:cubicBezTo>
                <a:lnTo>
                  <a:pt x="79478" y="55107"/>
                </a:lnTo>
                <a:lnTo>
                  <a:pt x="79478" y="75815"/>
                </a:lnTo>
                <a:lnTo>
                  <a:pt x="66532" y="71996"/>
                </a:lnTo>
                <a:cubicBezTo>
                  <a:pt x="64266" y="71344"/>
                  <a:pt x="61937" y="70941"/>
                  <a:pt x="59609" y="70817"/>
                </a:cubicBezTo>
                <a:lnTo>
                  <a:pt x="59609" y="92984"/>
                </a:lnTo>
                <a:cubicBezTo>
                  <a:pt x="66377" y="93574"/>
                  <a:pt x="73052" y="95064"/>
                  <a:pt x="79478" y="97454"/>
                </a:cubicBezTo>
                <a:lnTo>
                  <a:pt x="79478" y="75784"/>
                </a:lnTo>
                <a:lnTo>
                  <a:pt x="86526" y="77864"/>
                </a:lnTo>
                <a:cubicBezTo>
                  <a:pt x="90717" y="79106"/>
                  <a:pt x="95002" y="79851"/>
                  <a:pt x="99348" y="80162"/>
                </a:cubicBezTo>
                <a:lnTo>
                  <a:pt x="99348" y="60230"/>
                </a:lnTo>
                <a:cubicBezTo>
                  <a:pt x="96926" y="59981"/>
                  <a:pt x="94505" y="59516"/>
                  <a:pt x="92145" y="58833"/>
                </a:cubicBezTo>
                <a:lnTo>
                  <a:pt x="79478" y="55107"/>
                </a:lnTo>
                <a:lnTo>
                  <a:pt x="79478" y="35858"/>
                </a:lnTo>
                <a:cubicBezTo>
                  <a:pt x="75442" y="34679"/>
                  <a:pt x="71469" y="33126"/>
                  <a:pt x="67619" y="31202"/>
                </a:cubicBezTo>
                <a:cubicBezTo>
                  <a:pt x="65073" y="29929"/>
                  <a:pt x="62372" y="29028"/>
                  <a:pt x="59609" y="28469"/>
                </a:cubicBezTo>
                <a:lnTo>
                  <a:pt x="59609" y="50947"/>
                </a:lnTo>
                <a:cubicBezTo>
                  <a:pt x="55573" y="50823"/>
                  <a:pt x="51537" y="51195"/>
                  <a:pt x="47594" y="52065"/>
                </a:cubicBezTo>
                <a:lnTo>
                  <a:pt x="39739" y="53772"/>
                </a:lnTo>
                <a:lnTo>
                  <a:pt x="39739" y="30425"/>
                </a:lnTo>
                <a:lnTo>
                  <a:pt x="19870" y="35393"/>
                </a:lnTo>
                <a:lnTo>
                  <a:pt x="19870" y="58088"/>
                </a:lnTo>
                <a:close/>
                <a:moveTo>
                  <a:pt x="99348" y="104222"/>
                </a:moveTo>
                <a:cubicBezTo>
                  <a:pt x="104564" y="104688"/>
                  <a:pt x="109873" y="104005"/>
                  <a:pt x="114871" y="102111"/>
                </a:cubicBezTo>
                <a:lnTo>
                  <a:pt x="119218" y="100497"/>
                </a:lnTo>
                <a:lnTo>
                  <a:pt x="119218" y="78237"/>
                </a:lnTo>
                <a:lnTo>
                  <a:pt x="116765" y="78795"/>
                </a:lnTo>
                <a:cubicBezTo>
                  <a:pt x="111053" y="80130"/>
                  <a:pt x="105185" y="80565"/>
                  <a:pt x="99348" y="80193"/>
                </a:cubicBezTo>
                <a:lnTo>
                  <a:pt x="99348" y="104222"/>
                </a:lnTo>
                <a:close/>
                <a:moveTo>
                  <a:pt x="119218" y="57839"/>
                </a:moveTo>
                <a:lnTo>
                  <a:pt x="119218" y="35858"/>
                </a:lnTo>
                <a:cubicBezTo>
                  <a:pt x="112729" y="37752"/>
                  <a:pt x="106054" y="38684"/>
                  <a:pt x="99348" y="38684"/>
                </a:cubicBezTo>
                <a:lnTo>
                  <a:pt x="99348" y="60230"/>
                </a:lnTo>
                <a:cubicBezTo>
                  <a:pt x="103664" y="60664"/>
                  <a:pt x="108041" y="60385"/>
                  <a:pt x="112294" y="59423"/>
                </a:cubicBezTo>
                <a:lnTo>
                  <a:pt x="119218" y="57808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2" name="Text 30"/>
          <p:cNvSpPr/>
          <p:nvPr/>
        </p:nvSpPr>
        <p:spPr>
          <a:xfrm>
            <a:off x="879032" y="5605616"/>
            <a:ext cx="1788266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Drop-off borough identification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9588" y="5987113"/>
            <a:ext cx="5356850" cy="381497"/>
          </a:xfrm>
          <a:custGeom>
            <a:avLst/>
            <a:gdLst/>
            <a:ahLst/>
            <a:cxnLst/>
            <a:rect l="l" t="t" r="r" b="b"/>
            <a:pathLst>
              <a:path w="5356850" h="381497">
                <a:moveTo>
                  <a:pt x="31790" y="0"/>
                </a:moveTo>
                <a:lnTo>
                  <a:pt x="5325060" y="0"/>
                </a:lnTo>
                <a:cubicBezTo>
                  <a:pt x="5342617" y="0"/>
                  <a:pt x="5356850" y="14233"/>
                  <a:pt x="5356850" y="31790"/>
                </a:cubicBezTo>
                <a:lnTo>
                  <a:pt x="5356850" y="349707"/>
                </a:lnTo>
                <a:cubicBezTo>
                  <a:pt x="5356850" y="367264"/>
                  <a:pt x="5342617" y="381497"/>
                  <a:pt x="5325060" y="381497"/>
                </a:cubicBezTo>
                <a:lnTo>
                  <a:pt x="31790" y="381497"/>
                </a:lnTo>
                <a:cubicBezTo>
                  <a:pt x="14245" y="381497"/>
                  <a:pt x="0" y="367252"/>
                  <a:pt x="0" y="349707"/>
                </a:cubicBezTo>
                <a:lnTo>
                  <a:pt x="0" y="31790"/>
                </a:lnTo>
                <a:cubicBezTo>
                  <a:pt x="0" y="14245"/>
                  <a:pt x="14245" y="0"/>
                  <a:pt x="3179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4896" y="6098383"/>
            <a:ext cx="178827" cy="158957"/>
          </a:xfrm>
          <a:custGeom>
            <a:avLst/>
            <a:gdLst/>
            <a:ahLst/>
            <a:cxnLst/>
            <a:rect l="l" t="t" r="r" b="b"/>
            <a:pathLst>
              <a:path w="178827" h="158957">
                <a:moveTo>
                  <a:pt x="99348" y="0"/>
                </a:moveTo>
                <a:cubicBezTo>
                  <a:pt x="88389" y="0"/>
                  <a:pt x="79478" y="8910"/>
                  <a:pt x="79478" y="19870"/>
                </a:cubicBezTo>
                <a:lnTo>
                  <a:pt x="79478" y="29804"/>
                </a:lnTo>
                <a:lnTo>
                  <a:pt x="64576" y="29804"/>
                </a:lnTo>
                <a:lnTo>
                  <a:pt x="64576" y="7451"/>
                </a:lnTo>
                <a:cubicBezTo>
                  <a:pt x="64576" y="3322"/>
                  <a:pt x="61254" y="0"/>
                  <a:pt x="57125" y="0"/>
                </a:cubicBezTo>
                <a:cubicBezTo>
                  <a:pt x="52996" y="0"/>
                  <a:pt x="49674" y="3322"/>
                  <a:pt x="49674" y="7451"/>
                </a:cubicBezTo>
                <a:lnTo>
                  <a:pt x="49674" y="29804"/>
                </a:lnTo>
                <a:lnTo>
                  <a:pt x="29804" y="29804"/>
                </a:lnTo>
                <a:lnTo>
                  <a:pt x="29804" y="7451"/>
                </a:lnTo>
                <a:cubicBezTo>
                  <a:pt x="29804" y="3322"/>
                  <a:pt x="26482" y="0"/>
                  <a:pt x="22353" y="0"/>
                </a:cubicBezTo>
                <a:cubicBezTo>
                  <a:pt x="18224" y="0"/>
                  <a:pt x="14902" y="3322"/>
                  <a:pt x="14902" y="7451"/>
                </a:cubicBezTo>
                <a:lnTo>
                  <a:pt x="14902" y="30425"/>
                </a:lnTo>
                <a:cubicBezTo>
                  <a:pt x="6333" y="32630"/>
                  <a:pt x="0" y="40422"/>
                  <a:pt x="0" y="49674"/>
                </a:cubicBezTo>
                <a:lnTo>
                  <a:pt x="0" y="139087"/>
                </a:lnTo>
                <a:cubicBezTo>
                  <a:pt x="0" y="150047"/>
                  <a:pt x="8910" y="158957"/>
                  <a:pt x="19870" y="158957"/>
                </a:cubicBezTo>
                <a:lnTo>
                  <a:pt x="158957" y="158957"/>
                </a:lnTo>
                <a:cubicBezTo>
                  <a:pt x="169916" y="158957"/>
                  <a:pt x="178827" y="150047"/>
                  <a:pt x="178827" y="139087"/>
                </a:cubicBezTo>
                <a:lnTo>
                  <a:pt x="178827" y="79478"/>
                </a:lnTo>
                <a:cubicBezTo>
                  <a:pt x="178827" y="68519"/>
                  <a:pt x="169916" y="59609"/>
                  <a:pt x="158957" y="59609"/>
                </a:cubicBezTo>
                <a:lnTo>
                  <a:pt x="139087" y="59609"/>
                </a:lnTo>
                <a:lnTo>
                  <a:pt x="139087" y="19870"/>
                </a:lnTo>
                <a:cubicBezTo>
                  <a:pt x="139087" y="8910"/>
                  <a:pt x="130177" y="0"/>
                  <a:pt x="119218" y="0"/>
                </a:cubicBezTo>
                <a:lnTo>
                  <a:pt x="99348" y="0"/>
                </a:lnTo>
                <a:close/>
                <a:moveTo>
                  <a:pt x="119218" y="34772"/>
                </a:moveTo>
                <a:lnTo>
                  <a:pt x="119218" y="44707"/>
                </a:lnTo>
                <a:cubicBezTo>
                  <a:pt x="119218" y="47439"/>
                  <a:pt x="116982" y="49674"/>
                  <a:pt x="114250" y="49674"/>
                </a:cubicBezTo>
                <a:lnTo>
                  <a:pt x="104316" y="49674"/>
                </a:lnTo>
                <a:cubicBezTo>
                  <a:pt x="101583" y="49674"/>
                  <a:pt x="99348" y="47439"/>
                  <a:pt x="99348" y="44707"/>
                </a:cubicBezTo>
                <a:lnTo>
                  <a:pt x="99348" y="34772"/>
                </a:lnTo>
                <a:cubicBezTo>
                  <a:pt x="99348" y="32040"/>
                  <a:pt x="101583" y="29804"/>
                  <a:pt x="104316" y="29804"/>
                </a:cubicBezTo>
                <a:lnTo>
                  <a:pt x="114250" y="29804"/>
                </a:lnTo>
                <a:cubicBezTo>
                  <a:pt x="116982" y="29804"/>
                  <a:pt x="119218" y="32040"/>
                  <a:pt x="119218" y="34772"/>
                </a:cubicBezTo>
                <a:close/>
                <a:moveTo>
                  <a:pt x="114250" y="59609"/>
                </a:moveTo>
                <a:cubicBezTo>
                  <a:pt x="116982" y="59609"/>
                  <a:pt x="119218" y="61844"/>
                  <a:pt x="119218" y="64576"/>
                </a:cubicBezTo>
                <a:lnTo>
                  <a:pt x="119218" y="74511"/>
                </a:lnTo>
                <a:cubicBezTo>
                  <a:pt x="119218" y="77243"/>
                  <a:pt x="116982" y="79478"/>
                  <a:pt x="114250" y="79478"/>
                </a:cubicBezTo>
                <a:lnTo>
                  <a:pt x="104316" y="79478"/>
                </a:lnTo>
                <a:cubicBezTo>
                  <a:pt x="101583" y="79478"/>
                  <a:pt x="99348" y="77243"/>
                  <a:pt x="99348" y="74511"/>
                </a:cubicBezTo>
                <a:lnTo>
                  <a:pt x="99348" y="64576"/>
                </a:lnTo>
                <a:cubicBezTo>
                  <a:pt x="99348" y="61844"/>
                  <a:pt x="101583" y="59609"/>
                  <a:pt x="104316" y="59609"/>
                </a:cubicBezTo>
                <a:lnTo>
                  <a:pt x="114250" y="59609"/>
                </a:lnTo>
                <a:close/>
                <a:moveTo>
                  <a:pt x="119218" y="94381"/>
                </a:moveTo>
                <a:lnTo>
                  <a:pt x="119218" y="104316"/>
                </a:lnTo>
                <a:cubicBezTo>
                  <a:pt x="119218" y="107048"/>
                  <a:pt x="116982" y="109283"/>
                  <a:pt x="114250" y="109283"/>
                </a:cubicBezTo>
                <a:lnTo>
                  <a:pt x="104316" y="109283"/>
                </a:lnTo>
                <a:cubicBezTo>
                  <a:pt x="101583" y="109283"/>
                  <a:pt x="99348" y="107048"/>
                  <a:pt x="99348" y="104316"/>
                </a:cubicBezTo>
                <a:lnTo>
                  <a:pt x="99348" y="94381"/>
                </a:lnTo>
                <a:cubicBezTo>
                  <a:pt x="99348" y="91649"/>
                  <a:pt x="101583" y="89413"/>
                  <a:pt x="104316" y="89413"/>
                </a:cubicBezTo>
                <a:lnTo>
                  <a:pt x="114250" y="89413"/>
                </a:lnTo>
                <a:cubicBezTo>
                  <a:pt x="116982" y="89413"/>
                  <a:pt x="119218" y="91649"/>
                  <a:pt x="119218" y="94381"/>
                </a:cubicBezTo>
                <a:close/>
                <a:moveTo>
                  <a:pt x="153990" y="89413"/>
                </a:moveTo>
                <a:cubicBezTo>
                  <a:pt x="156722" y="89413"/>
                  <a:pt x="158957" y="91649"/>
                  <a:pt x="158957" y="94381"/>
                </a:cubicBezTo>
                <a:lnTo>
                  <a:pt x="158957" y="104316"/>
                </a:lnTo>
                <a:cubicBezTo>
                  <a:pt x="158957" y="107048"/>
                  <a:pt x="156722" y="109283"/>
                  <a:pt x="153990" y="109283"/>
                </a:cubicBezTo>
                <a:lnTo>
                  <a:pt x="144055" y="109283"/>
                </a:lnTo>
                <a:cubicBezTo>
                  <a:pt x="141323" y="109283"/>
                  <a:pt x="139087" y="107048"/>
                  <a:pt x="139087" y="104316"/>
                </a:cubicBezTo>
                <a:lnTo>
                  <a:pt x="139087" y="94381"/>
                </a:lnTo>
                <a:cubicBezTo>
                  <a:pt x="139087" y="91649"/>
                  <a:pt x="141323" y="89413"/>
                  <a:pt x="144055" y="89413"/>
                </a:cubicBezTo>
                <a:lnTo>
                  <a:pt x="153990" y="89413"/>
                </a:lnTo>
                <a:close/>
                <a:moveTo>
                  <a:pt x="79478" y="94381"/>
                </a:moveTo>
                <a:lnTo>
                  <a:pt x="79478" y="104316"/>
                </a:lnTo>
                <a:cubicBezTo>
                  <a:pt x="79478" y="107048"/>
                  <a:pt x="77243" y="109283"/>
                  <a:pt x="74511" y="109283"/>
                </a:cubicBezTo>
                <a:lnTo>
                  <a:pt x="64576" y="109283"/>
                </a:lnTo>
                <a:cubicBezTo>
                  <a:pt x="61844" y="109283"/>
                  <a:pt x="59609" y="107048"/>
                  <a:pt x="59609" y="104316"/>
                </a:cubicBezTo>
                <a:lnTo>
                  <a:pt x="59609" y="94381"/>
                </a:lnTo>
                <a:cubicBezTo>
                  <a:pt x="59609" y="91649"/>
                  <a:pt x="61844" y="89413"/>
                  <a:pt x="64576" y="89413"/>
                </a:cubicBezTo>
                <a:lnTo>
                  <a:pt x="74511" y="89413"/>
                </a:lnTo>
                <a:cubicBezTo>
                  <a:pt x="77243" y="89413"/>
                  <a:pt x="79478" y="91649"/>
                  <a:pt x="79478" y="94381"/>
                </a:cubicBezTo>
                <a:close/>
                <a:moveTo>
                  <a:pt x="74511" y="59609"/>
                </a:moveTo>
                <a:cubicBezTo>
                  <a:pt x="77243" y="59609"/>
                  <a:pt x="79478" y="61844"/>
                  <a:pt x="79478" y="64576"/>
                </a:cubicBezTo>
                <a:lnTo>
                  <a:pt x="79478" y="74511"/>
                </a:lnTo>
                <a:cubicBezTo>
                  <a:pt x="79478" y="77243"/>
                  <a:pt x="77243" y="79478"/>
                  <a:pt x="74511" y="79478"/>
                </a:cubicBezTo>
                <a:lnTo>
                  <a:pt x="64576" y="79478"/>
                </a:lnTo>
                <a:cubicBezTo>
                  <a:pt x="61844" y="79478"/>
                  <a:pt x="59609" y="77243"/>
                  <a:pt x="59609" y="74511"/>
                </a:cubicBezTo>
                <a:lnTo>
                  <a:pt x="59609" y="64576"/>
                </a:lnTo>
                <a:cubicBezTo>
                  <a:pt x="59609" y="61844"/>
                  <a:pt x="61844" y="59609"/>
                  <a:pt x="64576" y="59609"/>
                </a:cubicBezTo>
                <a:lnTo>
                  <a:pt x="74511" y="59609"/>
                </a:lnTo>
                <a:close/>
                <a:moveTo>
                  <a:pt x="39739" y="94381"/>
                </a:moveTo>
                <a:lnTo>
                  <a:pt x="39739" y="104316"/>
                </a:lnTo>
                <a:cubicBezTo>
                  <a:pt x="39739" y="107048"/>
                  <a:pt x="37504" y="109283"/>
                  <a:pt x="34772" y="109283"/>
                </a:cubicBezTo>
                <a:lnTo>
                  <a:pt x="24837" y="109283"/>
                </a:lnTo>
                <a:cubicBezTo>
                  <a:pt x="22105" y="109283"/>
                  <a:pt x="19870" y="107048"/>
                  <a:pt x="19870" y="104316"/>
                </a:cubicBezTo>
                <a:lnTo>
                  <a:pt x="19870" y="94381"/>
                </a:lnTo>
                <a:cubicBezTo>
                  <a:pt x="19870" y="91649"/>
                  <a:pt x="22105" y="89413"/>
                  <a:pt x="24837" y="89413"/>
                </a:cubicBezTo>
                <a:lnTo>
                  <a:pt x="34772" y="89413"/>
                </a:lnTo>
                <a:cubicBezTo>
                  <a:pt x="37504" y="89413"/>
                  <a:pt x="39739" y="91649"/>
                  <a:pt x="39739" y="94381"/>
                </a:cubicBezTo>
                <a:close/>
                <a:moveTo>
                  <a:pt x="34772" y="59609"/>
                </a:moveTo>
                <a:cubicBezTo>
                  <a:pt x="37504" y="59609"/>
                  <a:pt x="39739" y="61844"/>
                  <a:pt x="39739" y="64576"/>
                </a:cubicBezTo>
                <a:lnTo>
                  <a:pt x="39739" y="74511"/>
                </a:lnTo>
                <a:cubicBezTo>
                  <a:pt x="39739" y="77243"/>
                  <a:pt x="37504" y="79478"/>
                  <a:pt x="34772" y="79478"/>
                </a:cubicBezTo>
                <a:lnTo>
                  <a:pt x="24837" y="79478"/>
                </a:lnTo>
                <a:cubicBezTo>
                  <a:pt x="22105" y="79478"/>
                  <a:pt x="19870" y="77243"/>
                  <a:pt x="19870" y="74511"/>
                </a:cubicBezTo>
                <a:lnTo>
                  <a:pt x="19870" y="64576"/>
                </a:lnTo>
                <a:cubicBezTo>
                  <a:pt x="19870" y="61844"/>
                  <a:pt x="22105" y="59609"/>
                  <a:pt x="24837" y="59609"/>
                </a:cubicBezTo>
                <a:lnTo>
                  <a:pt x="34772" y="59609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5" name="Text 33"/>
          <p:cNvSpPr/>
          <p:nvPr/>
        </p:nvSpPr>
        <p:spPr>
          <a:xfrm>
            <a:off x="879032" y="6082487"/>
            <a:ext cx="1557778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zone categorization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2632" y="2343821"/>
            <a:ext cx="5687481" cy="3923058"/>
          </a:xfrm>
          <a:custGeom>
            <a:avLst/>
            <a:gdLst/>
            <a:ahLst/>
            <a:cxnLst/>
            <a:rect l="l" t="t" r="r" b="b"/>
            <a:pathLst>
              <a:path w="5687481" h="3923058">
                <a:moveTo>
                  <a:pt x="63593" y="0"/>
                </a:moveTo>
                <a:lnTo>
                  <a:pt x="5623888" y="0"/>
                </a:lnTo>
                <a:cubicBezTo>
                  <a:pt x="5659009" y="0"/>
                  <a:pt x="5687481" y="28471"/>
                  <a:pt x="5687481" y="63593"/>
                </a:cubicBezTo>
                <a:lnTo>
                  <a:pt x="5687481" y="3859465"/>
                </a:lnTo>
                <a:cubicBezTo>
                  <a:pt x="5687481" y="3894587"/>
                  <a:pt x="5659009" y="3923058"/>
                  <a:pt x="5623888" y="3923058"/>
                </a:cubicBezTo>
                <a:lnTo>
                  <a:pt x="63593" y="3923058"/>
                </a:lnTo>
                <a:cubicBezTo>
                  <a:pt x="28471" y="3923058"/>
                  <a:pt x="0" y="3894587"/>
                  <a:pt x="0" y="3859465"/>
                </a:cubicBezTo>
                <a:lnTo>
                  <a:pt x="0" y="63593"/>
                </a:lnTo>
                <a:cubicBezTo>
                  <a:pt x="0" y="28471"/>
                  <a:pt x="28471" y="0"/>
                  <a:pt x="6359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270000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87539" y="2540929"/>
            <a:ext cx="476871" cy="476871"/>
          </a:xfrm>
          <a:custGeom>
            <a:avLst/>
            <a:gdLst/>
            <a:ahLst/>
            <a:cxnLst/>
            <a:rect l="l" t="t" r="r" b="b"/>
            <a:pathLst>
              <a:path w="476871" h="476871">
                <a:moveTo>
                  <a:pt x="51878" y="185998"/>
                </a:moveTo>
                <a:lnTo>
                  <a:pt x="80658" y="214778"/>
                </a:lnTo>
                <a:cubicBezTo>
                  <a:pt x="86247" y="220367"/>
                  <a:pt x="93791" y="223533"/>
                  <a:pt x="101708" y="223533"/>
                </a:cubicBezTo>
                <a:lnTo>
                  <a:pt x="121732" y="223533"/>
                </a:lnTo>
                <a:cubicBezTo>
                  <a:pt x="129649" y="223533"/>
                  <a:pt x="137194" y="226700"/>
                  <a:pt x="142782" y="232288"/>
                </a:cubicBezTo>
                <a:lnTo>
                  <a:pt x="170072" y="259578"/>
                </a:lnTo>
                <a:cubicBezTo>
                  <a:pt x="175660" y="265166"/>
                  <a:pt x="178827" y="272711"/>
                  <a:pt x="178827" y="280627"/>
                </a:cubicBezTo>
                <a:lnTo>
                  <a:pt x="178827" y="315554"/>
                </a:lnTo>
                <a:cubicBezTo>
                  <a:pt x="178827" y="323471"/>
                  <a:pt x="181993" y="331015"/>
                  <a:pt x="187582" y="336604"/>
                </a:cubicBezTo>
                <a:lnTo>
                  <a:pt x="199969" y="348991"/>
                </a:lnTo>
                <a:cubicBezTo>
                  <a:pt x="205557" y="354580"/>
                  <a:pt x="208724" y="362124"/>
                  <a:pt x="208724" y="370041"/>
                </a:cubicBezTo>
                <a:lnTo>
                  <a:pt x="208724" y="387458"/>
                </a:lnTo>
                <a:cubicBezTo>
                  <a:pt x="208724" y="403943"/>
                  <a:pt x="222043" y="417262"/>
                  <a:pt x="238529" y="417262"/>
                </a:cubicBezTo>
                <a:cubicBezTo>
                  <a:pt x="255014" y="417262"/>
                  <a:pt x="268333" y="403943"/>
                  <a:pt x="268333" y="387458"/>
                </a:cubicBezTo>
                <a:lnTo>
                  <a:pt x="268333" y="384943"/>
                </a:lnTo>
                <a:cubicBezTo>
                  <a:pt x="268333" y="377026"/>
                  <a:pt x="271500" y="369482"/>
                  <a:pt x="277088" y="363893"/>
                </a:cubicBezTo>
                <a:lnTo>
                  <a:pt x="319280" y="321702"/>
                </a:lnTo>
                <a:cubicBezTo>
                  <a:pt x="324868" y="316113"/>
                  <a:pt x="328035" y="308569"/>
                  <a:pt x="328035" y="300652"/>
                </a:cubicBezTo>
                <a:lnTo>
                  <a:pt x="328035" y="268333"/>
                </a:lnTo>
                <a:cubicBezTo>
                  <a:pt x="328035" y="251847"/>
                  <a:pt x="314716" y="238529"/>
                  <a:pt x="298231" y="238529"/>
                </a:cubicBezTo>
                <a:lnTo>
                  <a:pt x="221205" y="238529"/>
                </a:lnTo>
                <a:cubicBezTo>
                  <a:pt x="213288" y="238529"/>
                  <a:pt x="205744" y="235362"/>
                  <a:pt x="200155" y="229774"/>
                </a:cubicBezTo>
                <a:lnTo>
                  <a:pt x="185253" y="214871"/>
                </a:lnTo>
                <a:cubicBezTo>
                  <a:pt x="181341" y="210960"/>
                  <a:pt x="179106" y="205557"/>
                  <a:pt x="179106" y="199969"/>
                </a:cubicBezTo>
                <a:cubicBezTo>
                  <a:pt x="179106" y="188327"/>
                  <a:pt x="188513" y="178920"/>
                  <a:pt x="200155" y="178920"/>
                </a:cubicBezTo>
                <a:lnTo>
                  <a:pt x="232475" y="178920"/>
                </a:lnTo>
                <a:cubicBezTo>
                  <a:pt x="244117" y="178920"/>
                  <a:pt x="253524" y="169513"/>
                  <a:pt x="253524" y="157870"/>
                </a:cubicBezTo>
                <a:cubicBezTo>
                  <a:pt x="253524" y="152282"/>
                  <a:pt x="251289" y="146880"/>
                  <a:pt x="247377" y="142968"/>
                </a:cubicBezTo>
                <a:lnTo>
                  <a:pt x="229028" y="124620"/>
                </a:lnTo>
                <a:cubicBezTo>
                  <a:pt x="225396" y="121081"/>
                  <a:pt x="223533" y="116517"/>
                  <a:pt x="223533" y="111767"/>
                </a:cubicBezTo>
                <a:cubicBezTo>
                  <a:pt x="223533" y="107017"/>
                  <a:pt x="225396" y="102453"/>
                  <a:pt x="228842" y="99007"/>
                </a:cubicBezTo>
                <a:lnTo>
                  <a:pt x="244955" y="82894"/>
                </a:lnTo>
                <a:cubicBezTo>
                  <a:pt x="250357" y="77492"/>
                  <a:pt x="253431" y="70134"/>
                  <a:pt x="253431" y="62496"/>
                </a:cubicBezTo>
                <a:cubicBezTo>
                  <a:pt x="253431" y="55790"/>
                  <a:pt x="251195" y="49736"/>
                  <a:pt x="247470" y="44893"/>
                </a:cubicBezTo>
                <a:cubicBezTo>
                  <a:pt x="244489" y="44800"/>
                  <a:pt x="241509" y="44707"/>
                  <a:pt x="238529" y="44707"/>
                </a:cubicBezTo>
                <a:cubicBezTo>
                  <a:pt x="149674" y="44707"/>
                  <a:pt x="74884" y="104502"/>
                  <a:pt x="51971" y="185998"/>
                </a:cubicBezTo>
                <a:close/>
                <a:moveTo>
                  <a:pt x="432164" y="238435"/>
                </a:moveTo>
                <a:cubicBezTo>
                  <a:pt x="432164" y="206209"/>
                  <a:pt x="424341" y="175846"/>
                  <a:pt x="410370" y="149208"/>
                </a:cubicBezTo>
                <a:cubicBezTo>
                  <a:pt x="404409" y="150047"/>
                  <a:pt x="398541" y="152841"/>
                  <a:pt x="393698" y="157684"/>
                </a:cubicBezTo>
                <a:lnTo>
                  <a:pt x="381217" y="170165"/>
                </a:lnTo>
                <a:cubicBezTo>
                  <a:pt x="375629" y="175753"/>
                  <a:pt x="372462" y="183297"/>
                  <a:pt x="372462" y="191214"/>
                </a:cubicBezTo>
                <a:lnTo>
                  <a:pt x="372462" y="223533"/>
                </a:lnTo>
                <a:cubicBezTo>
                  <a:pt x="372462" y="240019"/>
                  <a:pt x="385781" y="253338"/>
                  <a:pt x="402267" y="253338"/>
                </a:cubicBezTo>
                <a:lnTo>
                  <a:pt x="424713" y="253338"/>
                </a:lnTo>
                <a:cubicBezTo>
                  <a:pt x="427042" y="253338"/>
                  <a:pt x="429370" y="253058"/>
                  <a:pt x="431512" y="252593"/>
                </a:cubicBezTo>
                <a:cubicBezTo>
                  <a:pt x="431885" y="247936"/>
                  <a:pt x="431978" y="243186"/>
                  <a:pt x="431978" y="238435"/>
                </a:cubicBezTo>
                <a:close/>
                <a:moveTo>
                  <a:pt x="0" y="238435"/>
                </a:moveTo>
                <a:cubicBezTo>
                  <a:pt x="0" y="106839"/>
                  <a:pt x="106839" y="0"/>
                  <a:pt x="238435" y="0"/>
                </a:cubicBezTo>
                <a:cubicBezTo>
                  <a:pt x="370032" y="0"/>
                  <a:pt x="476871" y="106839"/>
                  <a:pt x="476871" y="238435"/>
                </a:cubicBezTo>
                <a:cubicBezTo>
                  <a:pt x="476871" y="370032"/>
                  <a:pt x="370032" y="476871"/>
                  <a:pt x="238435" y="476871"/>
                </a:cubicBezTo>
                <a:cubicBezTo>
                  <a:pt x="106839" y="476871"/>
                  <a:pt x="0" y="370032"/>
                  <a:pt x="0" y="238435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8" name="Text 36"/>
          <p:cNvSpPr/>
          <p:nvPr/>
        </p:nvSpPr>
        <p:spPr>
          <a:xfrm>
            <a:off x="6320129" y="3144965"/>
            <a:ext cx="5412485" cy="286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Geospatial Intelligence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9738" y="3621836"/>
            <a:ext cx="5293267" cy="731202"/>
          </a:xfrm>
          <a:custGeom>
            <a:avLst/>
            <a:gdLst/>
            <a:ahLst/>
            <a:cxnLst/>
            <a:rect l="l" t="t" r="r" b="b"/>
            <a:pathLst>
              <a:path w="5293267" h="731202">
                <a:moveTo>
                  <a:pt x="31793" y="0"/>
                </a:moveTo>
                <a:lnTo>
                  <a:pt x="5261475" y="0"/>
                </a:lnTo>
                <a:cubicBezTo>
                  <a:pt x="5279033" y="0"/>
                  <a:pt x="5293267" y="14234"/>
                  <a:pt x="5293267" y="31793"/>
                </a:cubicBezTo>
                <a:lnTo>
                  <a:pt x="5293267" y="699409"/>
                </a:lnTo>
                <a:cubicBezTo>
                  <a:pt x="5293267" y="716968"/>
                  <a:pt x="5279033" y="731202"/>
                  <a:pt x="5261475" y="731202"/>
                </a:cubicBezTo>
                <a:lnTo>
                  <a:pt x="31793" y="731202"/>
                </a:lnTo>
                <a:cubicBezTo>
                  <a:pt x="14234" y="731202"/>
                  <a:pt x="0" y="716968"/>
                  <a:pt x="0" y="699409"/>
                </a:cubicBezTo>
                <a:lnTo>
                  <a:pt x="0" y="31793"/>
                </a:lnTo>
                <a:cubicBezTo>
                  <a:pt x="0" y="14246"/>
                  <a:pt x="14246" y="0"/>
                  <a:pt x="317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526773" y="3780793"/>
            <a:ext cx="158957" cy="158957"/>
          </a:xfrm>
          <a:custGeom>
            <a:avLst/>
            <a:gdLst/>
            <a:ahLst/>
            <a:cxnLst/>
            <a:rect l="l" t="t" r="r" b="b"/>
            <a:pathLst>
              <a:path w="158957" h="158957">
                <a:moveTo>
                  <a:pt x="79478" y="158957"/>
                </a:moveTo>
                <a:cubicBezTo>
                  <a:pt x="123344" y="158957"/>
                  <a:pt x="158957" y="123344"/>
                  <a:pt x="158957" y="79478"/>
                </a:cubicBezTo>
                <a:cubicBezTo>
                  <a:pt x="158957" y="35613"/>
                  <a:pt x="123344" y="0"/>
                  <a:pt x="79478" y="0"/>
                </a:cubicBezTo>
                <a:cubicBezTo>
                  <a:pt x="35613" y="0"/>
                  <a:pt x="0" y="35613"/>
                  <a:pt x="0" y="79478"/>
                </a:cubicBezTo>
                <a:cubicBezTo>
                  <a:pt x="0" y="123344"/>
                  <a:pt x="35613" y="158957"/>
                  <a:pt x="79478" y="158957"/>
                </a:cubicBezTo>
                <a:close/>
                <a:moveTo>
                  <a:pt x="105682" y="66035"/>
                </a:moveTo>
                <a:lnTo>
                  <a:pt x="80845" y="105775"/>
                </a:lnTo>
                <a:cubicBezTo>
                  <a:pt x="79541" y="107855"/>
                  <a:pt x="77305" y="109159"/>
                  <a:pt x="74853" y="109283"/>
                </a:cubicBezTo>
                <a:cubicBezTo>
                  <a:pt x="72400" y="109407"/>
                  <a:pt x="70040" y="108289"/>
                  <a:pt x="68581" y="106302"/>
                </a:cubicBezTo>
                <a:lnTo>
                  <a:pt x="53679" y="86433"/>
                </a:lnTo>
                <a:cubicBezTo>
                  <a:pt x="51195" y="83142"/>
                  <a:pt x="51878" y="78485"/>
                  <a:pt x="55169" y="76001"/>
                </a:cubicBezTo>
                <a:cubicBezTo>
                  <a:pt x="58460" y="73518"/>
                  <a:pt x="63117" y="74201"/>
                  <a:pt x="65601" y="77492"/>
                </a:cubicBezTo>
                <a:lnTo>
                  <a:pt x="73983" y="88668"/>
                </a:lnTo>
                <a:lnTo>
                  <a:pt x="93046" y="58150"/>
                </a:lnTo>
                <a:cubicBezTo>
                  <a:pt x="95219" y="54673"/>
                  <a:pt x="99814" y="53586"/>
                  <a:pt x="103322" y="55790"/>
                </a:cubicBezTo>
                <a:cubicBezTo>
                  <a:pt x="106830" y="57994"/>
                  <a:pt x="107886" y="62558"/>
                  <a:pt x="105682" y="6606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1" name="Text 39"/>
          <p:cNvSpPr/>
          <p:nvPr/>
        </p:nvSpPr>
        <p:spPr>
          <a:xfrm>
            <a:off x="6800974" y="3749002"/>
            <a:ext cx="1764422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Location Context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6904" y="4035124"/>
            <a:ext cx="5102519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trip now has complete geographic information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9738" y="4480204"/>
            <a:ext cx="5293267" cy="731202"/>
          </a:xfrm>
          <a:custGeom>
            <a:avLst/>
            <a:gdLst/>
            <a:ahLst/>
            <a:cxnLst/>
            <a:rect l="l" t="t" r="r" b="b"/>
            <a:pathLst>
              <a:path w="5293267" h="731202">
                <a:moveTo>
                  <a:pt x="31793" y="0"/>
                </a:moveTo>
                <a:lnTo>
                  <a:pt x="5261475" y="0"/>
                </a:lnTo>
                <a:cubicBezTo>
                  <a:pt x="5279033" y="0"/>
                  <a:pt x="5293267" y="14234"/>
                  <a:pt x="5293267" y="31793"/>
                </a:cubicBezTo>
                <a:lnTo>
                  <a:pt x="5293267" y="699409"/>
                </a:lnTo>
                <a:cubicBezTo>
                  <a:pt x="5293267" y="716968"/>
                  <a:pt x="5279033" y="731202"/>
                  <a:pt x="5261475" y="731202"/>
                </a:cubicBezTo>
                <a:lnTo>
                  <a:pt x="31793" y="731202"/>
                </a:lnTo>
                <a:cubicBezTo>
                  <a:pt x="14234" y="731202"/>
                  <a:pt x="0" y="716968"/>
                  <a:pt x="0" y="699409"/>
                </a:cubicBezTo>
                <a:lnTo>
                  <a:pt x="0" y="31793"/>
                </a:lnTo>
                <a:cubicBezTo>
                  <a:pt x="0" y="14246"/>
                  <a:pt x="14246" y="0"/>
                  <a:pt x="317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26773" y="4639161"/>
            <a:ext cx="158957" cy="158957"/>
          </a:xfrm>
          <a:custGeom>
            <a:avLst/>
            <a:gdLst/>
            <a:ahLst/>
            <a:cxnLst/>
            <a:rect l="l" t="t" r="r" b="b"/>
            <a:pathLst>
              <a:path w="158957" h="158957">
                <a:moveTo>
                  <a:pt x="79478" y="158957"/>
                </a:moveTo>
                <a:cubicBezTo>
                  <a:pt x="123344" y="158957"/>
                  <a:pt x="158957" y="123344"/>
                  <a:pt x="158957" y="79478"/>
                </a:cubicBezTo>
                <a:cubicBezTo>
                  <a:pt x="158957" y="35613"/>
                  <a:pt x="123344" y="0"/>
                  <a:pt x="79478" y="0"/>
                </a:cubicBezTo>
                <a:cubicBezTo>
                  <a:pt x="35613" y="0"/>
                  <a:pt x="0" y="35613"/>
                  <a:pt x="0" y="79478"/>
                </a:cubicBezTo>
                <a:cubicBezTo>
                  <a:pt x="0" y="123344"/>
                  <a:pt x="35613" y="158957"/>
                  <a:pt x="79478" y="158957"/>
                </a:cubicBezTo>
                <a:close/>
                <a:moveTo>
                  <a:pt x="105682" y="66035"/>
                </a:moveTo>
                <a:lnTo>
                  <a:pt x="80845" y="105775"/>
                </a:lnTo>
                <a:cubicBezTo>
                  <a:pt x="79541" y="107855"/>
                  <a:pt x="77305" y="109159"/>
                  <a:pt x="74853" y="109283"/>
                </a:cubicBezTo>
                <a:cubicBezTo>
                  <a:pt x="72400" y="109407"/>
                  <a:pt x="70040" y="108289"/>
                  <a:pt x="68581" y="106302"/>
                </a:cubicBezTo>
                <a:lnTo>
                  <a:pt x="53679" y="86433"/>
                </a:lnTo>
                <a:cubicBezTo>
                  <a:pt x="51195" y="83142"/>
                  <a:pt x="51878" y="78485"/>
                  <a:pt x="55169" y="76001"/>
                </a:cubicBezTo>
                <a:cubicBezTo>
                  <a:pt x="58460" y="73518"/>
                  <a:pt x="63117" y="74201"/>
                  <a:pt x="65601" y="77492"/>
                </a:cubicBezTo>
                <a:lnTo>
                  <a:pt x="73983" y="88668"/>
                </a:lnTo>
                <a:lnTo>
                  <a:pt x="93046" y="58150"/>
                </a:lnTo>
                <a:cubicBezTo>
                  <a:pt x="95219" y="54673"/>
                  <a:pt x="99814" y="53586"/>
                  <a:pt x="103322" y="55790"/>
                </a:cubicBezTo>
                <a:cubicBezTo>
                  <a:pt x="106830" y="57994"/>
                  <a:pt x="107886" y="62558"/>
                  <a:pt x="105682" y="6606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5" name="Text 43"/>
          <p:cNvSpPr/>
          <p:nvPr/>
        </p:nvSpPr>
        <p:spPr>
          <a:xfrm>
            <a:off x="6800974" y="4607369"/>
            <a:ext cx="1533935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Borough-Level Analysis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06904" y="4893492"/>
            <a:ext cx="5102519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pricing analysis by geographic regions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79738" y="5338572"/>
            <a:ext cx="5293267" cy="731202"/>
          </a:xfrm>
          <a:custGeom>
            <a:avLst/>
            <a:gdLst/>
            <a:ahLst/>
            <a:cxnLst/>
            <a:rect l="l" t="t" r="r" b="b"/>
            <a:pathLst>
              <a:path w="5293267" h="731202">
                <a:moveTo>
                  <a:pt x="31793" y="0"/>
                </a:moveTo>
                <a:lnTo>
                  <a:pt x="5261475" y="0"/>
                </a:lnTo>
                <a:cubicBezTo>
                  <a:pt x="5279033" y="0"/>
                  <a:pt x="5293267" y="14234"/>
                  <a:pt x="5293267" y="31793"/>
                </a:cubicBezTo>
                <a:lnTo>
                  <a:pt x="5293267" y="699409"/>
                </a:lnTo>
                <a:cubicBezTo>
                  <a:pt x="5293267" y="716968"/>
                  <a:pt x="5279033" y="731202"/>
                  <a:pt x="5261475" y="731202"/>
                </a:cubicBezTo>
                <a:lnTo>
                  <a:pt x="31793" y="731202"/>
                </a:lnTo>
                <a:cubicBezTo>
                  <a:pt x="14234" y="731202"/>
                  <a:pt x="0" y="716968"/>
                  <a:pt x="0" y="699409"/>
                </a:cubicBezTo>
                <a:lnTo>
                  <a:pt x="0" y="31793"/>
                </a:lnTo>
                <a:cubicBezTo>
                  <a:pt x="0" y="14246"/>
                  <a:pt x="14246" y="0"/>
                  <a:pt x="317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26773" y="5497529"/>
            <a:ext cx="158957" cy="158957"/>
          </a:xfrm>
          <a:custGeom>
            <a:avLst/>
            <a:gdLst/>
            <a:ahLst/>
            <a:cxnLst/>
            <a:rect l="l" t="t" r="r" b="b"/>
            <a:pathLst>
              <a:path w="158957" h="158957">
                <a:moveTo>
                  <a:pt x="79478" y="158957"/>
                </a:moveTo>
                <a:cubicBezTo>
                  <a:pt x="123344" y="158957"/>
                  <a:pt x="158957" y="123344"/>
                  <a:pt x="158957" y="79478"/>
                </a:cubicBezTo>
                <a:cubicBezTo>
                  <a:pt x="158957" y="35613"/>
                  <a:pt x="123344" y="0"/>
                  <a:pt x="79478" y="0"/>
                </a:cubicBezTo>
                <a:cubicBezTo>
                  <a:pt x="35613" y="0"/>
                  <a:pt x="0" y="35613"/>
                  <a:pt x="0" y="79478"/>
                </a:cubicBezTo>
                <a:cubicBezTo>
                  <a:pt x="0" y="123344"/>
                  <a:pt x="35613" y="158957"/>
                  <a:pt x="79478" y="158957"/>
                </a:cubicBezTo>
                <a:close/>
                <a:moveTo>
                  <a:pt x="105682" y="66035"/>
                </a:moveTo>
                <a:lnTo>
                  <a:pt x="80845" y="105775"/>
                </a:lnTo>
                <a:cubicBezTo>
                  <a:pt x="79541" y="107855"/>
                  <a:pt x="77305" y="109159"/>
                  <a:pt x="74853" y="109283"/>
                </a:cubicBezTo>
                <a:cubicBezTo>
                  <a:pt x="72400" y="109407"/>
                  <a:pt x="70040" y="108289"/>
                  <a:pt x="68581" y="106302"/>
                </a:cubicBezTo>
                <a:lnTo>
                  <a:pt x="53679" y="86433"/>
                </a:lnTo>
                <a:cubicBezTo>
                  <a:pt x="51195" y="83142"/>
                  <a:pt x="51878" y="78485"/>
                  <a:pt x="55169" y="76001"/>
                </a:cubicBezTo>
                <a:cubicBezTo>
                  <a:pt x="58460" y="73518"/>
                  <a:pt x="63117" y="74201"/>
                  <a:pt x="65601" y="77492"/>
                </a:cubicBezTo>
                <a:lnTo>
                  <a:pt x="73983" y="88668"/>
                </a:lnTo>
                <a:lnTo>
                  <a:pt x="93046" y="58150"/>
                </a:lnTo>
                <a:cubicBezTo>
                  <a:pt x="95219" y="54673"/>
                  <a:pt x="99814" y="53586"/>
                  <a:pt x="103322" y="55790"/>
                </a:cubicBezTo>
                <a:cubicBezTo>
                  <a:pt x="106830" y="57994"/>
                  <a:pt x="107886" y="62558"/>
                  <a:pt x="105682" y="6606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9" name="Text 47"/>
          <p:cNvSpPr/>
          <p:nvPr/>
        </p:nvSpPr>
        <p:spPr>
          <a:xfrm>
            <a:off x="6800974" y="5465737"/>
            <a:ext cx="1382926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Zone Insights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06904" y="5751860"/>
            <a:ext cx="5102519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zone-based pricing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880" y="337028"/>
            <a:ext cx="1086916" cy="337028"/>
          </a:xfrm>
          <a:custGeom>
            <a:avLst/>
            <a:gdLst/>
            <a:ahLst/>
            <a:cxnLst/>
            <a:rect l="l" t="t" r="r" b="b"/>
            <a:pathLst>
              <a:path w="1086916" h="337028">
                <a:moveTo>
                  <a:pt x="0" y="0"/>
                </a:moveTo>
                <a:lnTo>
                  <a:pt x="1086916" y="0"/>
                </a:lnTo>
                <a:lnTo>
                  <a:pt x="1086916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3880" y="337028"/>
            <a:ext cx="33703" cy="337028"/>
          </a:xfrm>
          <a:custGeom>
            <a:avLst/>
            <a:gdLst/>
            <a:ahLst/>
            <a:cxnLst/>
            <a:rect l="l" t="t" r="r" b="b"/>
            <a:pathLst>
              <a:path w="33703" h="337028">
                <a:moveTo>
                  <a:pt x="0" y="0"/>
                </a:moveTo>
                <a:lnTo>
                  <a:pt x="33703" y="0"/>
                </a:lnTo>
                <a:lnTo>
                  <a:pt x="33703" y="337028"/>
                </a:lnTo>
                <a:lnTo>
                  <a:pt x="0" y="337028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05543" y="404434"/>
            <a:ext cx="867848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spc="53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7028" y="808868"/>
            <a:ext cx="11720160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 (EDA)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3880" y="1415519"/>
            <a:ext cx="11501092" cy="615077"/>
          </a:xfrm>
          <a:custGeom>
            <a:avLst/>
            <a:gdLst/>
            <a:ahLst/>
            <a:cxnLst/>
            <a:rect l="l" t="t" r="r" b="b"/>
            <a:pathLst>
              <a:path w="11501092" h="615077">
                <a:moveTo>
                  <a:pt x="33700" y="0"/>
                </a:moveTo>
                <a:lnTo>
                  <a:pt x="11467392" y="0"/>
                </a:lnTo>
                <a:cubicBezTo>
                  <a:pt x="11486004" y="0"/>
                  <a:pt x="11501092" y="15088"/>
                  <a:pt x="11501092" y="33700"/>
                </a:cubicBezTo>
                <a:lnTo>
                  <a:pt x="11501092" y="581377"/>
                </a:lnTo>
                <a:cubicBezTo>
                  <a:pt x="11501092" y="599989"/>
                  <a:pt x="11486004" y="615077"/>
                  <a:pt x="11467392" y="615077"/>
                </a:cubicBezTo>
                <a:lnTo>
                  <a:pt x="33700" y="615077"/>
                </a:lnTo>
                <a:cubicBezTo>
                  <a:pt x="15088" y="615077"/>
                  <a:pt x="0" y="599989"/>
                  <a:pt x="0" y="581377"/>
                </a:cubicBezTo>
                <a:lnTo>
                  <a:pt x="0" y="33700"/>
                </a:lnTo>
                <a:cubicBezTo>
                  <a:pt x="0" y="15088"/>
                  <a:pt x="15088" y="0"/>
                  <a:pt x="337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3880" y="1415519"/>
            <a:ext cx="33703" cy="615077"/>
          </a:xfrm>
          <a:custGeom>
            <a:avLst/>
            <a:gdLst/>
            <a:ahLst/>
            <a:cxnLst/>
            <a:rect l="l" t="t" r="r" b="b"/>
            <a:pathLst>
              <a:path w="33703" h="615077">
                <a:moveTo>
                  <a:pt x="33703" y="0"/>
                </a:moveTo>
                <a:lnTo>
                  <a:pt x="33703" y="0"/>
                </a:lnTo>
                <a:lnTo>
                  <a:pt x="33703" y="615077"/>
                </a:lnTo>
                <a:lnTo>
                  <a:pt x="33703" y="615077"/>
                </a:lnTo>
                <a:cubicBezTo>
                  <a:pt x="15089" y="615077"/>
                  <a:pt x="0" y="599987"/>
                  <a:pt x="0" y="581374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39245" y="1584033"/>
            <a:ext cx="11231469" cy="278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was conducted to uncover patterns and relationships within the taxi trip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3769" y="2201638"/>
            <a:ext cx="3737644" cy="1327892"/>
          </a:xfrm>
          <a:custGeom>
            <a:avLst/>
            <a:gdLst/>
            <a:ahLst/>
            <a:cxnLst/>
            <a:rect l="l" t="t" r="r" b="b"/>
            <a:pathLst>
              <a:path w="3737644" h="1327892">
                <a:moveTo>
                  <a:pt x="67404" y="0"/>
                </a:moveTo>
                <a:lnTo>
                  <a:pt x="3670240" y="0"/>
                </a:lnTo>
                <a:cubicBezTo>
                  <a:pt x="3707467" y="0"/>
                  <a:pt x="3737644" y="30178"/>
                  <a:pt x="3737644" y="67404"/>
                </a:cubicBezTo>
                <a:lnTo>
                  <a:pt x="3737644" y="1260488"/>
                </a:lnTo>
                <a:cubicBezTo>
                  <a:pt x="3737644" y="1297714"/>
                  <a:pt x="3707467" y="1327892"/>
                  <a:pt x="3670240" y="1327892"/>
                </a:cubicBezTo>
                <a:lnTo>
                  <a:pt x="67404" y="1327892"/>
                </a:lnTo>
                <a:cubicBezTo>
                  <a:pt x="30178" y="1327892"/>
                  <a:pt x="0" y="1297714"/>
                  <a:pt x="0" y="1260488"/>
                </a:cubicBezTo>
                <a:lnTo>
                  <a:pt x="0" y="67404"/>
                </a:lnTo>
                <a:cubicBezTo>
                  <a:pt x="0" y="30203"/>
                  <a:pt x="30203" y="0"/>
                  <a:pt x="6740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9024" y="2376897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36984" y="2494857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63193" y="0"/>
                </a:moveTo>
                <a:cubicBezTo>
                  <a:pt x="57367" y="0"/>
                  <a:pt x="52661" y="4707"/>
                  <a:pt x="52661" y="10532"/>
                </a:cubicBezTo>
                <a:lnTo>
                  <a:pt x="52661" y="21064"/>
                </a:lnTo>
                <a:lnTo>
                  <a:pt x="49731" y="21064"/>
                </a:lnTo>
                <a:cubicBezTo>
                  <a:pt x="35908" y="21064"/>
                  <a:pt x="23697" y="30049"/>
                  <a:pt x="19583" y="43248"/>
                </a:cubicBezTo>
                <a:lnTo>
                  <a:pt x="12013" y="67439"/>
                </a:lnTo>
                <a:cubicBezTo>
                  <a:pt x="4772" y="72112"/>
                  <a:pt x="0" y="80275"/>
                  <a:pt x="0" y="89523"/>
                </a:cubicBezTo>
                <a:lnTo>
                  <a:pt x="0" y="147450"/>
                </a:lnTo>
                <a:cubicBezTo>
                  <a:pt x="0" y="153275"/>
                  <a:pt x="4707" y="157982"/>
                  <a:pt x="10532" y="157982"/>
                </a:cubicBezTo>
                <a:lnTo>
                  <a:pt x="21064" y="157982"/>
                </a:lnTo>
                <a:cubicBezTo>
                  <a:pt x="26890" y="157982"/>
                  <a:pt x="31596" y="153275"/>
                  <a:pt x="31596" y="147450"/>
                </a:cubicBezTo>
                <a:lnTo>
                  <a:pt x="31596" y="136918"/>
                </a:lnTo>
                <a:lnTo>
                  <a:pt x="136918" y="136918"/>
                </a:lnTo>
                <a:lnTo>
                  <a:pt x="136918" y="147450"/>
                </a:lnTo>
                <a:cubicBezTo>
                  <a:pt x="136918" y="153275"/>
                  <a:pt x="141624" y="157982"/>
                  <a:pt x="147450" y="157982"/>
                </a:cubicBezTo>
                <a:lnTo>
                  <a:pt x="157982" y="157982"/>
                </a:lnTo>
                <a:cubicBezTo>
                  <a:pt x="163808" y="157982"/>
                  <a:pt x="168514" y="153275"/>
                  <a:pt x="168514" y="147450"/>
                </a:cubicBezTo>
                <a:lnTo>
                  <a:pt x="168514" y="89523"/>
                </a:lnTo>
                <a:cubicBezTo>
                  <a:pt x="168514" y="80275"/>
                  <a:pt x="163742" y="72112"/>
                  <a:pt x="156534" y="67439"/>
                </a:cubicBezTo>
                <a:lnTo>
                  <a:pt x="148964" y="43248"/>
                </a:lnTo>
                <a:cubicBezTo>
                  <a:pt x="144850" y="30049"/>
                  <a:pt x="132606" y="21064"/>
                  <a:pt x="118783" y="21064"/>
                </a:cubicBezTo>
                <a:lnTo>
                  <a:pt x="115853" y="21064"/>
                </a:lnTo>
                <a:lnTo>
                  <a:pt x="115853" y="10532"/>
                </a:lnTo>
                <a:cubicBezTo>
                  <a:pt x="115853" y="4707"/>
                  <a:pt x="111147" y="0"/>
                  <a:pt x="105321" y="0"/>
                </a:cubicBezTo>
                <a:lnTo>
                  <a:pt x="63193" y="0"/>
                </a:lnTo>
                <a:close/>
                <a:moveTo>
                  <a:pt x="49731" y="42129"/>
                </a:moveTo>
                <a:lnTo>
                  <a:pt x="118816" y="42129"/>
                </a:lnTo>
                <a:cubicBezTo>
                  <a:pt x="123423" y="42129"/>
                  <a:pt x="127505" y="45124"/>
                  <a:pt x="128854" y="49534"/>
                </a:cubicBezTo>
                <a:lnTo>
                  <a:pt x="133133" y="63193"/>
                </a:lnTo>
                <a:lnTo>
                  <a:pt x="35414" y="63193"/>
                </a:lnTo>
                <a:lnTo>
                  <a:pt x="39693" y="49534"/>
                </a:lnTo>
                <a:cubicBezTo>
                  <a:pt x="41075" y="45124"/>
                  <a:pt x="45124" y="42129"/>
                  <a:pt x="49731" y="42129"/>
                </a:cubicBezTo>
                <a:close/>
                <a:moveTo>
                  <a:pt x="31596" y="89523"/>
                </a:moveTo>
                <a:cubicBezTo>
                  <a:pt x="37409" y="89523"/>
                  <a:pt x="42129" y="94242"/>
                  <a:pt x="42129" y="100055"/>
                </a:cubicBezTo>
                <a:cubicBezTo>
                  <a:pt x="42129" y="105868"/>
                  <a:pt x="37409" y="110587"/>
                  <a:pt x="31596" y="110587"/>
                </a:cubicBezTo>
                <a:cubicBezTo>
                  <a:pt x="25784" y="110587"/>
                  <a:pt x="21064" y="105868"/>
                  <a:pt x="21064" y="100055"/>
                </a:cubicBezTo>
                <a:cubicBezTo>
                  <a:pt x="21064" y="94242"/>
                  <a:pt x="25784" y="89523"/>
                  <a:pt x="31596" y="89523"/>
                </a:cubicBezTo>
                <a:close/>
                <a:moveTo>
                  <a:pt x="126386" y="100055"/>
                </a:moveTo>
                <a:cubicBezTo>
                  <a:pt x="126386" y="94242"/>
                  <a:pt x="131105" y="89523"/>
                  <a:pt x="136918" y="89523"/>
                </a:cubicBezTo>
                <a:cubicBezTo>
                  <a:pt x="142731" y="89523"/>
                  <a:pt x="147450" y="94242"/>
                  <a:pt x="147450" y="100055"/>
                </a:cubicBezTo>
                <a:cubicBezTo>
                  <a:pt x="147450" y="105868"/>
                  <a:pt x="142731" y="110587"/>
                  <a:pt x="136918" y="110587"/>
                </a:cubicBezTo>
                <a:cubicBezTo>
                  <a:pt x="131105" y="110587"/>
                  <a:pt x="126386" y="105868"/>
                  <a:pt x="126386" y="10005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566" y="2461154"/>
            <a:ext cx="1322836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Trips per Vendor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024" y="2916143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Analyzed trip distribution across different taxi vendors to understand market share and performance variations.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8231" y="2201638"/>
            <a:ext cx="3737644" cy="1327892"/>
          </a:xfrm>
          <a:custGeom>
            <a:avLst/>
            <a:gdLst/>
            <a:ahLst/>
            <a:cxnLst/>
            <a:rect l="l" t="t" r="r" b="b"/>
            <a:pathLst>
              <a:path w="3737644" h="1327892">
                <a:moveTo>
                  <a:pt x="67404" y="0"/>
                </a:moveTo>
                <a:lnTo>
                  <a:pt x="3670240" y="0"/>
                </a:lnTo>
                <a:cubicBezTo>
                  <a:pt x="3707467" y="0"/>
                  <a:pt x="3737644" y="30178"/>
                  <a:pt x="3737644" y="67404"/>
                </a:cubicBezTo>
                <a:lnTo>
                  <a:pt x="3737644" y="1260488"/>
                </a:lnTo>
                <a:cubicBezTo>
                  <a:pt x="3737644" y="1297714"/>
                  <a:pt x="3707467" y="1327892"/>
                  <a:pt x="3670240" y="1327892"/>
                </a:cubicBezTo>
                <a:lnTo>
                  <a:pt x="67404" y="1327892"/>
                </a:lnTo>
                <a:cubicBezTo>
                  <a:pt x="30178" y="1327892"/>
                  <a:pt x="0" y="1297714"/>
                  <a:pt x="0" y="1260488"/>
                </a:cubicBezTo>
                <a:lnTo>
                  <a:pt x="0" y="67404"/>
                </a:lnTo>
                <a:cubicBezTo>
                  <a:pt x="0" y="30203"/>
                  <a:pt x="30203" y="0"/>
                  <a:pt x="6740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3486" y="2376897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00381" y="2494857"/>
            <a:ext cx="210643" cy="168514"/>
          </a:xfrm>
          <a:custGeom>
            <a:avLst/>
            <a:gdLst/>
            <a:ahLst/>
            <a:cxnLst/>
            <a:rect l="l" t="t" r="r" b="b"/>
            <a:pathLst>
              <a:path w="210643" h="168514">
                <a:moveTo>
                  <a:pt x="105321" y="5266"/>
                </a:moveTo>
                <a:cubicBezTo>
                  <a:pt x="124213" y="5266"/>
                  <a:pt x="139551" y="20604"/>
                  <a:pt x="139551" y="39496"/>
                </a:cubicBezTo>
                <a:cubicBezTo>
                  <a:pt x="139551" y="58387"/>
                  <a:pt x="124213" y="73725"/>
                  <a:pt x="105321" y="73725"/>
                </a:cubicBezTo>
                <a:cubicBezTo>
                  <a:pt x="86430" y="73725"/>
                  <a:pt x="71092" y="58387"/>
                  <a:pt x="71092" y="39496"/>
                </a:cubicBezTo>
                <a:cubicBezTo>
                  <a:pt x="71092" y="20604"/>
                  <a:pt x="86430" y="5266"/>
                  <a:pt x="105321" y="5266"/>
                </a:cubicBezTo>
                <a:close/>
                <a:moveTo>
                  <a:pt x="31596" y="28963"/>
                </a:moveTo>
                <a:cubicBezTo>
                  <a:pt x="44675" y="28963"/>
                  <a:pt x="55294" y="39582"/>
                  <a:pt x="55294" y="52661"/>
                </a:cubicBezTo>
                <a:cubicBezTo>
                  <a:pt x="55294" y="65740"/>
                  <a:pt x="44675" y="76358"/>
                  <a:pt x="31596" y="76358"/>
                </a:cubicBezTo>
                <a:cubicBezTo>
                  <a:pt x="18518" y="76358"/>
                  <a:pt x="7899" y="65740"/>
                  <a:pt x="7899" y="52661"/>
                </a:cubicBezTo>
                <a:cubicBezTo>
                  <a:pt x="7899" y="39582"/>
                  <a:pt x="18518" y="28963"/>
                  <a:pt x="31596" y="28963"/>
                </a:cubicBezTo>
                <a:close/>
                <a:moveTo>
                  <a:pt x="0" y="136918"/>
                </a:moveTo>
                <a:cubicBezTo>
                  <a:pt x="0" y="113648"/>
                  <a:pt x="18859" y="94789"/>
                  <a:pt x="42129" y="94789"/>
                </a:cubicBezTo>
                <a:cubicBezTo>
                  <a:pt x="46341" y="94789"/>
                  <a:pt x="50423" y="95415"/>
                  <a:pt x="54273" y="96567"/>
                </a:cubicBezTo>
                <a:cubicBezTo>
                  <a:pt x="43445" y="108678"/>
                  <a:pt x="36862" y="124674"/>
                  <a:pt x="36862" y="142184"/>
                </a:cubicBezTo>
                <a:lnTo>
                  <a:pt x="36862" y="147450"/>
                </a:lnTo>
                <a:cubicBezTo>
                  <a:pt x="36862" y="151202"/>
                  <a:pt x="37652" y="154757"/>
                  <a:pt x="39068" y="157982"/>
                </a:cubicBezTo>
                <a:lnTo>
                  <a:pt x="10532" y="157982"/>
                </a:lnTo>
                <a:cubicBezTo>
                  <a:pt x="4707" y="157982"/>
                  <a:pt x="0" y="153275"/>
                  <a:pt x="0" y="147450"/>
                </a:cubicBezTo>
                <a:lnTo>
                  <a:pt x="0" y="136918"/>
                </a:lnTo>
                <a:close/>
                <a:moveTo>
                  <a:pt x="171575" y="157982"/>
                </a:moveTo>
                <a:cubicBezTo>
                  <a:pt x="172990" y="154757"/>
                  <a:pt x="173780" y="151202"/>
                  <a:pt x="173780" y="147450"/>
                </a:cubicBezTo>
                <a:lnTo>
                  <a:pt x="173780" y="142184"/>
                </a:lnTo>
                <a:cubicBezTo>
                  <a:pt x="173780" y="124674"/>
                  <a:pt x="167198" y="108678"/>
                  <a:pt x="156369" y="96567"/>
                </a:cubicBezTo>
                <a:cubicBezTo>
                  <a:pt x="160220" y="95415"/>
                  <a:pt x="164301" y="94789"/>
                  <a:pt x="168514" y="94789"/>
                </a:cubicBezTo>
                <a:cubicBezTo>
                  <a:pt x="191784" y="94789"/>
                  <a:pt x="210643" y="113648"/>
                  <a:pt x="210643" y="136918"/>
                </a:cubicBezTo>
                <a:lnTo>
                  <a:pt x="210643" y="147450"/>
                </a:lnTo>
                <a:cubicBezTo>
                  <a:pt x="210643" y="153275"/>
                  <a:pt x="205936" y="157982"/>
                  <a:pt x="200111" y="157982"/>
                </a:cubicBezTo>
                <a:lnTo>
                  <a:pt x="171575" y="157982"/>
                </a:lnTo>
                <a:close/>
                <a:moveTo>
                  <a:pt x="155349" y="52661"/>
                </a:moveTo>
                <a:cubicBezTo>
                  <a:pt x="155349" y="39582"/>
                  <a:pt x="165967" y="28963"/>
                  <a:pt x="179046" y="28963"/>
                </a:cubicBezTo>
                <a:cubicBezTo>
                  <a:pt x="192125" y="28963"/>
                  <a:pt x="202744" y="39582"/>
                  <a:pt x="202744" y="52661"/>
                </a:cubicBezTo>
                <a:cubicBezTo>
                  <a:pt x="202744" y="65740"/>
                  <a:pt x="192125" y="76358"/>
                  <a:pt x="179046" y="76358"/>
                </a:cubicBezTo>
                <a:cubicBezTo>
                  <a:pt x="165967" y="76358"/>
                  <a:pt x="155349" y="65740"/>
                  <a:pt x="155349" y="52661"/>
                </a:cubicBezTo>
                <a:close/>
                <a:moveTo>
                  <a:pt x="52661" y="142184"/>
                </a:moveTo>
                <a:cubicBezTo>
                  <a:pt x="52661" y="113089"/>
                  <a:pt x="76226" y="89523"/>
                  <a:pt x="105321" y="89523"/>
                </a:cubicBezTo>
                <a:cubicBezTo>
                  <a:pt x="134416" y="89523"/>
                  <a:pt x="157982" y="113089"/>
                  <a:pt x="157982" y="142184"/>
                </a:cubicBezTo>
                <a:lnTo>
                  <a:pt x="157982" y="147450"/>
                </a:lnTo>
                <a:cubicBezTo>
                  <a:pt x="157982" y="153275"/>
                  <a:pt x="153275" y="157982"/>
                  <a:pt x="147450" y="157982"/>
                </a:cubicBezTo>
                <a:lnTo>
                  <a:pt x="63193" y="157982"/>
                </a:lnTo>
                <a:cubicBezTo>
                  <a:pt x="57367" y="157982"/>
                  <a:pt x="52661" y="153275"/>
                  <a:pt x="52661" y="147450"/>
                </a:cubicBezTo>
                <a:lnTo>
                  <a:pt x="52661" y="142184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7" name="Text 15"/>
          <p:cNvSpPr/>
          <p:nvPr/>
        </p:nvSpPr>
        <p:spPr>
          <a:xfrm>
            <a:off x="4909028" y="2461154"/>
            <a:ext cx="135653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Passenger Count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03486" y="2916143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Examined trip patterns based on the number of passengers to identify usage trends and preferences.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12799" y="2201638"/>
            <a:ext cx="3737644" cy="1327892"/>
          </a:xfrm>
          <a:custGeom>
            <a:avLst/>
            <a:gdLst/>
            <a:ahLst/>
            <a:cxnLst/>
            <a:rect l="l" t="t" r="r" b="b"/>
            <a:pathLst>
              <a:path w="3737644" h="1327892">
                <a:moveTo>
                  <a:pt x="67404" y="0"/>
                </a:moveTo>
                <a:lnTo>
                  <a:pt x="3670240" y="0"/>
                </a:lnTo>
                <a:cubicBezTo>
                  <a:pt x="3707467" y="0"/>
                  <a:pt x="3737644" y="30178"/>
                  <a:pt x="3737644" y="67404"/>
                </a:cubicBezTo>
                <a:lnTo>
                  <a:pt x="3737644" y="1260488"/>
                </a:lnTo>
                <a:cubicBezTo>
                  <a:pt x="3737644" y="1297714"/>
                  <a:pt x="3707467" y="1327892"/>
                  <a:pt x="3670240" y="1327892"/>
                </a:cubicBezTo>
                <a:lnTo>
                  <a:pt x="67404" y="1327892"/>
                </a:lnTo>
                <a:cubicBezTo>
                  <a:pt x="30178" y="1327892"/>
                  <a:pt x="0" y="1297714"/>
                  <a:pt x="0" y="1260488"/>
                </a:cubicBezTo>
                <a:lnTo>
                  <a:pt x="0" y="67404"/>
                </a:lnTo>
                <a:cubicBezTo>
                  <a:pt x="0" y="30203"/>
                  <a:pt x="30203" y="0"/>
                  <a:pt x="6740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8054" y="2376897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8437610" y="2494857"/>
            <a:ext cx="105321" cy="168514"/>
          </a:xfrm>
          <a:custGeom>
            <a:avLst/>
            <a:gdLst/>
            <a:ahLst/>
            <a:cxnLst/>
            <a:rect l="l" t="t" r="r" b="b"/>
            <a:pathLst>
              <a:path w="105321" h="168514">
                <a:moveTo>
                  <a:pt x="44762" y="7899"/>
                </a:moveTo>
                <a:cubicBezTo>
                  <a:pt x="44762" y="3522"/>
                  <a:pt x="48283" y="0"/>
                  <a:pt x="52661" y="0"/>
                </a:cubicBezTo>
                <a:cubicBezTo>
                  <a:pt x="57038" y="0"/>
                  <a:pt x="60560" y="3522"/>
                  <a:pt x="60560" y="7899"/>
                </a:cubicBezTo>
                <a:lnTo>
                  <a:pt x="60560" y="21064"/>
                </a:lnTo>
                <a:lnTo>
                  <a:pt x="78991" y="21064"/>
                </a:lnTo>
                <a:cubicBezTo>
                  <a:pt x="84817" y="21064"/>
                  <a:pt x="89523" y="25771"/>
                  <a:pt x="89523" y="31596"/>
                </a:cubicBezTo>
                <a:cubicBezTo>
                  <a:pt x="89523" y="37422"/>
                  <a:pt x="84817" y="42129"/>
                  <a:pt x="78991" y="42129"/>
                </a:cubicBezTo>
                <a:lnTo>
                  <a:pt x="41174" y="42129"/>
                </a:lnTo>
                <a:cubicBezTo>
                  <a:pt x="32979" y="42129"/>
                  <a:pt x="26330" y="48777"/>
                  <a:pt x="26330" y="56972"/>
                </a:cubicBezTo>
                <a:cubicBezTo>
                  <a:pt x="26330" y="64378"/>
                  <a:pt x="31761" y="70631"/>
                  <a:pt x="39068" y="71684"/>
                </a:cubicBezTo>
                <a:lnTo>
                  <a:pt x="69216" y="75996"/>
                </a:lnTo>
                <a:cubicBezTo>
                  <a:pt x="86923" y="78530"/>
                  <a:pt x="100055" y="93670"/>
                  <a:pt x="100055" y="111542"/>
                </a:cubicBezTo>
                <a:cubicBezTo>
                  <a:pt x="100055" y="131388"/>
                  <a:pt x="83961" y="147450"/>
                  <a:pt x="64147" y="147450"/>
                </a:cubicBezTo>
                <a:lnTo>
                  <a:pt x="60560" y="147450"/>
                </a:lnTo>
                <a:lnTo>
                  <a:pt x="60560" y="160615"/>
                </a:lnTo>
                <a:cubicBezTo>
                  <a:pt x="60560" y="164992"/>
                  <a:pt x="57038" y="168514"/>
                  <a:pt x="52661" y="168514"/>
                </a:cubicBezTo>
                <a:cubicBezTo>
                  <a:pt x="48283" y="168514"/>
                  <a:pt x="44762" y="164992"/>
                  <a:pt x="44762" y="160615"/>
                </a:cubicBezTo>
                <a:lnTo>
                  <a:pt x="44762" y="147450"/>
                </a:lnTo>
                <a:lnTo>
                  <a:pt x="21064" y="147450"/>
                </a:lnTo>
                <a:cubicBezTo>
                  <a:pt x="15239" y="147450"/>
                  <a:pt x="10532" y="142743"/>
                  <a:pt x="10532" y="136918"/>
                </a:cubicBezTo>
                <a:cubicBezTo>
                  <a:pt x="10532" y="131092"/>
                  <a:pt x="15239" y="126386"/>
                  <a:pt x="21064" y="126386"/>
                </a:cubicBezTo>
                <a:lnTo>
                  <a:pt x="64147" y="126386"/>
                </a:lnTo>
                <a:cubicBezTo>
                  <a:pt x="72343" y="126386"/>
                  <a:pt x="78991" y="119737"/>
                  <a:pt x="78991" y="111542"/>
                </a:cubicBezTo>
                <a:cubicBezTo>
                  <a:pt x="78991" y="104136"/>
                  <a:pt x="73560" y="97883"/>
                  <a:pt x="66254" y="96830"/>
                </a:cubicBezTo>
                <a:lnTo>
                  <a:pt x="36105" y="92518"/>
                </a:lnTo>
                <a:cubicBezTo>
                  <a:pt x="18398" y="90017"/>
                  <a:pt x="5266" y="74844"/>
                  <a:pt x="5266" y="56972"/>
                </a:cubicBezTo>
                <a:cubicBezTo>
                  <a:pt x="5266" y="37159"/>
                  <a:pt x="21360" y="21064"/>
                  <a:pt x="41174" y="21064"/>
                </a:cubicBezTo>
                <a:lnTo>
                  <a:pt x="44762" y="21064"/>
                </a:lnTo>
                <a:lnTo>
                  <a:pt x="44762" y="789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8793596" y="2461154"/>
            <a:ext cx="1348113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by Hour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88054" y="2916143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Studied revenue patterns throughout the day to identify peak earning periods and demand fluctuations.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3769" y="3711526"/>
            <a:ext cx="3737644" cy="1327892"/>
          </a:xfrm>
          <a:custGeom>
            <a:avLst/>
            <a:gdLst/>
            <a:ahLst/>
            <a:cxnLst/>
            <a:rect l="l" t="t" r="r" b="b"/>
            <a:pathLst>
              <a:path w="3737644" h="1327892">
                <a:moveTo>
                  <a:pt x="67404" y="0"/>
                </a:moveTo>
                <a:lnTo>
                  <a:pt x="3670240" y="0"/>
                </a:lnTo>
                <a:cubicBezTo>
                  <a:pt x="3707467" y="0"/>
                  <a:pt x="3737644" y="30178"/>
                  <a:pt x="3737644" y="67404"/>
                </a:cubicBezTo>
                <a:lnTo>
                  <a:pt x="3737644" y="1260488"/>
                </a:lnTo>
                <a:cubicBezTo>
                  <a:pt x="3737644" y="1297714"/>
                  <a:pt x="3707467" y="1327892"/>
                  <a:pt x="3670240" y="1327892"/>
                </a:cubicBezTo>
                <a:lnTo>
                  <a:pt x="67404" y="1327892"/>
                </a:lnTo>
                <a:cubicBezTo>
                  <a:pt x="30178" y="1327892"/>
                  <a:pt x="0" y="1297714"/>
                  <a:pt x="0" y="1260488"/>
                </a:cubicBezTo>
                <a:lnTo>
                  <a:pt x="0" y="67404"/>
                </a:lnTo>
                <a:cubicBezTo>
                  <a:pt x="0" y="30203"/>
                  <a:pt x="30203" y="0"/>
                  <a:pt x="6740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9024" y="3886778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36984" y="4004738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10532" y="10532"/>
                </a:moveTo>
                <a:cubicBezTo>
                  <a:pt x="16358" y="10532"/>
                  <a:pt x="21064" y="15239"/>
                  <a:pt x="21064" y="21064"/>
                </a:cubicBezTo>
                <a:lnTo>
                  <a:pt x="21064" y="131652"/>
                </a:lnTo>
                <a:cubicBezTo>
                  <a:pt x="21064" y="134548"/>
                  <a:pt x="23434" y="136918"/>
                  <a:pt x="26330" y="136918"/>
                </a:cubicBezTo>
                <a:lnTo>
                  <a:pt x="157982" y="136918"/>
                </a:lnTo>
                <a:cubicBezTo>
                  <a:pt x="163808" y="136918"/>
                  <a:pt x="168514" y="141624"/>
                  <a:pt x="168514" y="147450"/>
                </a:cubicBezTo>
                <a:cubicBezTo>
                  <a:pt x="168514" y="153275"/>
                  <a:pt x="163808" y="157982"/>
                  <a:pt x="157982" y="157982"/>
                </a:cubicBezTo>
                <a:lnTo>
                  <a:pt x="26330" y="157982"/>
                </a:lnTo>
                <a:cubicBezTo>
                  <a:pt x="11783" y="157982"/>
                  <a:pt x="0" y="146199"/>
                  <a:pt x="0" y="131652"/>
                </a:cubicBezTo>
                <a:lnTo>
                  <a:pt x="0" y="21064"/>
                </a:lnTo>
                <a:cubicBezTo>
                  <a:pt x="0" y="15239"/>
                  <a:pt x="4707" y="10532"/>
                  <a:pt x="10532" y="10532"/>
                </a:cubicBezTo>
                <a:close/>
                <a:moveTo>
                  <a:pt x="42129" y="31596"/>
                </a:moveTo>
                <a:cubicBezTo>
                  <a:pt x="42129" y="25771"/>
                  <a:pt x="46835" y="21064"/>
                  <a:pt x="52661" y="21064"/>
                </a:cubicBezTo>
                <a:lnTo>
                  <a:pt x="115853" y="21064"/>
                </a:lnTo>
                <a:cubicBezTo>
                  <a:pt x="121679" y="21064"/>
                  <a:pt x="126386" y="25771"/>
                  <a:pt x="126386" y="31596"/>
                </a:cubicBezTo>
                <a:cubicBezTo>
                  <a:pt x="126386" y="37422"/>
                  <a:pt x="121679" y="42129"/>
                  <a:pt x="115853" y="42129"/>
                </a:cubicBezTo>
                <a:lnTo>
                  <a:pt x="52661" y="42129"/>
                </a:lnTo>
                <a:cubicBezTo>
                  <a:pt x="46835" y="42129"/>
                  <a:pt x="42129" y="37422"/>
                  <a:pt x="42129" y="31596"/>
                </a:cubicBezTo>
                <a:close/>
                <a:moveTo>
                  <a:pt x="52661" y="57927"/>
                </a:moveTo>
                <a:lnTo>
                  <a:pt x="94789" y="57927"/>
                </a:lnTo>
                <a:cubicBezTo>
                  <a:pt x="100615" y="57927"/>
                  <a:pt x="105321" y="62633"/>
                  <a:pt x="105321" y="68459"/>
                </a:cubicBezTo>
                <a:cubicBezTo>
                  <a:pt x="105321" y="74284"/>
                  <a:pt x="100615" y="78991"/>
                  <a:pt x="94789" y="78991"/>
                </a:cubicBezTo>
                <a:lnTo>
                  <a:pt x="52661" y="78991"/>
                </a:lnTo>
                <a:cubicBezTo>
                  <a:pt x="46835" y="78991"/>
                  <a:pt x="42129" y="74284"/>
                  <a:pt x="42129" y="68459"/>
                </a:cubicBezTo>
                <a:cubicBezTo>
                  <a:pt x="42129" y="62633"/>
                  <a:pt x="46835" y="57927"/>
                  <a:pt x="52661" y="57927"/>
                </a:cubicBezTo>
                <a:close/>
                <a:moveTo>
                  <a:pt x="52661" y="94789"/>
                </a:moveTo>
                <a:lnTo>
                  <a:pt x="136918" y="94789"/>
                </a:lnTo>
                <a:cubicBezTo>
                  <a:pt x="142743" y="94789"/>
                  <a:pt x="147450" y="99496"/>
                  <a:pt x="147450" y="105321"/>
                </a:cubicBezTo>
                <a:cubicBezTo>
                  <a:pt x="147450" y="111147"/>
                  <a:pt x="142743" y="115853"/>
                  <a:pt x="136918" y="115853"/>
                </a:cubicBezTo>
                <a:lnTo>
                  <a:pt x="52661" y="115853"/>
                </a:lnTo>
                <a:cubicBezTo>
                  <a:pt x="46835" y="115853"/>
                  <a:pt x="42129" y="111147"/>
                  <a:pt x="42129" y="105321"/>
                </a:cubicBezTo>
                <a:cubicBezTo>
                  <a:pt x="42129" y="99496"/>
                  <a:pt x="46835" y="94789"/>
                  <a:pt x="52661" y="94789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566" y="3971035"/>
            <a:ext cx="1314411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Fare Distribution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024" y="4426023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Analyzed the distribution of fare amounts to understand pricing ranges and identify outliers.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28231" y="3711526"/>
            <a:ext cx="3737644" cy="1327892"/>
          </a:xfrm>
          <a:custGeom>
            <a:avLst/>
            <a:gdLst/>
            <a:ahLst/>
            <a:cxnLst/>
            <a:rect l="l" t="t" r="r" b="b"/>
            <a:pathLst>
              <a:path w="3737644" h="1327892">
                <a:moveTo>
                  <a:pt x="67404" y="0"/>
                </a:moveTo>
                <a:lnTo>
                  <a:pt x="3670240" y="0"/>
                </a:lnTo>
                <a:cubicBezTo>
                  <a:pt x="3707467" y="0"/>
                  <a:pt x="3737644" y="30178"/>
                  <a:pt x="3737644" y="67404"/>
                </a:cubicBezTo>
                <a:lnTo>
                  <a:pt x="3737644" y="1260488"/>
                </a:lnTo>
                <a:cubicBezTo>
                  <a:pt x="3737644" y="1297714"/>
                  <a:pt x="3707467" y="1327892"/>
                  <a:pt x="3670240" y="1327892"/>
                </a:cubicBezTo>
                <a:lnTo>
                  <a:pt x="67404" y="1327892"/>
                </a:lnTo>
                <a:cubicBezTo>
                  <a:pt x="30178" y="1327892"/>
                  <a:pt x="0" y="1297714"/>
                  <a:pt x="0" y="1260488"/>
                </a:cubicBezTo>
                <a:lnTo>
                  <a:pt x="0" y="67404"/>
                </a:lnTo>
                <a:cubicBezTo>
                  <a:pt x="0" y="30203"/>
                  <a:pt x="30203" y="0"/>
                  <a:pt x="6740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3486" y="3886778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1" name="Shape 29"/>
          <p:cNvSpPr/>
          <p:nvPr/>
        </p:nvSpPr>
        <p:spPr>
          <a:xfrm>
            <a:off x="4521446" y="4004738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0" y="42129"/>
                </a:moveTo>
                <a:lnTo>
                  <a:pt x="0" y="52661"/>
                </a:lnTo>
                <a:lnTo>
                  <a:pt x="168514" y="52661"/>
                </a:lnTo>
                <a:lnTo>
                  <a:pt x="168514" y="42129"/>
                </a:lnTo>
                <a:cubicBezTo>
                  <a:pt x="168514" y="30510"/>
                  <a:pt x="159068" y="21064"/>
                  <a:pt x="147450" y="21064"/>
                </a:cubicBezTo>
                <a:lnTo>
                  <a:pt x="21064" y="21064"/>
                </a:lnTo>
                <a:cubicBezTo>
                  <a:pt x="9446" y="21064"/>
                  <a:pt x="0" y="30510"/>
                  <a:pt x="0" y="42129"/>
                </a:cubicBezTo>
                <a:close/>
                <a:moveTo>
                  <a:pt x="0" y="68459"/>
                </a:moveTo>
                <a:lnTo>
                  <a:pt x="0" y="126386"/>
                </a:lnTo>
                <a:cubicBezTo>
                  <a:pt x="0" y="138004"/>
                  <a:pt x="9446" y="147450"/>
                  <a:pt x="21064" y="147450"/>
                </a:cubicBezTo>
                <a:lnTo>
                  <a:pt x="147450" y="147450"/>
                </a:lnTo>
                <a:cubicBezTo>
                  <a:pt x="159068" y="147450"/>
                  <a:pt x="168514" y="138004"/>
                  <a:pt x="168514" y="126386"/>
                </a:cubicBezTo>
                <a:lnTo>
                  <a:pt x="168514" y="68459"/>
                </a:lnTo>
                <a:lnTo>
                  <a:pt x="0" y="68459"/>
                </a:lnTo>
                <a:close/>
                <a:moveTo>
                  <a:pt x="21064" y="118487"/>
                </a:moveTo>
                <a:cubicBezTo>
                  <a:pt x="21064" y="114109"/>
                  <a:pt x="24586" y="110587"/>
                  <a:pt x="28963" y="110587"/>
                </a:cubicBezTo>
                <a:lnTo>
                  <a:pt x="44762" y="110587"/>
                </a:lnTo>
                <a:cubicBezTo>
                  <a:pt x="49139" y="110587"/>
                  <a:pt x="52661" y="114109"/>
                  <a:pt x="52661" y="118487"/>
                </a:cubicBezTo>
                <a:cubicBezTo>
                  <a:pt x="52661" y="122864"/>
                  <a:pt x="49139" y="126386"/>
                  <a:pt x="44762" y="126386"/>
                </a:cubicBezTo>
                <a:lnTo>
                  <a:pt x="28963" y="126386"/>
                </a:lnTo>
                <a:cubicBezTo>
                  <a:pt x="24586" y="126386"/>
                  <a:pt x="21064" y="122864"/>
                  <a:pt x="21064" y="118487"/>
                </a:cubicBezTo>
                <a:close/>
                <a:moveTo>
                  <a:pt x="68459" y="118487"/>
                </a:moveTo>
                <a:cubicBezTo>
                  <a:pt x="68459" y="114109"/>
                  <a:pt x="71981" y="110587"/>
                  <a:pt x="76358" y="110587"/>
                </a:cubicBezTo>
                <a:lnTo>
                  <a:pt x="97422" y="110587"/>
                </a:lnTo>
                <a:cubicBezTo>
                  <a:pt x="101800" y="110587"/>
                  <a:pt x="105321" y="114109"/>
                  <a:pt x="105321" y="118487"/>
                </a:cubicBezTo>
                <a:cubicBezTo>
                  <a:pt x="105321" y="122864"/>
                  <a:pt x="101800" y="126386"/>
                  <a:pt x="97422" y="126386"/>
                </a:cubicBezTo>
                <a:lnTo>
                  <a:pt x="76358" y="126386"/>
                </a:lnTo>
                <a:cubicBezTo>
                  <a:pt x="71981" y="126386"/>
                  <a:pt x="68459" y="122864"/>
                  <a:pt x="68459" y="118487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2" name="Text 30"/>
          <p:cNvSpPr/>
          <p:nvPr/>
        </p:nvSpPr>
        <p:spPr>
          <a:xfrm>
            <a:off x="4909028" y="3971035"/>
            <a:ext cx="1154322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 Type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3486" y="4426023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Investigated payment method preferences and their correlation with trip characteristics.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12799" y="3711526"/>
            <a:ext cx="3737644" cy="1327892"/>
          </a:xfrm>
          <a:custGeom>
            <a:avLst/>
            <a:gdLst/>
            <a:ahLst/>
            <a:cxnLst/>
            <a:rect l="l" t="t" r="r" b="b"/>
            <a:pathLst>
              <a:path w="3737644" h="1327892">
                <a:moveTo>
                  <a:pt x="67404" y="0"/>
                </a:moveTo>
                <a:lnTo>
                  <a:pt x="3670240" y="0"/>
                </a:lnTo>
                <a:cubicBezTo>
                  <a:pt x="3707467" y="0"/>
                  <a:pt x="3737644" y="30178"/>
                  <a:pt x="3737644" y="67404"/>
                </a:cubicBezTo>
                <a:lnTo>
                  <a:pt x="3737644" y="1260488"/>
                </a:lnTo>
                <a:cubicBezTo>
                  <a:pt x="3737644" y="1297714"/>
                  <a:pt x="3707467" y="1327892"/>
                  <a:pt x="3670240" y="1327892"/>
                </a:cubicBezTo>
                <a:lnTo>
                  <a:pt x="67404" y="1327892"/>
                </a:lnTo>
                <a:cubicBezTo>
                  <a:pt x="30178" y="1327892"/>
                  <a:pt x="0" y="1297714"/>
                  <a:pt x="0" y="1260488"/>
                </a:cubicBezTo>
                <a:lnTo>
                  <a:pt x="0" y="67404"/>
                </a:lnTo>
                <a:cubicBezTo>
                  <a:pt x="0" y="30203"/>
                  <a:pt x="30203" y="0"/>
                  <a:pt x="6740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88054" y="3886778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202217" y="0"/>
                </a:moveTo>
                <a:lnTo>
                  <a:pt x="202217" y="0"/>
                </a:lnTo>
                <a:cubicBezTo>
                  <a:pt x="313824" y="0"/>
                  <a:pt x="404434" y="90610"/>
                  <a:pt x="404434" y="202217"/>
                </a:cubicBezTo>
                <a:lnTo>
                  <a:pt x="404434" y="202217"/>
                </a:lnTo>
                <a:cubicBezTo>
                  <a:pt x="404434" y="313824"/>
                  <a:pt x="313824" y="404434"/>
                  <a:pt x="202217" y="404434"/>
                </a:cubicBezTo>
                <a:lnTo>
                  <a:pt x="202217" y="404434"/>
                </a:lnTo>
                <a:cubicBezTo>
                  <a:pt x="90610" y="404434"/>
                  <a:pt x="0" y="313824"/>
                  <a:pt x="0" y="202217"/>
                </a:cubicBezTo>
                <a:lnTo>
                  <a:pt x="0" y="202217"/>
                </a:lnTo>
                <a:cubicBezTo>
                  <a:pt x="0" y="90610"/>
                  <a:pt x="90610" y="0"/>
                  <a:pt x="202217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6" name="Shape 34"/>
          <p:cNvSpPr/>
          <p:nvPr/>
        </p:nvSpPr>
        <p:spPr>
          <a:xfrm>
            <a:off x="8384949" y="4004738"/>
            <a:ext cx="210643" cy="168514"/>
          </a:xfrm>
          <a:custGeom>
            <a:avLst/>
            <a:gdLst/>
            <a:ahLst/>
            <a:cxnLst/>
            <a:rect l="l" t="t" r="r" b="b"/>
            <a:pathLst>
              <a:path w="210643" h="168514">
                <a:moveTo>
                  <a:pt x="189578" y="15798"/>
                </a:moveTo>
                <a:cubicBezTo>
                  <a:pt x="189578" y="12145"/>
                  <a:pt x="187702" y="8755"/>
                  <a:pt x="184576" y="6846"/>
                </a:cubicBezTo>
                <a:cubicBezTo>
                  <a:pt x="181449" y="4937"/>
                  <a:pt x="177598" y="4739"/>
                  <a:pt x="174340" y="6385"/>
                </a:cubicBezTo>
                <a:lnTo>
                  <a:pt x="136095" y="25508"/>
                </a:lnTo>
                <a:lnTo>
                  <a:pt x="77049" y="5793"/>
                </a:lnTo>
                <a:cubicBezTo>
                  <a:pt x="74383" y="4904"/>
                  <a:pt x="71520" y="5102"/>
                  <a:pt x="69018" y="6352"/>
                </a:cubicBezTo>
                <a:lnTo>
                  <a:pt x="26890" y="27416"/>
                </a:lnTo>
                <a:cubicBezTo>
                  <a:pt x="23302" y="29227"/>
                  <a:pt x="21064" y="32880"/>
                  <a:pt x="21064" y="36862"/>
                </a:cubicBezTo>
                <a:lnTo>
                  <a:pt x="21064" y="152716"/>
                </a:lnTo>
                <a:cubicBezTo>
                  <a:pt x="21064" y="156369"/>
                  <a:pt x="22940" y="159759"/>
                  <a:pt x="26067" y="161668"/>
                </a:cubicBezTo>
                <a:cubicBezTo>
                  <a:pt x="29194" y="163577"/>
                  <a:pt x="33045" y="163775"/>
                  <a:pt x="36303" y="162129"/>
                </a:cubicBezTo>
                <a:lnTo>
                  <a:pt x="74515" y="143007"/>
                </a:lnTo>
                <a:lnTo>
                  <a:pt x="131553" y="162030"/>
                </a:lnTo>
                <a:cubicBezTo>
                  <a:pt x="130138" y="159924"/>
                  <a:pt x="128755" y="157719"/>
                  <a:pt x="127406" y="155481"/>
                </a:cubicBezTo>
                <a:cubicBezTo>
                  <a:pt x="123786" y="149458"/>
                  <a:pt x="120198" y="142546"/>
                  <a:pt x="117532" y="135140"/>
                </a:cubicBezTo>
                <a:lnTo>
                  <a:pt x="84224" y="124049"/>
                </a:lnTo>
                <a:lnTo>
                  <a:pt x="84224" y="30412"/>
                </a:lnTo>
                <a:lnTo>
                  <a:pt x="126353" y="44465"/>
                </a:lnTo>
                <a:lnTo>
                  <a:pt x="126353" y="77148"/>
                </a:lnTo>
                <a:cubicBezTo>
                  <a:pt x="136556" y="65365"/>
                  <a:pt x="151696" y="57927"/>
                  <a:pt x="168481" y="57927"/>
                </a:cubicBezTo>
                <a:cubicBezTo>
                  <a:pt x="175920" y="57927"/>
                  <a:pt x="183029" y="59375"/>
                  <a:pt x="189546" y="62041"/>
                </a:cubicBezTo>
                <a:lnTo>
                  <a:pt x="189578" y="15798"/>
                </a:lnTo>
                <a:close/>
                <a:moveTo>
                  <a:pt x="168514" y="73725"/>
                </a:moveTo>
                <a:cubicBezTo>
                  <a:pt x="146693" y="73725"/>
                  <a:pt x="129019" y="91103"/>
                  <a:pt x="129019" y="112529"/>
                </a:cubicBezTo>
                <a:cubicBezTo>
                  <a:pt x="129019" y="135206"/>
                  <a:pt x="150116" y="162030"/>
                  <a:pt x="161471" y="174833"/>
                </a:cubicBezTo>
                <a:cubicBezTo>
                  <a:pt x="165289" y="179112"/>
                  <a:pt x="171773" y="179112"/>
                  <a:pt x="175590" y="174833"/>
                </a:cubicBezTo>
                <a:cubicBezTo>
                  <a:pt x="186945" y="162030"/>
                  <a:pt x="208043" y="135206"/>
                  <a:pt x="208043" y="112529"/>
                </a:cubicBezTo>
                <a:cubicBezTo>
                  <a:pt x="208043" y="91103"/>
                  <a:pt x="190368" y="73725"/>
                  <a:pt x="168547" y="73725"/>
                </a:cubicBezTo>
                <a:close/>
                <a:moveTo>
                  <a:pt x="155349" y="113220"/>
                </a:moveTo>
                <a:cubicBezTo>
                  <a:pt x="155349" y="105954"/>
                  <a:pt x="161248" y="100055"/>
                  <a:pt x="168514" y="100055"/>
                </a:cubicBezTo>
                <a:cubicBezTo>
                  <a:pt x="175780" y="100055"/>
                  <a:pt x="181679" y="105954"/>
                  <a:pt x="181679" y="113220"/>
                </a:cubicBezTo>
                <a:cubicBezTo>
                  <a:pt x="181679" y="120487"/>
                  <a:pt x="175780" y="126386"/>
                  <a:pt x="168514" y="126386"/>
                </a:cubicBezTo>
                <a:cubicBezTo>
                  <a:pt x="161248" y="126386"/>
                  <a:pt x="155349" y="120487"/>
                  <a:pt x="155349" y="11322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8793596" y="3971035"/>
            <a:ext cx="137339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Borough Patterns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88054" y="4426023"/>
            <a:ext cx="3454540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Explored travel patterns between different boroughs to understand geographic demand distribution.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43769" y="5221415"/>
            <a:ext cx="11506147" cy="856052"/>
          </a:xfrm>
          <a:custGeom>
            <a:avLst/>
            <a:gdLst/>
            <a:ahLst/>
            <a:cxnLst/>
            <a:rect l="l" t="t" r="r" b="b"/>
            <a:pathLst>
              <a:path w="11506147" h="856052">
                <a:moveTo>
                  <a:pt x="67406" y="0"/>
                </a:moveTo>
                <a:lnTo>
                  <a:pt x="11438742" y="0"/>
                </a:lnTo>
                <a:cubicBezTo>
                  <a:pt x="11475969" y="0"/>
                  <a:pt x="11506147" y="30178"/>
                  <a:pt x="11506147" y="67406"/>
                </a:cubicBezTo>
                <a:lnTo>
                  <a:pt x="11506147" y="788646"/>
                </a:lnTo>
                <a:cubicBezTo>
                  <a:pt x="11506147" y="825873"/>
                  <a:pt x="11475969" y="856052"/>
                  <a:pt x="11438742" y="856052"/>
                </a:cubicBezTo>
                <a:lnTo>
                  <a:pt x="67406" y="856052"/>
                </a:lnTo>
                <a:cubicBezTo>
                  <a:pt x="30203" y="856052"/>
                  <a:pt x="0" y="825849"/>
                  <a:pt x="0" y="788646"/>
                </a:cubicBezTo>
                <a:lnTo>
                  <a:pt x="0" y="67406"/>
                </a:lnTo>
                <a:cubicBezTo>
                  <a:pt x="0" y="30203"/>
                  <a:pt x="30203" y="0"/>
                  <a:pt x="67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6939" y="5497775"/>
            <a:ext cx="303326" cy="303326"/>
          </a:xfrm>
          <a:custGeom>
            <a:avLst/>
            <a:gdLst/>
            <a:ahLst/>
            <a:cxnLst/>
            <a:rect l="l" t="t" r="r" b="b"/>
            <a:pathLst>
              <a:path w="303326" h="303326">
                <a:moveTo>
                  <a:pt x="246452" y="123226"/>
                </a:moveTo>
                <a:cubicBezTo>
                  <a:pt x="246452" y="150419"/>
                  <a:pt x="237625" y="175538"/>
                  <a:pt x="222755" y="195917"/>
                </a:cubicBezTo>
                <a:lnTo>
                  <a:pt x="297757" y="270979"/>
                </a:lnTo>
                <a:cubicBezTo>
                  <a:pt x="305162" y="278384"/>
                  <a:pt x="305162" y="290410"/>
                  <a:pt x="297757" y="297816"/>
                </a:cubicBezTo>
                <a:cubicBezTo>
                  <a:pt x="290351" y="305221"/>
                  <a:pt x="278325" y="305221"/>
                  <a:pt x="270919" y="297816"/>
                </a:cubicBezTo>
                <a:lnTo>
                  <a:pt x="195917" y="222755"/>
                </a:lnTo>
                <a:cubicBezTo>
                  <a:pt x="175538" y="237625"/>
                  <a:pt x="150419" y="246452"/>
                  <a:pt x="123226" y="246452"/>
                </a:cubicBezTo>
                <a:cubicBezTo>
                  <a:pt x="55155" y="246452"/>
                  <a:pt x="0" y="191296"/>
                  <a:pt x="0" y="123226"/>
                </a:cubicBezTo>
                <a:cubicBezTo>
                  <a:pt x="0" y="55155"/>
                  <a:pt x="55155" y="0"/>
                  <a:pt x="123226" y="0"/>
                </a:cubicBezTo>
                <a:cubicBezTo>
                  <a:pt x="191296" y="0"/>
                  <a:pt x="246452" y="55155"/>
                  <a:pt x="246452" y="123226"/>
                </a:cubicBezTo>
                <a:close/>
                <a:moveTo>
                  <a:pt x="125596" y="56874"/>
                </a:moveTo>
                <a:cubicBezTo>
                  <a:pt x="119079" y="56874"/>
                  <a:pt x="113747" y="62205"/>
                  <a:pt x="113747" y="68722"/>
                </a:cubicBezTo>
                <a:lnTo>
                  <a:pt x="113747" y="71092"/>
                </a:lnTo>
                <a:cubicBezTo>
                  <a:pt x="96685" y="71270"/>
                  <a:pt x="82941" y="85133"/>
                  <a:pt x="82941" y="102195"/>
                </a:cubicBezTo>
                <a:cubicBezTo>
                  <a:pt x="82941" y="117420"/>
                  <a:pt x="93901" y="130394"/>
                  <a:pt x="108948" y="132883"/>
                </a:cubicBezTo>
                <a:lnTo>
                  <a:pt x="133653" y="137030"/>
                </a:lnTo>
                <a:cubicBezTo>
                  <a:pt x="137207" y="137622"/>
                  <a:pt x="139814" y="140703"/>
                  <a:pt x="139814" y="144317"/>
                </a:cubicBezTo>
                <a:cubicBezTo>
                  <a:pt x="139814" y="148404"/>
                  <a:pt x="136496" y="151722"/>
                  <a:pt x="132409" y="151722"/>
                </a:cubicBezTo>
                <a:lnTo>
                  <a:pt x="99529" y="151663"/>
                </a:lnTo>
                <a:cubicBezTo>
                  <a:pt x="93012" y="151663"/>
                  <a:pt x="87680" y="156995"/>
                  <a:pt x="87680" y="163511"/>
                </a:cubicBezTo>
                <a:cubicBezTo>
                  <a:pt x="87680" y="170028"/>
                  <a:pt x="93012" y="175360"/>
                  <a:pt x="99529" y="175360"/>
                </a:cubicBezTo>
                <a:lnTo>
                  <a:pt x="113747" y="175360"/>
                </a:lnTo>
                <a:lnTo>
                  <a:pt x="113747" y="177730"/>
                </a:lnTo>
                <a:cubicBezTo>
                  <a:pt x="113747" y="184247"/>
                  <a:pt x="119079" y="189578"/>
                  <a:pt x="125596" y="189578"/>
                </a:cubicBezTo>
                <a:cubicBezTo>
                  <a:pt x="132112" y="189578"/>
                  <a:pt x="137444" y="184247"/>
                  <a:pt x="137444" y="177730"/>
                </a:cubicBezTo>
                <a:lnTo>
                  <a:pt x="137444" y="174945"/>
                </a:lnTo>
                <a:cubicBezTo>
                  <a:pt x="152255" y="172516"/>
                  <a:pt x="163511" y="159720"/>
                  <a:pt x="163511" y="144257"/>
                </a:cubicBezTo>
                <a:cubicBezTo>
                  <a:pt x="163511" y="129032"/>
                  <a:pt x="152551" y="116058"/>
                  <a:pt x="137504" y="113569"/>
                </a:cubicBezTo>
                <a:lnTo>
                  <a:pt x="112799" y="109422"/>
                </a:lnTo>
                <a:cubicBezTo>
                  <a:pt x="109245" y="108830"/>
                  <a:pt x="106638" y="105749"/>
                  <a:pt x="106638" y="102135"/>
                </a:cubicBezTo>
                <a:cubicBezTo>
                  <a:pt x="106638" y="98048"/>
                  <a:pt x="109955" y="94730"/>
                  <a:pt x="114043" y="94730"/>
                </a:cubicBezTo>
                <a:lnTo>
                  <a:pt x="142184" y="94730"/>
                </a:lnTo>
                <a:cubicBezTo>
                  <a:pt x="148701" y="94730"/>
                  <a:pt x="154032" y="89398"/>
                  <a:pt x="154032" y="82881"/>
                </a:cubicBezTo>
                <a:cubicBezTo>
                  <a:pt x="154032" y="76365"/>
                  <a:pt x="148701" y="71033"/>
                  <a:pt x="142184" y="71033"/>
                </a:cubicBezTo>
                <a:lnTo>
                  <a:pt x="137444" y="71033"/>
                </a:lnTo>
                <a:lnTo>
                  <a:pt x="137444" y="68663"/>
                </a:lnTo>
                <a:cubicBezTo>
                  <a:pt x="137444" y="62146"/>
                  <a:pt x="132112" y="56814"/>
                  <a:pt x="125596" y="56814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1" name="Text 39"/>
          <p:cNvSpPr/>
          <p:nvPr/>
        </p:nvSpPr>
        <p:spPr>
          <a:xfrm>
            <a:off x="1032992" y="5396666"/>
            <a:ext cx="5721056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 Purpose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32992" y="5699992"/>
            <a:ext cx="570420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helped identify </a:t>
            </a:r>
            <a:pPr>
              <a:lnSpc>
                <a:spcPct val="130000"/>
              </a:lnSpc>
            </a:pPr>
            <a:r>
              <a:rPr lang="en-US" sz="1062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 factors affecting pricing</a:t>
            </a:r>
            <a:pPr>
              <a:lnSpc>
                <a:spcPct val="130000"/>
              </a:lnSpc>
            </a:pPr>
            <a:r>
              <a:rPr lang="en-US" sz="106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guided feature selection for modeling.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1190625" cy="381000"/>
          </a:xfrm>
          <a:custGeom>
            <a:avLst/>
            <a:gdLst/>
            <a:ahLst/>
            <a:cxnLst/>
            <a:rect l="l" t="t" r="r" b="b"/>
            <a:pathLst>
              <a:path w="1190625" h="381000">
                <a:moveTo>
                  <a:pt x="0" y="0"/>
                </a:moveTo>
                <a:lnTo>
                  <a:pt x="1190625" y="0"/>
                </a:lnTo>
                <a:lnTo>
                  <a:pt x="11906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572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from EDA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00200"/>
            <a:ext cx="11410950" cy="695325"/>
          </a:xfrm>
          <a:custGeom>
            <a:avLst/>
            <a:gdLst/>
            <a:ahLst/>
            <a:cxnLst/>
            <a:rect l="l" t="t" r="r" b="b"/>
            <a:pathLst>
              <a:path w="11410950" h="695325">
                <a:moveTo>
                  <a:pt x="38097" y="0"/>
                </a:moveTo>
                <a:lnTo>
                  <a:pt x="11372853" y="0"/>
                </a:lnTo>
                <a:cubicBezTo>
                  <a:pt x="11393879" y="0"/>
                  <a:pt x="11410950" y="17071"/>
                  <a:pt x="11410950" y="38097"/>
                </a:cubicBezTo>
                <a:lnTo>
                  <a:pt x="11410950" y="657228"/>
                </a:lnTo>
                <a:cubicBezTo>
                  <a:pt x="11410950" y="678254"/>
                  <a:pt x="11393879" y="695325"/>
                  <a:pt x="11372853" y="695325"/>
                </a:cubicBezTo>
                <a:lnTo>
                  <a:pt x="38097" y="695325"/>
                </a:lnTo>
                <a:cubicBezTo>
                  <a:pt x="17071" y="695325"/>
                  <a:pt x="0" y="678254"/>
                  <a:pt x="0" y="65722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00200"/>
            <a:ext cx="38100" cy="695325"/>
          </a:xfrm>
          <a:custGeom>
            <a:avLst/>
            <a:gdLst/>
            <a:ahLst/>
            <a:cxnLst/>
            <a:rect l="l" t="t" r="r" b="b"/>
            <a:pathLst>
              <a:path w="38100" h="695325">
                <a:moveTo>
                  <a:pt x="38100" y="0"/>
                </a:moveTo>
                <a:lnTo>
                  <a:pt x="38100" y="0"/>
                </a:lnTo>
                <a:lnTo>
                  <a:pt x="38100" y="695325"/>
                </a:lnTo>
                <a:lnTo>
                  <a:pt x="38100" y="695325"/>
                </a:lnTo>
                <a:cubicBezTo>
                  <a:pt x="17072" y="695325"/>
                  <a:pt x="0" y="678253"/>
                  <a:pt x="0" y="657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790700"/>
            <a:ext cx="11106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findings from the exploratory analysis revealed critical factors influencing taxi fare pricing.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" y="2488882"/>
            <a:ext cx="5606415" cy="1082040"/>
          </a:xfrm>
          <a:custGeom>
            <a:avLst/>
            <a:gdLst/>
            <a:ahLst/>
            <a:cxnLst/>
            <a:rect l="l" t="t" r="r" b="b"/>
            <a:pathLst>
              <a:path w="5606415" h="1082040">
                <a:moveTo>
                  <a:pt x="76197" y="0"/>
                </a:moveTo>
                <a:lnTo>
                  <a:pt x="5530218" y="0"/>
                </a:lnTo>
                <a:cubicBezTo>
                  <a:pt x="5572300" y="0"/>
                  <a:pt x="5606415" y="34115"/>
                  <a:pt x="5606415" y="76197"/>
                </a:cubicBezTo>
                <a:lnTo>
                  <a:pt x="5606415" y="1005843"/>
                </a:lnTo>
                <a:cubicBezTo>
                  <a:pt x="5606415" y="1047925"/>
                  <a:pt x="5572300" y="1082040"/>
                  <a:pt x="5530218" y="1082040"/>
                </a:cubicBezTo>
                <a:lnTo>
                  <a:pt x="76197" y="1082040"/>
                </a:lnTo>
                <a:cubicBezTo>
                  <a:pt x="34115" y="1082040"/>
                  <a:pt x="0" y="1047925"/>
                  <a:pt x="0" y="100584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489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81990" y="27822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07" y="11906"/>
                </a:moveTo>
                <a:lnTo>
                  <a:pt x="54955" y="11906"/>
                </a:lnTo>
                <a:cubicBezTo>
                  <a:pt x="44016" y="11906"/>
                  <a:pt x="34454" y="19385"/>
                  <a:pt x="31849" y="29989"/>
                </a:cubicBezTo>
                <a:lnTo>
                  <a:pt x="521" y="156456"/>
                </a:lnTo>
                <a:cubicBezTo>
                  <a:pt x="-2270" y="167692"/>
                  <a:pt x="6251" y="178594"/>
                  <a:pt x="17859" y="178594"/>
                </a:cubicBezTo>
                <a:lnTo>
                  <a:pt x="83307" y="178594"/>
                </a:lnTo>
                <a:lnTo>
                  <a:pt x="83307" y="154781"/>
                </a:lnTo>
                <a:cubicBezTo>
                  <a:pt x="83307" y="148196"/>
                  <a:pt x="88627" y="142875"/>
                  <a:pt x="95213" y="142875"/>
                </a:cubicBezTo>
                <a:cubicBezTo>
                  <a:pt x="101798" y="142875"/>
                  <a:pt x="107119" y="148196"/>
                  <a:pt x="107119" y="154781"/>
                </a:cubicBezTo>
                <a:lnTo>
                  <a:pt x="107119" y="178594"/>
                </a:lnTo>
                <a:lnTo>
                  <a:pt x="172641" y="178594"/>
                </a:lnTo>
                <a:cubicBezTo>
                  <a:pt x="184249" y="178594"/>
                  <a:pt x="192770" y="167692"/>
                  <a:pt x="189979" y="156456"/>
                </a:cubicBezTo>
                <a:lnTo>
                  <a:pt x="158688" y="29989"/>
                </a:lnTo>
                <a:cubicBezTo>
                  <a:pt x="156046" y="19385"/>
                  <a:pt x="146521" y="11906"/>
                  <a:pt x="135545" y="11906"/>
                </a:cubicBezTo>
                <a:lnTo>
                  <a:pt x="107119" y="11906"/>
                </a:lnTo>
                <a:lnTo>
                  <a:pt x="107119" y="35719"/>
                </a:lnTo>
                <a:cubicBezTo>
                  <a:pt x="107119" y="42304"/>
                  <a:pt x="101798" y="47625"/>
                  <a:pt x="95213" y="47625"/>
                </a:cubicBezTo>
                <a:cubicBezTo>
                  <a:pt x="88627" y="47625"/>
                  <a:pt x="83307" y="42304"/>
                  <a:pt x="83307" y="35719"/>
                </a:cubicBezTo>
                <a:lnTo>
                  <a:pt x="83307" y="11906"/>
                </a:lnTo>
                <a:close/>
                <a:moveTo>
                  <a:pt x="107119" y="83344"/>
                </a:moveTo>
                <a:lnTo>
                  <a:pt x="107119" y="107156"/>
                </a:lnTo>
                <a:cubicBezTo>
                  <a:pt x="107119" y="113742"/>
                  <a:pt x="101798" y="119063"/>
                  <a:pt x="95213" y="119063"/>
                </a:cubicBezTo>
                <a:cubicBezTo>
                  <a:pt x="88627" y="119063"/>
                  <a:pt x="83307" y="113742"/>
                  <a:pt x="83307" y="107156"/>
                </a:cubicBezTo>
                <a:lnTo>
                  <a:pt x="83307" y="83344"/>
                </a:lnTo>
                <a:cubicBezTo>
                  <a:pt x="83307" y="76758"/>
                  <a:pt x="88627" y="71438"/>
                  <a:pt x="95213" y="71438"/>
                </a:cubicBezTo>
                <a:cubicBezTo>
                  <a:pt x="101798" y="71438"/>
                  <a:pt x="107119" y="76758"/>
                  <a:pt x="107119" y="83344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8240" y="2648908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Distance Impact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8240" y="2953708"/>
            <a:ext cx="475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distance strongly influences fare - longer distances result in higher fares, showing a clear linear relationship.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8620" y="3738564"/>
            <a:ext cx="5606415" cy="1082040"/>
          </a:xfrm>
          <a:custGeom>
            <a:avLst/>
            <a:gdLst/>
            <a:ahLst/>
            <a:cxnLst/>
            <a:rect l="l" t="t" r="r" b="b"/>
            <a:pathLst>
              <a:path w="5606415" h="1082040">
                <a:moveTo>
                  <a:pt x="76197" y="0"/>
                </a:moveTo>
                <a:lnTo>
                  <a:pt x="5530218" y="0"/>
                </a:lnTo>
                <a:cubicBezTo>
                  <a:pt x="5572300" y="0"/>
                  <a:pt x="5606415" y="34115"/>
                  <a:pt x="5606415" y="76197"/>
                </a:cubicBezTo>
                <a:lnTo>
                  <a:pt x="5606415" y="1005843"/>
                </a:lnTo>
                <a:cubicBezTo>
                  <a:pt x="5606415" y="1047925"/>
                  <a:pt x="5572300" y="1082040"/>
                  <a:pt x="5530218" y="1082040"/>
                </a:cubicBezTo>
                <a:lnTo>
                  <a:pt x="76197" y="1082040"/>
                </a:lnTo>
                <a:cubicBezTo>
                  <a:pt x="34115" y="1082040"/>
                  <a:pt x="0" y="1047925"/>
                  <a:pt x="0" y="100584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985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990" y="40319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7" name="Text 15"/>
          <p:cNvSpPr/>
          <p:nvPr/>
        </p:nvSpPr>
        <p:spPr>
          <a:xfrm>
            <a:off x="1158240" y="3898581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Rush Hour Revenue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8240" y="4203381"/>
            <a:ext cx="475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Rush hours significantly increase revenue due to higher demand and potential surge pricing effects.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8620" y="4988246"/>
            <a:ext cx="5606415" cy="1082040"/>
          </a:xfrm>
          <a:custGeom>
            <a:avLst/>
            <a:gdLst/>
            <a:ahLst/>
            <a:cxnLst/>
            <a:rect l="l" t="t" r="r" b="b"/>
            <a:pathLst>
              <a:path w="5606415" h="1082040">
                <a:moveTo>
                  <a:pt x="76197" y="0"/>
                </a:moveTo>
                <a:lnTo>
                  <a:pt x="5530218" y="0"/>
                </a:lnTo>
                <a:cubicBezTo>
                  <a:pt x="5572300" y="0"/>
                  <a:pt x="5606415" y="34115"/>
                  <a:pt x="5606415" y="76197"/>
                </a:cubicBezTo>
                <a:lnTo>
                  <a:pt x="5606415" y="1005843"/>
                </a:lnTo>
                <a:cubicBezTo>
                  <a:pt x="5606415" y="1047925"/>
                  <a:pt x="5572300" y="1082040"/>
                  <a:pt x="5530218" y="1082040"/>
                </a:cubicBezTo>
                <a:lnTo>
                  <a:pt x="76197" y="1082040"/>
                </a:lnTo>
                <a:cubicBezTo>
                  <a:pt x="34115" y="1082040"/>
                  <a:pt x="0" y="1047925"/>
                  <a:pt x="0" y="100584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1482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705802" y="52816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1158240" y="5148263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Manhattan Premium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8240" y="5453063"/>
            <a:ext cx="475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Manhattan trips have higher average fares, reflecting the borough's business density and traffic conditions.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8870" y="2488882"/>
            <a:ext cx="5606415" cy="1082040"/>
          </a:xfrm>
          <a:custGeom>
            <a:avLst/>
            <a:gdLst/>
            <a:ahLst/>
            <a:cxnLst/>
            <a:rect l="l" t="t" r="r" b="b"/>
            <a:pathLst>
              <a:path w="5606415" h="1082040">
                <a:moveTo>
                  <a:pt x="76197" y="0"/>
                </a:moveTo>
                <a:lnTo>
                  <a:pt x="5530218" y="0"/>
                </a:lnTo>
                <a:cubicBezTo>
                  <a:pt x="5572300" y="0"/>
                  <a:pt x="5606415" y="34115"/>
                  <a:pt x="5606415" y="76197"/>
                </a:cubicBezTo>
                <a:lnTo>
                  <a:pt x="5606415" y="1005843"/>
                </a:lnTo>
                <a:cubicBezTo>
                  <a:pt x="5606415" y="1047925"/>
                  <a:pt x="5572300" y="1082040"/>
                  <a:pt x="5530218" y="1082040"/>
                </a:cubicBezTo>
                <a:lnTo>
                  <a:pt x="76197" y="1082040"/>
                </a:lnTo>
                <a:cubicBezTo>
                  <a:pt x="34115" y="1082040"/>
                  <a:pt x="0" y="1047925"/>
                  <a:pt x="0" y="100584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8890" y="26489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2240" y="27822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47625"/>
                </a:moveTo>
                <a:lnTo>
                  <a:pt x="0" y="59531"/>
                </a:lnTo>
                <a:lnTo>
                  <a:pt x="190500" y="59531"/>
                </a:ln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close/>
                <a:moveTo>
                  <a:pt x="0" y="77391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7391"/>
                </a:lnTo>
                <a:lnTo>
                  <a:pt x="0" y="77391"/>
                </a:lnTo>
                <a:close/>
                <a:moveTo>
                  <a:pt x="23812" y="133945"/>
                </a:moveTo>
                <a:cubicBezTo>
                  <a:pt x="23812" y="128997"/>
                  <a:pt x="27794" y="125016"/>
                  <a:pt x="32742" y="125016"/>
                </a:cubicBezTo>
                <a:lnTo>
                  <a:pt x="50602" y="125016"/>
                </a:lnTo>
                <a:cubicBezTo>
                  <a:pt x="55550" y="125016"/>
                  <a:pt x="59531" y="128997"/>
                  <a:pt x="59531" y="133945"/>
                </a:cubicBezTo>
                <a:cubicBezTo>
                  <a:pt x="59531" y="138894"/>
                  <a:pt x="55550" y="142875"/>
                  <a:pt x="50602" y="142875"/>
                </a:cubicBezTo>
                <a:lnTo>
                  <a:pt x="32742" y="142875"/>
                </a:lnTo>
                <a:cubicBezTo>
                  <a:pt x="27794" y="142875"/>
                  <a:pt x="23812" y="138894"/>
                  <a:pt x="23812" y="133945"/>
                </a:cubicBezTo>
                <a:close/>
                <a:moveTo>
                  <a:pt x="77391" y="133945"/>
                </a:moveTo>
                <a:cubicBezTo>
                  <a:pt x="77391" y="128997"/>
                  <a:pt x="81372" y="125016"/>
                  <a:pt x="86320" y="125016"/>
                </a:cubicBez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6320" y="142875"/>
                </a:lnTo>
                <a:cubicBezTo>
                  <a:pt x="81372" y="142875"/>
                  <a:pt x="77391" y="138894"/>
                  <a:pt x="77391" y="13394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8490" y="2648908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Correlation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68490" y="2953708"/>
            <a:ext cx="475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Payment type correlates with trip behavior - different payment methods show distinct usage patterns.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8870" y="3738564"/>
            <a:ext cx="5606415" cy="1082040"/>
          </a:xfrm>
          <a:custGeom>
            <a:avLst/>
            <a:gdLst/>
            <a:ahLst/>
            <a:cxnLst/>
            <a:rect l="l" t="t" r="r" b="b"/>
            <a:pathLst>
              <a:path w="5606415" h="1082040">
                <a:moveTo>
                  <a:pt x="76197" y="0"/>
                </a:moveTo>
                <a:lnTo>
                  <a:pt x="5530218" y="0"/>
                </a:lnTo>
                <a:cubicBezTo>
                  <a:pt x="5572300" y="0"/>
                  <a:pt x="5606415" y="34115"/>
                  <a:pt x="5606415" y="76197"/>
                </a:cubicBezTo>
                <a:lnTo>
                  <a:pt x="5606415" y="1005843"/>
                </a:lnTo>
                <a:cubicBezTo>
                  <a:pt x="5606415" y="1047925"/>
                  <a:pt x="5572300" y="1082040"/>
                  <a:pt x="5530218" y="1082040"/>
                </a:cubicBezTo>
                <a:lnTo>
                  <a:pt x="76197" y="1082040"/>
                </a:lnTo>
                <a:cubicBezTo>
                  <a:pt x="34115" y="1082040"/>
                  <a:pt x="0" y="1047925"/>
                  <a:pt x="0" y="1005843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8890" y="38985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1" name="Shape 29"/>
          <p:cNvSpPr/>
          <p:nvPr/>
        </p:nvSpPr>
        <p:spPr>
          <a:xfrm>
            <a:off x="6504147" y="403193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694" y="0"/>
                </a:moveTo>
                <a:cubicBezTo>
                  <a:pt x="57745" y="0"/>
                  <a:pt x="53764" y="3981"/>
                  <a:pt x="53764" y="8930"/>
                </a:cubicBezTo>
                <a:cubicBezTo>
                  <a:pt x="53764" y="13878"/>
                  <a:pt x="57745" y="17859"/>
                  <a:pt x="62694" y="17859"/>
                </a:cubicBezTo>
                <a:lnTo>
                  <a:pt x="74600" y="17859"/>
                </a:lnTo>
                <a:lnTo>
                  <a:pt x="74600" y="27273"/>
                </a:lnTo>
                <a:cubicBezTo>
                  <a:pt x="34417" y="31700"/>
                  <a:pt x="3163" y="65782"/>
                  <a:pt x="3163" y="107156"/>
                </a:cubicBezTo>
                <a:cubicBezTo>
                  <a:pt x="3163" y="151544"/>
                  <a:pt x="39142" y="187523"/>
                  <a:pt x="83530" y="187523"/>
                </a:cubicBezTo>
                <a:cubicBezTo>
                  <a:pt x="127918" y="187523"/>
                  <a:pt x="163897" y="151544"/>
                  <a:pt x="163897" y="107156"/>
                </a:cubicBezTo>
                <a:cubicBezTo>
                  <a:pt x="163897" y="92348"/>
                  <a:pt x="159879" y="78470"/>
                  <a:pt x="152884" y="66526"/>
                </a:cubicBezTo>
                <a:lnTo>
                  <a:pt x="163376" y="56034"/>
                </a:lnTo>
                <a:cubicBezTo>
                  <a:pt x="168027" y="51383"/>
                  <a:pt x="168027" y="43830"/>
                  <a:pt x="163376" y="39179"/>
                </a:cubicBezTo>
                <a:cubicBezTo>
                  <a:pt x="158725" y="34528"/>
                  <a:pt x="151172" y="34528"/>
                  <a:pt x="146521" y="39179"/>
                </a:cubicBezTo>
                <a:lnTo>
                  <a:pt x="137815" y="47885"/>
                </a:lnTo>
                <a:cubicBezTo>
                  <a:pt x="125574" y="36649"/>
                  <a:pt x="109835" y="29170"/>
                  <a:pt x="92422" y="27236"/>
                </a:cubicBezTo>
                <a:lnTo>
                  <a:pt x="92422" y="17822"/>
                </a:lnTo>
                <a:lnTo>
                  <a:pt x="104329" y="17822"/>
                </a:lnTo>
                <a:cubicBezTo>
                  <a:pt x="109277" y="17822"/>
                  <a:pt x="113258" y="13841"/>
                  <a:pt x="113258" y="8892"/>
                </a:cubicBezTo>
                <a:cubicBezTo>
                  <a:pt x="113258" y="3944"/>
                  <a:pt x="109277" y="-37"/>
                  <a:pt x="104329" y="-37"/>
                </a:cubicBezTo>
                <a:lnTo>
                  <a:pt x="62657" y="-37"/>
                </a:lnTo>
                <a:close/>
                <a:moveTo>
                  <a:pt x="92459" y="68461"/>
                </a:moveTo>
                <a:lnTo>
                  <a:pt x="92459" y="107156"/>
                </a:lnTo>
                <a:cubicBezTo>
                  <a:pt x="92459" y="112105"/>
                  <a:pt x="88478" y="116086"/>
                  <a:pt x="83530" y="116086"/>
                </a:cubicBezTo>
                <a:cubicBezTo>
                  <a:pt x="78581" y="116086"/>
                  <a:pt x="74600" y="112105"/>
                  <a:pt x="74600" y="107156"/>
                </a:cubicBezTo>
                <a:lnTo>
                  <a:pt x="74600" y="68461"/>
                </a:lnTo>
                <a:cubicBezTo>
                  <a:pt x="74600" y="63512"/>
                  <a:pt x="78581" y="59531"/>
                  <a:pt x="83530" y="59531"/>
                </a:cubicBezTo>
                <a:cubicBezTo>
                  <a:pt x="88478" y="59531"/>
                  <a:pt x="92459" y="63512"/>
                  <a:pt x="92459" y="6846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2" name="Text 30"/>
          <p:cNvSpPr/>
          <p:nvPr/>
        </p:nvSpPr>
        <p:spPr>
          <a:xfrm>
            <a:off x="6968490" y="3898581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Duration Significance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68490" y="4203381"/>
            <a:ext cx="475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duration impacts pricing significantly, especially for time-based fare calculations in heavy traffic.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8870" y="4988246"/>
            <a:ext cx="5606415" cy="853440"/>
          </a:xfrm>
          <a:custGeom>
            <a:avLst/>
            <a:gdLst/>
            <a:ahLst/>
            <a:cxnLst/>
            <a:rect l="l" t="t" r="r" b="b"/>
            <a:pathLst>
              <a:path w="5606415" h="853440">
                <a:moveTo>
                  <a:pt x="76204" y="0"/>
                </a:moveTo>
                <a:lnTo>
                  <a:pt x="5530211" y="0"/>
                </a:lnTo>
                <a:cubicBezTo>
                  <a:pt x="5572297" y="0"/>
                  <a:pt x="5606415" y="34118"/>
                  <a:pt x="5606415" y="76204"/>
                </a:cubicBezTo>
                <a:lnTo>
                  <a:pt x="5606415" y="777236"/>
                </a:lnTo>
                <a:cubicBezTo>
                  <a:pt x="5606415" y="819322"/>
                  <a:pt x="5572297" y="853440"/>
                  <a:pt x="5530211" y="853440"/>
                </a:cubicBezTo>
                <a:lnTo>
                  <a:pt x="76204" y="853440"/>
                </a:lnTo>
                <a:cubicBezTo>
                  <a:pt x="34118" y="853440"/>
                  <a:pt x="0" y="819322"/>
                  <a:pt x="0" y="77723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2709" y="527208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6" name="Text 34"/>
          <p:cNvSpPr/>
          <p:nvPr/>
        </p:nvSpPr>
        <p:spPr>
          <a:xfrm>
            <a:off x="6830378" y="5148263"/>
            <a:ext cx="434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Modeling Guidance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30378" y="5453063"/>
            <a:ext cx="433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insights guided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selection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predictive models.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140" y="354419"/>
            <a:ext cx="1063256" cy="354419"/>
          </a:xfrm>
          <a:custGeom>
            <a:avLst/>
            <a:gdLst/>
            <a:ahLst/>
            <a:cxnLst/>
            <a:rect l="l" t="t" r="r" b="b"/>
            <a:pathLst>
              <a:path w="1063256" h="354419">
                <a:moveTo>
                  <a:pt x="0" y="0"/>
                </a:moveTo>
                <a:lnTo>
                  <a:pt x="1063256" y="0"/>
                </a:lnTo>
                <a:lnTo>
                  <a:pt x="1063256" y="354419"/>
                </a:lnTo>
                <a:lnTo>
                  <a:pt x="0" y="354419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72140" y="354419"/>
            <a:ext cx="35442" cy="354419"/>
          </a:xfrm>
          <a:custGeom>
            <a:avLst/>
            <a:gdLst/>
            <a:ahLst/>
            <a:cxnLst/>
            <a:rect l="l" t="t" r="r" b="b"/>
            <a:pathLst>
              <a:path w="35442" h="354419">
                <a:moveTo>
                  <a:pt x="0" y="0"/>
                </a:moveTo>
                <a:lnTo>
                  <a:pt x="35442" y="0"/>
                </a:lnTo>
                <a:lnTo>
                  <a:pt x="35442" y="354419"/>
                </a:lnTo>
                <a:lnTo>
                  <a:pt x="0" y="354419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31628" y="425302"/>
            <a:ext cx="83288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spc="56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4419" y="850605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2140" y="1488558"/>
            <a:ext cx="11465442" cy="646814"/>
          </a:xfrm>
          <a:custGeom>
            <a:avLst/>
            <a:gdLst/>
            <a:ahLst/>
            <a:cxnLst/>
            <a:rect l="l" t="t" r="r" b="b"/>
            <a:pathLst>
              <a:path w="11465442" h="646814">
                <a:moveTo>
                  <a:pt x="35439" y="0"/>
                </a:moveTo>
                <a:lnTo>
                  <a:pt x="11430003" y="0"/>
                </a:lnTo>
                <a:cubicBezTo>
                  <a:pt x="11449575" y="0"/>
                  <a:pt x="11465442" y="15867"/>
                  <a:pt x="11465442" y="35439"/>
                </a:cubicBezTo>
                <a:lnTo>
                  <a:pt x="11465442" y="611375"/>
                </a:lnTo>
                <a:cubicBezTo>
                  <a:pt x="11465442" y="630947"/>
                  <a:pt x="11449575" y="646814"/>
                  <a:pt x="11430003" y="646814"/>
                </a:cubicBezTo>
                <a:lnTo>
                  <a:pt x="35439" y="646814"/>
                </a:lnTo>
                <a:cubicBezTo>
                  <a:pt x="15880" y="646814"/>
                  <a:pt x="0" y="630934"/>
                  <a:pt x="0" y="611375"/>
                </a:cubicBezTo>
                <a:lnTo>
                  <a:pt x="0" y="35439"/>
                </a:lnTo>
                <a:cubicBezTo>
                  <a:pt x="0" y="15880"/>
                  <a:pt x="15880" y="0"/>
                  <a:pt x="3543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72140" y="1488558"/>
            <a:ext cx="35442" cy="646814"/>
          </a:xfrm>
          <a:custGeom>
            <a:avLst/>
            <a:gdLst/>
            <a:ahLst/>
            <a:cxnLst/>
            <a:rect l="l" t="t" r="r" b="b"/>
            <a:pathLst>
              <a:path w="35442" h="646814">
                <a:moveTo>
                  <a:pt x="35442" y="0"/>
                </a:moveTo>
                <a:lnTo>
                  <a:pt x="35442" y="0"/>
                </a:lnTo>
                <a:lnTo>
                  <a:pt x="35442" y="646814"/>
                </a:lnTo>
                <a:lnTo>
                  <a:pt x="35442" y="646814"/>
                </a:lnTo>
                <a:cubicBezTo>
                  <a:pt x="15868" y="646814"/>
                  <a:pt x="0" y="630946"/>
                  <a:pt x="0" y="611372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67070" y="1665767"/>
            <a:ext cx="11181907" cy="29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9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cleaning steps were applied to ensure data quality and reliability for model training.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507" y="2315240"/>
            <a:ext cx="3717851" cy="1431851"/>
          </a:xfrm>
          <a:custGeom>
            <a:avLst/>
            <a:gdLst/>
            <a:ahLst/>
            <a:cxnLst/>
            <a:rect l="l" t="t" r="r" b="b"/>
            <a:pathLst>
              <a:path w="3717851" h="1431851">
                <a:moveTo>
                  <a:pt x="70877" y="0"/>
                </a:moveTo>
                <a:lnTo>
                  <a:pt x="3646975" y="0"/>
                </a:lnTo>
                <a:cubicBezTo>
                  <a:pt x="3686119" y="0"/>
                  <a:pt x="3717851" y="31733"/>
                  <a:pt x="3717851" y="70877"/>
                </a:cubicBezTo>
                <a:lnTo>
                  <a:pt x="3717851" y="1360975"/>
                </a:lnTo>
                <a:cubicBezTo>
                  <a:pt x="3717851" y="1400119"/>
                  <a:pt x="3686119" y="1431851"/>
                  <a:pt x="3646975" y="1431851"/>
                </a:cubicBezTo>
                <a:lnTo>
                  <a:pt x="70877" y="1431851"/>
                </a:lnTo>
                <a:cubicBezTo>
                  <a:pt x="31733" y="1431851"/>
                  <a:pt x="0" y="1400119"/>
                  <a:pt x="0" y="1360975"/>
                </a:cubicBezTo>
                <a:lnTo>
                  <a:pt x="0" y="70877"/>
                </a:lnTo>
                <a:cubicBezTo>
                  <a:pt x="0" y="31759"/>
                  <a:pt x="31759" y="0"/>
                  <a:pt x="7087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5805" y="2499542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69851" y="2623589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88605" y="177209"/>
                </a:moveTo>
                <a:cubicBezTo>
                  <a:pt x="137507" y="177209"/>
                  <a:pt x="177209" y="137507"/>
                  <a:pt x="177209" y="88605"/>
                </a:cubicBezTo>
                <a:cubicBezTo>
                  <a:pt x="177209" y="39702"/>
                  <a:pt x="137507" y="0"/>
                  <a:pt x="88605" y="0"/>
                </a:cubicBezTo>
                <a:cubicBezTo>
                  <a:pt x="39702" y="0"/>
                  <a:pt x="0" y="39702"/>
                  <a:pt x="0" y="88605"/>
                </a:cubicBezTo>
                <a:cubicBezTo>
                  <a:pt x="0" y="137507"/>
                  <a:pt x="39702" y="177209"/>
                  <a:pt x="88605" y="177209"/>
                </a:cubicBezTo>
                <a:close/>
                <a:moveTo>
                  <a:pt x="58147" y="80298"/>
                </a:moveTo>
                <a:lnTo>
                  <a:pt x="119063" y="80298"/>
                </a:lnTo>
                <a:cubicBezTo>
                  <a:pt x="123666" y="80298"/>
                  <a:pt x="127369" y="84001"/>
                  <a:pt x="127369" y="88605"/>
                </a:cubicBezTo>
                <a:cubicBezTo>
                  <a:pt x="127369" y="93208"/>
                  <a:pt x="123666" y="96911"/>
                  <a:pt x="119063" y="96911"/>
                </a:cubicBezTo>
                <a:lnTo>
                  <a:pt x="58147" y="96911"/>
                </a:lnTo>
                <a:cubicBezTo>
                  <a:pt x="53544" y="96911"/>
                  <a:pt x="49840" y="93208"/>
                  <a:pt x="49840" y="88605"/>
                </a:cubicBezTo>
                <a:cubicBezTo>
                  <a:pt x="49840" y="84001"/>
                  <a:pt x="53544" y="80298"/>
                  <a:pt x="58147" y="8029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77433" y="2588147"/>
            <a:ext cx="173665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Invalid Fares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2386" y="3102054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20392" y="19410"/>
                </a:moveTo>
                <a:cubicBezTo>
                  <a:pt x="124351" y="22290"/>
                  <a:pt x="125237" y="27827"/>
                  <a:pt x="122357" y="31787"/>
                </a:cubicBezTo>
                <a:lnTo>
                  <a:pt x="51474" y="129252"/>
                </a:lnTo>
                <a:cubicBezTo>
                  <a:pt x="49951" y="131356"/>
                  <a:pt x="47597" y="132658"/>
                  <a:pt x="44995" y="132879"/>
                </a:cubicBezTo>
                <a:cubicBezTo>
                  <a:pt x="42392" y="133101"/>
                  <a:pt x="39872" y="132132"/>
                  <a:pt x="38045" y="130304"/>
                </a:cubicBezTo>
                <a:lnTo>
                  <a:pt x="2603" y="94862"/>
                </a:lnTo>
                <a:cubicBezTo>
                  <a:pt x="-858" y="91401"/>
                  <a:pt x="-858" y="85780"/>
                  <a:pt x="2603" y="82319"/>
                </a:cubicBezTo>
                <a:cubicBezTo>
                  <a:pt x="6064" y="78858"/>
                  <a:pt x="11685" y="78858"/>
                  <a:pt x="15146" y="82319"/>
                </a:cubicBezTo>
                <a:lnTo>
                  <a:pt x="43250" y="110424"/>
                </a:lnTo>
                <a:lnTo>
                  <a:pt x="108042" y="21348"/>
                </a:lnTo>
                <a:cubicBezTo>
                  <a:pt x="110922" y="17389"/>
                  <a:pt x="116460" y="16503"/>
                  <a:pt x="120419" y="1938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4" name="Text 12"/>
          <p:cNvSpPr/>
          <p:nvPr/>
        </p:nvSpPr>
        <p:spPr>
          <a:xfrm>
            <a:off x="793898" y="3066612"/>
            <a:ext cx="1621465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fares eliminated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2386" y="3385589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20392" y="19410"/>
                </a:moveTo>
                <a:cubicBezTo>
                  <a:pt x="124351" y="22290"/>
                  <a:pt x="125237" y="27827"/>
                  <a:pt x="122357" y="31787"/>
                </a:cubicBezTo>
                <a:lnTo>
                  <a:pt x="51474" y="129252"/>
                </a:lnTo>
                <a:cubicBezTo>
                  <a:pt x="49951" y="131356"/>
                  <a:pt x="47597" y="132658"/>
                  <a:pt x="44995" y="132879"/>
                </a:cubicBezTo>
                <a:cubicBezTo>
                  <a:pt x="42392" y="133101"/>
                  <a:pt x="39872" y="132132"/>
                  <a:pt x="38045" y="130304"/>
                </a:cubicBezTo>
                <a:lnTo>
                  <a:pt x="2603" y="94862"/>
                </a:lnTo>
                <a:cubicBezTo>
                  <a:pt x="-858" y="91401"/>
                  <a:pt x="-858" y="85780"/>
                  <a:pt x="2603" y="82319"/>
                </a:cubicBezTo>
                <a:cubicBezTo>
                  <a:pt x="6064" y="78858"/>
                  <a:pt x="11685" y="78858"/>
                  <a:pt x="15146" y="82319"/>
                </a:cubicBezTo>
                <a:lnTo>
                  <a:pt x="43250" y="110424"/>
                </a:lnTo>
                <a:lnTo>
                  <a:pt x="108042" y="21348"/>
                </a:lnTo>
                <a:cubicBezTo>
                  <a:pt x="110922" y="17389"/>
                  <a:pt x="116460" y="16503"/>
                  <a:pt x="120419" y="1938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793898" y="3350147"/>
            <a:ext cx="139109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fares filtered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36410" y="2315240"/>
            <a:ext cx="3717851" cy="1431851"/>
          </a:xfrm>
          <a:custGeom>
            <a:avLst/>
            <a:gdLst/>
            <a:ahLst/>
            <a:cxnLst/>
            <a:rect l="l" t="t" r="r" b="b"/>
            <a:pathLst>
              <a:path w="3717851" h="1431851">
                <a:moveTo>
                  <a:pt x="70877" y="0"/>
                </a:moveTo>
                <a:lnTo>
                  <a:pt x="3646975" y="0"/>
                </a:lnTo>
                <a:cubicBezTo>
                  <a:pt x="3686119" y="0"/>
                  <a:pt x="3717851" y="31733"/>
                  <a:pt x="3717851" y="70877"/>
                </a:cubicBezTo>
                <a:lnTo>
                  <a:pt x="3717851" y="1360975"/>
                </a:lnTo>
                <a:cubicBezTo>
                  <a:pt x="3717851" y="1400119"/>
                  <a:pt x="3686119" y="1431851"/>
                  <a:pt x="3646975" y="1431851"/>
                </a:cubicBezTo>
                <a:lnTo>
                  <a:pt x="70877" y="1431851"/>
                </a:lnTo>
                <a:cubicBezTo>
                  <a:pt x="31733" y="1431851"/>
                  <a:pt x="0" y="1400119"/>
                  <a:pt x="0" y="1360975"/>
                </a:cubicBezTo>
                <a:lnTo>
                  <a:pt x="0" y="70877"/>
                </a:lnTo>
                <a:cubicBezTo>
                  <a:pt x="0" y="31759"/>
                  <a:pt x="31759" y="0"/>
                  <a:pt x="7087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0708" y="2499542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4754" y="2623589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88605" y="0"/>
                </a:moveTo>
                <a:cubicBezTo>
                  <a:pt x="137507" y="0"/>
                  <a:pt x="177209" y="39702"/>
                  <a:pt x="177209" y="88605"/>
                </a:cubicBezTo>
                <a:cubicBezTo>
                  <a:pt x="177209" y="137507"/>
                  <a:pt x="137507" y="177209"/>
                  <a:pt x="88605" y="177209"/>
                </a:cubicBezTo>
                <a:cubicBezTo>
                  <a:pt x="39702" y="177209"/>
                  <a:pt x="0" y="137507"/>
                  <a:pt x="0" y="88605"/>
                </a:cubicBezTo>
                <a:cubicBezTo>
                  <a:pt x="0" y="39702"/>
                  <a:pt x="39702" y="0"/>
                  <a:pt x="88605" y="0"/>
                </a:cubicBezTo>
                <a:close/>
                <a:moveTo>
                  <a:pt x="80298" y="41533"/>
                </a:moveTo>
                <a:lnTo>
                  <a:pt x="80298" y="88605"/>
                </a:lnTo>
                <a:cubicBezTo>
                  <a:pt x="80298" y="91374"/>
                  <a:pt x="81682" y="93969"/>
                  <a:pt x="84001" y="95527"/>
                </a:cubicBezTo>
                <a:lnTo>
                  <a:pt x="117228" y="117678"/>
                </a:lnTo>
                <a:cubicBezTo>
                  <a:pt x="121035" y="120239"/>
                  <a:pt x="126192" y="119201"/>
                  <a:pt x="128754" y="115359"/>
                </a:cubicBezTo>
                <a:cubicBezTo>
                  <a:pt x="131315" y="111517"/>
                  <a:pt x="130277" y="106395"/>
                  <a:pt x="126435" y="103834"/>
                </a:cubicBezTo>
                <a:lnTo>
                  <a:pt x="96911" y="84174"/>
                </a:lnTo>
                <a:lnTo>
                  <a:pt x="96911" y="41533"/>
                </a:lnTo>
                <a:cubicBezTo>
                  <a:pt x="96911" y="36930"/>
                  <a:pt x="93208" y="33227"/>
                  <a:pt x="88605" y="33227"/>
                </a:cubicBezTo>
                <a:cubicBezTo>
                  <a:pt x="84001" y="33227"/>
                  <a:pt x="80298" y="36930"/>
                  <a:pt x="80298" y="41533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4952335" y="2588147"/>
            <a:ext cx="119616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Filter Duration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47289" y="3102054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20392" y="19410"/>
                </a:moveTo>
                <a:cubicBezTo>
                  <a:pt x="124351" y="22290"/>
                  <a:pt x="125237" y="27827"/>
                  <a:pt x="122357" y="31787"/>
                </a:cubicBezTo>
                <a:lnTo>
                  <a:pt x="51474" y="129252"/>
                </a:lnTo>
                <a:cubicBezTo>
                  <a:pt x="49951" y="131356"/>
                  <a:pt x="47597" y="132658"/>
                  <a:pt x="44995" y="132879"/>
                </a:cubicBezTo>
                <a:cubicBezTo>
                  <a:pt x="42392" y="133101"/>
                  <a:pt x="39872" y="132132"/>
                  <a:pt x="38045" y="130304"/>
                </a:cubicBezTo>
                <a:lnTo>
                  <a:pt x="2603" y="94862"/>
                </a:lnTo>
                <a:cubicBezTo>
                  <a:pt x="-858" y="91401"/>
                  <a:pt x="-858" y="85780"/>
                  <a:pt x="2603" y="82319"/>
                </a:cubicBezTo>
                <a:cubicBezTo>
                  <a:pt x="6064" y="78858"/>
                  <a:pt x="11685" y="78858"/>
                  <a:pt x="15146" y="82319"/>
                </a:cubicBezTo>
                <a:lnTo>
                  <a:pt x="43250" y="110424"/>
                </a:lnTo>
                <a:lnTo>
                  <a:pt x="108042" y="21348"/>
                </a:lnTo>
                <a:cubicBezTo>
                  <a:pt x="110922" y="17389"/>
                  <a:pt x="116460" y="16503"/>
                  <a:pt x="120419" y="1938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8800" y="3066612"/>
            <a:ext cx="191386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Unrealistic durations removed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7289" y="3385589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20392" y="19410"/>
                </a:moveTo>
                <a:cubicBezTo>
                  <a:pt x="124351" y="22290"/>
                  <a:pt x="125237" y="27827"/>
                  <a:pt x="122357" y="31787"/>
                </a:cubicBezTo>
                <a:lnTo>
                  <a:pt x="51474" y="129252"/>
                </a:lnTo>
                <a:cubicBezTo>
                  <a:pt x="49951" y="131356"/>
                  <a:pt x="47597" y="132658"/>
                  <a:pt x="44995" y="132879"/>
                </a:cubicBezTo>
                <a:cubicBezTo>
                  <a:pt x="42392" y="133101"/>
                  <a:pt x="39872" y="132132"/>
                  <a:pt x="38045" y="130304"/>
                </a:cubicBezTo>
                <a:lnTo>
                  <a:pt x="2603" y="94862"/>
                </a:lnTo>
                <a:cubicBezTo>
                  <a:pt x="-858" y="91401"/>
                  <a:pt x="-858" y="85780"/>
                  <a:pt x="2603" y="82319"/>
                </a:cubicBezTo>
                <a:cubicBezTo>
                  <a:pt x="6064" y="78858"/>
                  <a:pt x="11685" y="78858"/>
                  <a:pt x="15146" y="82319"/>
                </a:cubicBezTo>
                <a:lnTo>
                  <a:pt x="43250" y="110424"/>
                </a:lnTo>
                <a:lnTo>
                  <a:pt x="108042" y="21348"/>
                </a:lnTo>
                <a:cubicBezTo>
                  <a:pt x="110922" y="17389"/>
                  <a:pt x="116460" y="16503"/>
                  <a:pt x="120419" y="1938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4" name="Text 22"/>
          <p:cNvSpPr/>
          <p:nvPr/>
        </p:nvSpPr>
        <p:spPr>
          <a:xfrm>
            <a:off x="4668800" y="3350147"/>
            <a:ext cx="154172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values handled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11424" y="2315240"/>
            <a:ext cx="3717851" cy="1431851"/>
          </a:xfrm>
          <a:custGeom>
            <a:avLst/>
            <a:gdLst/>
            <a:ahLst/>
            <a:cxnLst/>
            <a:rect l="l" t="t" r="r" b="b"/>
            <a:pathLst>
              <a:path w="3717851" h="1431851">
                <a:moveTo>
                  <a:pt x="70877" y="0"/>
                </a:moveTo>
                <a:lnTo>
                  <a:pt x="3646975" y="0"/>
                </a:lnTo>
                <a:cubicBezTo>
                  <a:pt x="3686119" y="0"/>
                  <a:pt x="3717851" y="31733"/>
                  <a:pt x="3717851" y="70877"/>
                </a:cubicBezTo>
                <a:lnTo>
                  <a:pt x="3717851" y="1360975"/>
                </a:lnTo>
                <a:cubicBezTo>
                  <a:pt x="3717851" y="1400119"/>
                  <a:pt x="3686119" y="1431851"/>
                  <a:pt x="3646975" y="1431851"/>
                </a:cubicBezTo>
                <a:lnTo>
                  <a:pt x="70877" y="1431851"/>
                </a:lnTo>
                <a:cubicBezTo>
                  <a:pt x="31733" y="1431851"/>
                  <a:pt x="0" y="1400119"/>
                  <a:pt x="0" y="1360975"/>
                </a:cubicBezTo>
                <a:lnTo>
                  <a:pt x="0" y="70877"/>
                </a:lnTo>
                <a:cubicBezTo>
                  <a:pt x="0" y="31759"/>
                  <a:pt x="31759" y="0"/>
                  <a:pt x="7087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5721" y="2499542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212651" y="0"/>
                </a:moveTo>
                <a:lnTo>
                  <a:pt x="212651" y="0"/>
                </a:lnTo>
                <a:cubicBezTo>
                  <a:pt x="330017" y="0"/>
                  <a:pt x="425302" y="95286"/>
                  <a:pt x="425302" y="212651"/>
                </a:cubicBezTo>
                <a:lnTo>
                  <a:pt x="425302" y="212651"/>
                </a:lnTo>
                <a:cubicBezTo>
                  <a:pt x="425302" y="330017"/>
                  <a:pt x="330017" y="425302"/>
                  <a:pt x="212651" y="425302"/>
                </a:cubicBezTo>
                <a:lnTo>
                  <a:pt x="212651" y="425302"/>
                </a:lnTo>
                <a:cubicBezTo>
                  <a:pt x="95286" y="425302"/>
                  <a:pt x="0" y="330017"/>
                  <a:pt x="0" y="212651"/>
                </a:cubicBezTo>
                <a:lnTo>
                  <a:pt x="0" y="212651"/>
                </a:lnTo>
                <a:cubicBezTo>
                  <a:pt x="0" y="95286"/>
                  <a:pt x="95286" y="0"/>
                  <a:pt x="212651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9768" y="2623589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22151" y="22151"/>
                </a:moveTo>
                <a:cubicBezTo>
                  <a:pt x="22151" y="16025"/>
                  <a:pt x="17202" y="11076"/>
                  <a:pt x="11076" y="11076"/>
                </a:cubicBezTo>
                <a:cubicBezTo>
                  <a:pt x="4949" y="11076"/>
                  <a:pt x="0" y="16025"/>
                  <a:pt x="0" y="22151"/>
                </a:cubicBezTo>
                <a:lnTo>
                  <a:pt x="0" y="138445"/>
                </a:lnTo>
                <a:cubicBezTo>
                  <a:pt x="0" y="153743"/>
                  <a:pt x="12391" y="166134"/>
                  <a:pt x="27689" y="166134"/>
                </a:cubicBezTo>
                <a:lnTo>
                  <a:pt x="166134" y="166134"/>
                </a:lnTo>
                <a:cubicBezTo>
                  <a:pt x="172260" y="166134"/>
                  <a:pt x="177209" y="161184"/>
                  <a:pt x="177209" y="155058"/>
                </a:cubicBezTo>
                <a:cubicBezTo>
                  <a:pt x="177209" y="148932"/>
                  <a:pt x="172260" y="143983"/>
                  <a:pt x="166134" y="143983"/>
                </a:cubicBezTo>
                <a:lnTo>
                  <a:pt x="27689" y="143983"/>
                </a:lnTo>
                <a:cubicBezTo>
                  <a:pt x="24643" y="143983"/>
                  <a:pt x="22151" y="141491"/>
                  <a:pt x="22151" y="138445"/>
                </a:cubicBezTo>
                <a:lnTo>
                  <a:pt x="22151" y="22151"/>
                </a:lnTo>
                <a:close/>
                <a:moveTo>
                  <a:pt x="162880" y="52124"/>
                </a:moveTo>
                <a:cubicBezTo>
                  <a:pt x="167207" y="47798"/>
                  <a:pt x="167207" y="40772"/>
                  <a:pt x="162880" y="36446"/>
                </a:cubicBezTo>
                <a:cubicBezTo>
                  <a:pt x="158554" y="32119"/>
                  <a:pt x="151528" y="32119"/>
                  <a:pt x="147201" y="36446"/>
                </a:cubicBezTo>
                <a:lnTo>
                  <a:pt x="110756" y="72926"/>
                </a:lnTo>
                <a:lnTo>
                  <a:pt x="90889" y="53094"/>
                </a:lnTo>
                <a:cubicBezTo>
                  <a:pt x="86563" y="48767"/>
                  <a:pt x="79537" y="48767"/>
                  <a:pt x="75210" y="53094"/>
                </a:cubicBezTo>
                <a:lnTo>
                  <a:pt x="41983" y="86320"/>
                </a:lnTo>
                <a:cubicBezTo>
                  <a:pt x="37657" y="90647"/>
                  <a:pt x="37657" y="97673"/>
                  <a:pt x="41983" y="101999"/>
                </a:cubicBezTo>
                <a:cubicBezTo>
                  <a:pt x="46310" y="106326"/>
                  <a:pt x="53336" y="106326"/>
                  <a:pt x="57662" y="101999"/>
                </a:cubicBezTo>
                <a:lnTo>
                  <a:pt x="83067" y="76595"/>
                </a:lnTo>
                <a:lnTo>
                  <a:pt x="102934" y="96461"/>
                </a:lnTo>
                <a:cubicBezTo>
                  <a:pt x="107260" y="100788"/>
                  <a:pt x="114286" y="100788"/>
                  <a:pt x="118613" y="96461"/>
                </a:cubicBezTo>
                <a:lnTo>
                  <a:pt x="162915" y="5215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8827349" y="2588147"/>
            <a:ext cx="129362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Outliers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22303" y="3102054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20392" y="19410"/>
                </a:moveTo>
                <a:cubicBezTo>
                  <a:pt x="124351" y="22290"/>
                  <a:pt x="125237" y="27827"/>
                  <a:pt x="122357" y="31787"/>
                </a:cubicBezTo>
                <a:lnTo>
                  <a:pt x="51474" y="129252"/>
                </a:lnTo>
                <a:cubicBezTo>
                  <a:pt x="49951" y="131356"/>
                  <a:pt x="47597" y="132658"/>
                  <a:pt x="44995" y="132879"/>
                </a:cubicBezTo>
                <a:cubicBezTo>
                  <a:pt x="42392" y="133101"/>
                  <a:pt x="39872" y="132132"/>
                  <a:pt x="38045" y="130304"/>
                </a:cubicBezTo>
                <a:lnTo>
                  <a:pt x="2603" y="94862"/>
                </a:lnTo>
                <a:cubicBezTo>
                  <a:pt x="-858" y="91401"/>
                  <a:pt x="-858" y="85780"/>
                  <a:pt x="2603" y="82319"/>
                </a:cubicBezTo>
                <a:cubicBezTo>
                  <a:pt x="6064" y="78858"/>
                  <a:pt x="11685" y="78858"/>
                  <a:pt x="15146" y="82319"/>
                </a:cubicBezTo>
                <a:lnTo>
                  <a:pt x="43250" y="110424"/>
                </a:lnTo>
                <a:lnTo>
                  <a:pt x="108042" y="21348"/>
                </a:lnTo>
                <a:cubicBezTo>
                  <a:pt x="110922" y="17389"/>
                  <a:pt x="116460" y="16503"/>
                  <a:pt x="120419" y="1938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0" name="Text 28"/>
          <p:cNvSpPr/>
          <p:nvPr/>
        </p:nvSpPr>
        <p:spPr>
          <a:xfrm>
            <a:off x="8543814" y="3066612"/>
            <a:ext cx="1656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outliers removed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22303" y="3385589"/>
            <a:ext cx="124047" cy="141767"/>
          </a:xfrm>
          <a:custGeom>
            <a:avLst/>
            <a:gdLst/>
            <a:ahLst/>
            <a:cxnLst/>
            <a:rect l="l" t="t" r="r" b="b"/>
            <a:pathLst>
              <a:path w="124047" h="141767">
                <a:moveTo>
                  <a:pt x="120392" y="19410"/>
                </a:moveTo>
                <a:cubicBezTo>
                  <a:pt x="124351" y="22290"/>
                  <a:pt x="125237" y="27827"/>
                  <a:pt x="122357" y="31787"/>
                </a:cubicBezTo>
                <a:lnTo>
                  <a:pt x="51474" y="129252"/>
                </a:lnTo>
                <a:cubicBezTo>
                  <a:pt x="49951" y="131356"/>
                  <a:pt x="47597" y="132658"/>
                  <a:pt x="44995" y="132879"/>
                </a:cubicBezTo>
                <a:cubicBezTo>
                  <a:pt x="42392" y="133101"/>
                  <a:pt x="39872" y="132132"/>
                  <a:pt x="38045" y="130304"/>
                </a:cubicBezTo>
                <a:lnTo>
                  <a:pt x="2603" y="94862"/>
                </a:lnTo>
                <a:cubicBezTo>
                  <a:pt x="-858" y="91401"/>
                  <a:pt x="-858" y="85780"/>
                  <a:pt x="2603" y="82319"/>
                </a:cubicBezTo>
                <a:cubicBezTo>
                  <a:pt x="6064" y="78858"/>
                  <a:pt x="11685" y="78858"/>
                  <a:pt x="15146" y="82319"/>
                </a:cubicBezTo>
                <a:lnTo>
                  <a:pt x="43250" y="110424"/>
                </a:lnTo>
                <a:lnTo>
                  <a:pt x="108042" y="21348"/>
                </a:lnTo>
                <a:cubicBezTo>
                  <a:pt x="110922" y="17389"/>
                  <a:pt x="116460" y="16503"/>
                  <a:pt x="120419" y="1938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2" name="Text 30"/>
          <p:cNvSpPr/>
          <p:nvPr/>
        </p:nvSpPr>
        <p:spPr>
          <a:xfrm>
            <a:off x="8543814" y="3350147"/>
            <a:ext cx="182525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thresholds applied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1507" y="3938478"/>
            <a:ext cx="5640572" cy="1467293"/>
          </a:xfrm>
          <a:custGeom>
            <a:avLst/>
            <a:gdLst/>
            <a:ahLst/>
            <a:cxnLst/>
            <a:rect l="l" t="t" r="r" b="b"/>
            <a:pathLst>
              <a:path w="5640572" h="1467293">
                <a:moveTo>
                  <a:pt x="70885" y="0"/>
                </a:moveTo>
                <a:lnTo>
                  <a:pt x="5569687" y="0"/>
                </a:lnTo>
                <a:cubicBezTo>
                  <a:pt x="5608836" y="0"/>
                  <a:pt x="5640572" y="31736"/>
                  <a:pt x="5640572" y="70885"/>
                </a:cubicBezTo>
                <a:lnTo>
                  <a:pt x="5640572" y="1396408"/>
                </a:lnTo>
                <a:cubicBezTo>
                  <a:pt x="5640572" y="1435557"/>
                  <a:pt x="5608836" y="1467293"/>
                  <a:pt x="5569687" y="1467293"/>
                </a:cubicBezTo>
                <a:lnTo>
                  <a:pt x="70885" y="1467293"/>
                </a:lnTo>
                <a:cubicBezTo>
                  <a:pt x="31736" y="1467293"/>
                  <a:pt x="0" y="1435557"/>
                  <a:pt x="0" y="1396408"/>
                </a:cubicBezTo>
                <a:lnTo>
                  <a:pt x="0" y="70885"/>
                </a:lnTo>
                <a:cubicBezTo>
                  <a:pt x="0" y="31762"/>
                  <a:pt x="31762" y="0"/>
                  <a:pt x="70885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5805" y="4122773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>
                <a:moveTo>
                  <a:pt x="248093" y="0"/>
                </a:moveTo>
                <a:lnTo>
                  <a:pt x="248093" y="0"/>
                </a:lnTo>
                <a:cubicBezTo>
                  <a:pt x="385111" y="0"/>
                  <a:pt x="496186" y="111075"/>
                  <a:pt x="496186" y="248093"/>
                </a:cubicBezTo>
                <a:lnTo>
                  <a:pt x="496186" y="248093"/>
                </a:lnTo>
                <a:cubicBezTo>
                  <a:pt x="496186" y="385111"/>
                  <a:pt x="385111" y="496186"/>
                  <a:pt x="248093" y="496186"/>
                </a:cubicBezTo>
                <a:lnTo>
                  <a:pt x="248093" y="496186"/>
                </a:lnTo>
                <a:cubicBezTo>
                  <a:pt x="111075" y="496186"/>
                  <a:pt x="0" y="385111"/>
                  <a:pt x="0" y="248093"/>
                </a:cubicBezTo>
                <a:lnTo>
                  <a:pt x="0" y="248093"/>
                </a:lnTo>
                <a:cubicBezTo>
                  <a:pt x="0" y="111075"/>
                  <a:pt x="111075" y="0"/>
                  <a:pt x="24809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7572" y="4264540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19616" y="186070"/>
                </a:moveTo>
                <a:lnTo>
                  <a:pt x="26581" y="186070"/>
                </a:lnTo>
                <a:lnTo>
                  <a:pt x="26581" y="93035"/>
                </a:lnTo>
                <a:lnTo>
                  <a:pt x="46517" y="93035"/>
                </a:lnTo>
                <a:lnTo>
                  <a:pt x="46517" y="66453"/>
                </a:lnTo>
                <a:lnTo>
                  <a:pt x="26581" y="66453"/>
                </a:lnTo>
                <a:cubicBezTo>
                  <a:pt x="11920" y="66453"/>
                  <a:pt x="0" y="78374"/>
                  <a:pt x="0" y="93035"/>
                </a:cubicBezTo>
                <a:lnTo>
                  <a:pt x="0" y="186070"/>
                </a:lnTo>
                <a:cubicBezTo>
                  <a:pt x="0" y="200731"/>
                  <a:pt x="11920" y="212651"/>
                  <a:pt x="26581" y="212651"/>
                </a:cubicBezTo>
                <a:lnTo>
                  <a:pt x="119616" y="212651"/>
                </a:lnTo>
                <a:cubicBezTo>
                  <a:pt x="134278" y="212651"/>
                  <a:pt x="146198" y="200731"/>
                  <a:pt x="146198" y="186070"/>
                </a:cubicBezTo>
                <a:lnTo>
                  <a:pt x="146198" y="166134"/>
                </a:lnTo>
                <a:lnTo>
                  <a:pt x="119616" y="166134"/>
                </a:lnTo>
                <a:lnTo>
                  <a:pt x="119616" y="186070"/>
                </a:lnTo>
                <a:close/>
                <a:moveTo>
                  <a:pt x="93035" y="146198"/>
                </a:moveTo>
                <a:lnTo>
                  <a:pt x="186070" y="146198"/>
                </a:lnTo>
                <a:cubicBezTo>
                  <a:pt x="200731" y="146198"/>
                  <a:pt x="212651" y="134278"/>
                  <a:pt x="212651" y="119616"/>
                </a:cubicBezTo>
                <a:lnTo>
                  <a:pt x="212651" y="26581"/>
                </a:lnTo>
                <a:cubicBezTo>
                  <a:pt x="212651" y="11920"/>
                  <a:pt x="200731" y="0"/>
                  <a:pt x="186070" y="0"/>
                </a:cubicBezTo>
                <a:lnTo>
                  <a:pt x="93035" y="0"/>
                </a:lnTo>
                <a:cubicBezTo>
                  <a:pt x="78374" y="0"/>
                  <a:pt x="66453" y="11920"/>
                  <a:pt x="66453" y="26581"/>
                </a:cubicBezTo>
                <a:lnTo>
                  <a:pt x="66453" y="119616"/>
                </a:lnTo>
                <a:cubicBezTo>
                  <a:pt x="66453" y="134278"/>
                  <a:pt x="78374" y="146198"/>
                  <a:pt x="93035" y="14619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6" name="Text 34"/>
          <p:cNvSpPr/>
          <p:nvPr/>
        </p:nvSpPr>
        <p:spPr>
          <a:xfrm>
            <a:off x="1183758" y="4229098"/>
            <a:ext cx="1913860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Duplicates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5805" y="4760726"/>
            <a:ext cx="5342860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and eliminated duplicate records to prevent data redundancy and ensure accurate model training.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693" y="3938478"/>
            <a:ext cx="5640572" cy="1467293"/>
          </a:xfrm>
          <a:custGeom>
            <a:avLst/>
            <a:gdLst/>
            <a:ahLst/>
            <a:cxnLst/>
            <a:rect l="l" t="t" r="r" b="b"/>
            <a:pathLst>
              <a:path w="5640572" h="1467293">
                <a:moveTo>
                  <a:pt x="70885" y="0"/>
                </a:moveTo>
                <a:lnTo>
                  <a:pt x="5569687" y="0"/>
                </a:lnTo>
                <a:cubicBezTo>
                  <a:pt x="5608836" y="0"/>
                  <a:pt x="5640572" y="31736"/>
                  <a:pt x="5640572" y="70885"/>
                </a:cubicBezTo>
                <a:lnTo>
                  <a:pt x="5640572" y="1396408"/>
                </a:lnTo>
                <a:cubicBezTo>
                  <a:pt x="5640572" y="1435557"/>
                  <a:pt x="5608836" y="1467293"/>
                  <a:pt x="5569687" y="1467293"/>
                </a:cubicBezTo>
                <a:lnTo>
                  <a:pt x="70885" y="1467293"/>
                </a:lnTo>
                <a:cubicBezTo>
                  <a:pt x="31736" y="1467293"/>
                  <a:pt x="0" y="1435557"/>
                  <a:pt x="0" y="1396408"/>
                </a:cubicBezTo>
                <a:lnTo>
                  <a:pt x="0" y="70885"/>
                </a:lnTo>
                <a:cubicBezTo>
                  <a:pt x="0" y="31762"/>
                  <a:pt x="31762" y="0"/>
                  <a:pt x="70885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5991" y="4122773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>
                <a:moveTo>
                  <a:pt x="248093" y="0"/>
                </a:moveTo>
                <a:lnTo>
                  <a:pt x="248093" y="0"/>
                </a:lnTo>
                <a:cubicBezTo>
                  <a:pt x="385111" y="0"/>
                  <a:pt x="496186" y="111075"/>
                  <a:pt x="496186" y="248093"/>
                </a:cubicBezTo>
                <a:lnTo>
                  <a:pt x="496186" y="248093"/>
                </a:lnTo>
                <a:cubicBezTo>
                  <a:pt x="496186" y="385111"/>
                  <a:pt x="385111" y="496186"/>
                  <a:pt x="248093" y="496186"/>
                </a:cubicBezTo>
                <a:lnTo>
                  <a:pt x="248093" y="496186"/>
                </a:lnTo>
                <a:cubicBezTo>
                  <a:pt x="111075" y="496186"/>
                  <a:pt x="0" y="385111"/>
                  <a:pt x="0" y="248093"/>
                </a:cubicBezTo>
                <a:lnTo>
                  <a:pt x="0" y="248093"/>
                </a:lnTo>
                <a:cubicBezTo>
                  <a:pt x="0" y="111075"/>
                  <a:pt x="111075" y="0"/>
                  <a:pt x="248093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0" name="Shape 38"/>
          <p:cNvSpPr/>
          <p:nvPr/>
        </p:nvSpPr>
        <p:spPr>
          <a:xfrm>
            <a:off x="6491177" y="4264540"/>
            <a:ext cx="265814" cy="212651"/>
          </a:xfrm>
          <a:custGeom>
            <a:avLst/>
            <a:gdLst/>
            <a:ahLst/>
            <a:cxnLst/>
            <a:rect l="l" t="t" r="r" b="b"/>
            <a:pathLst>
              <a:path w="265814" h="212651">
                <a:moveTo>
                  <a:pt x="239233" y="19936"/>
                </a:moveTo>
                <a:cubicBezTo>
                  <a:pt x="239233" y="15326"/>
                  <a:pt x="236865" y="11048"/>
                  <a:pt x="232919" y="8639"/>
                </a:cubicBezTo>
                <a:cubicBezTo>
                  <a:pt x="228974" y="6230"/>
                  <a:pt x="224114" y="5981"/>
                  <a:pt x="220003" y="8057"/>
                </a:cubicBezTo>
                <a:lnTo>
                  <a:pt x="171741" y="32188"/>
                </a:lnTo>
                <a:lnTo>
                  <a:pt x="97230" y="7310"/>
                </a:lnTo>
                <a:cubicBezTo>
                  <a:pt x="93866" y="6188"/>
                  <a:pt x="90252" y="6438"/>
                  <a:pt x="87096" y="8016"/>
                </a:cubicBezTo>
                <a:lnTo>
                  <a:pt x="33933" y="34597"/>
                </a:lnTo>
                <a:cubicBezTo>
                  <a:pt x="29406" y="36882"/>
                  <a:pt x="26581" y="41492"/>
                  <a:pt x="26581" y="46517"/>
                </a:cubicBezTo>
                <a:lnTo>
                  <a:pt x="26581" y="192715"/>
                </a:lnTo>
                <a:cubicBezTo>
                  <a:pt x="26581" y="197325"/>
                  <a:pt x="28949" y="201603"/>
                  <a:pt x="32894" y="204012"/>
                </a:cubicBezTo>
                <a:cubicBezTo>
                  <a:pt x="36840" y="206421"/>
                  <a:pt x="41700" y="206670"/>
                  <a:pt x="45811" y="204594"/>
                </a:cubicBezTo>
                <a:lnTo>
                  <a:pt x="94032" y="180463"/>
                </a:lnTo>
                <a:lnTo>
                  <a:pt x="166009" y="204469"/>
                </a:lnTo>
                <a:cubicBezTo>
                  <a:pt x="164223" y="201811"/>
                  <a:pt x="162479" y="199028"/>
                  <a:pt x="160776" y="196204"/>
                </a:cubicBezTo>
                <a:cubicBezTo>
                  <a:pt x="156207" y="188603"/>
                  <a:pt x="151680" y="179881"/>
                  <a:pt x="148316" y="170536"/>
                </a:cubicBezTo>
                <a:lnTo>
                  <a:pt x="106284" y="156539"/>
                </a:lnTo>
                <a:lnTo>
                  <a:pt x="106284" y="38377"/>
                </a:lnTo>
                <a:lnTo>
                  <a:pt x="159447" y="56112"/>
                </a:lnTo>
                <a:lnTo>
                  <a:pt x="159447" y="97354"/>
                </a:lnTo>
                <a:cubicBezTo>
                  <a:pt x="172322" y="82485"/>
                  <a:pt x="191428" y="73099"/>
                  <a:pt x="212610" y="73099"/>
                </a:cubicBezTo>
                <a:cubicBezTo>
                  <a:pt x="221996" y="73099"/>
                  <a:pt x="230967" y="74926"/>
                  <a:pt x="239191" y="78291"/>
                </a:cubicBezTo>
                <a:lnTo>
                  <a:pt x="239233" y="19936"/>
                </a:lnTo>
                <a:close/>
                <a:moveTo>
                  <a:pt x="212651" y="93035"/>
                </a:moveTo>
                <a:cubicBezTo>
                  <a:pt x="185114" y="93035"/>
                  <a:pt x="162811" y="114965"/>
                  <a:pt x="162811" y="142003"/>
                </a:cubicBezTo>
                <a:cubicBezTo>
                  <a:pt x="162811" y="170619"/>
                  <a:pt x="189434" y="204469"/>
                  <a:pt x="203763" y="220626"/>
                </a:cubicBezTo>
                <a:cubicBezTo>
                  <a:pt x="208581" y="226025"/>
                  <a:pt x="216763" y="226025"/>
                  <a:pt x="221581" y="220626"/>
                </a:cubicBezTo>
                <a:cubicBezTo>
                  <a:pt x="235910" y="204469"/>
                  <a:pt x="262533" y="170619"/>
                  <a:pt x="262533" y="142003"/>
                </a:cubicBezTo>
                <a:cubicBezTo>
                  <a:pt x="262533" y="114965"/>
                  <a:pt x="240229" y="93035"/>
                  <a:pt x="212693" y="93035"/>
                </a:cubicBezTo>
                <a:close/>
                <a:moveTo>
                  <a:pt x="196038" y="142875"/>
                </a:moveTo>
                <a:cubicBezTo>
                  <a:pt x="196038" y="133706"/>
                  <a:pt x="203482" y="126262"/>
                  <a:pt x="212651" y="126262"/>
                </a:cubicBezTo>
                <a:cubicBezTo>
                  <a:pt x="221820" y="126262"/>
                  <a:pt x="229265" y="133706"/>
                  <a:pt x="229265" y="142875"/>
                </a:cubicBezTo>
                <a:cubicBezTo>
                  <a:pt x="229265" y="152044"/>
                  <a:pt x="221820" y="159488"/>
                  <a:pt x="212651" y="159488"/>
                </a:cubicBezTo>
                <a:cubicBezTo>
                  <a:pt x="203482" y="159488"/>
                  <a:pt x="196038" y="152044"/>
                  <a:pt x="196038" y="14287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1" name="Text 39"/>
          <p:cNvSpPr/>
          <p:nvPr/>
        </p:nvSpPr>
        <p:spPr>
          <a:xfrm>
            <a:off x="7013945" y="4229098"/>
            <a:ext cx="2498651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Missing Boroughs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75991" y="4760726"/>
            <a:ext cx="5342860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Addressed missing borough values through imputation or removal to maintain geographic data integrity.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1507" y="5597159"/>
            <a:ext cx="11470758" cy="900223"/>
          </a:xfrm>
          <a:custGeom>
            <a:avLst/>
            <a:gdLst/>
            <a:ahLst/>
            <a:cxnLst/>
            <a:rect l="l" t="t" r="r" b="b"/>
            <a:pathLst>
              <a:path w="11470758" h="900223">
                <a:moveTo>
                  <a:pt x="70884" y="0"/>
                </a:moveTo>
                <a:lnTo>
                  <a:pt x="11399875" y="0"/>
                </a:lnTo>
                <a:cubicBezTo>
                  <a:pt x="11439022" y="0"/>
                  <a:pt x="11470758" y="31736"/>
                  <a:pt x="11470758" y="70884"/>
                </a:cubicBezTo>
                <a:lnTo>
                  <a:pt x="11470758" y="829340"/>
                </a:lnTo>
                <a:cubicBezTo>
                  <a:pt x="11470758" y="868488"/>
                  <a:pt x="11439022" y="900223"/>
                  <a:pt x="11399875" y="900223"/>
                </a:cubicBezTo>
                <a:lnTo>
                  <a:pt x="70884" y="900223"/>
                </a:lnTo>
                <a:cubicBezTo>
                  <a:pt x="31736" y="900223"/>
                  <a:pt x="0" y="868488"/>
                  <a:pt x="0" y="829340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5549" y="5887779"/>
            <a:ext cx="239233" cy="318977"/>
          </a:xfrm>
          <a:custGeom>
            <a:avLst/>
            <a:gdLst/>
            <a:ahLst/>
            <a:cxnLst/>
            <a:rect l="l" t="t" r="r" b="b"/>
            <a:pathLst>
              <a:path w="239233" h="318977">
                <a:moveTo>
                  <a:pt x="155688" y="41616"/>
                </a:moveTo>
                <a:cubicBezTo>
                  <a:pt x="162167" y="32708"/>
                  <a:pt x="160174" y="20248"/>
                  <a:pt x="151265" y="13768"/>
                </a:cubicBezTo>
                <a:cubicBezTo>
                  <a:pt x="142356" y="7289"/>
                  <a:pt x="129896" y="9283"/>
                  <a:pt x="123417" y="18192"/>
                </a:cubicBezTo>
                <a:lnTo>
                  <a:pt x="57378" y="108963"/>
                </a:lnTo>
                <a:lnTo>
                  <a:pt x="34016" y="85600"/>
                </a:lnTo>
                <a:cubicBezTo>
                  <a:pt x="26228" y="77813"/>
                  <a:pt x="13581" y="77813"/>
                  <a:pt x="5794" y="85600"/>
                </a:cubicBezTo>
                <a:cubicBezTo>
                  <a:pt x="-1994" y="93388"/>
                  <a:pt x="-1994" y="106035"/>
                  <a:pt x="5794" y="113822"/>
                </a:cubicBezTo>
                <a:lnTo>
                  <a:pt x="45666" y="153694"/>
                </a:lnTo>
                <a:cubicBezTo>
                  <a:pt x="49778" y="157806"/>
                  <a:pt x="55509" y="159924"/>
                  <a:pt x="61303" y="159488"/>
                </a:cubicBezTo>
                <a:cubicBezTo>
                  <a:pt x="67097" y="159052"/>
                  <a:pt x="72455" y="156062"/>
                  <a:pt x="75882" y="151327"/>
                </a:cubicBezTo>
                <a:lnTo>
                  <a:pt x="155626" y="41679"/>
                </a:lnTo>
                <a:close/>
                <a:moveTo>
                  <a:pt x="235432" y="126345"/>
                </a:moveTo>
                <a:cubicBezTo>
                  <a:pt x="241911" y="117436"/>
                  <a:pt x="239918" y="104976"/>
                  <a:pt x="231009" y="98497"/>
                </a:cubicBezTo>
                <a:cubicBezTo>
                  <a:pt x="222100" y="92017"/>
                  <a:pt x="209640" y="94011"/>
                  <a:pt x="203161" y="102920"/>
                </a:cubicBezTo>
                <a:lnTo>
                  <a:pt x="97251" y="248515"/>
                </a:lnTo>
                <a:lnTo>
                  <a:pt x="53952" y="205217"/>
                </a:lnTo>
                <a:cubicBezTo>
                  <a:pt x="46164" y="197429"/>
                  <a:pt x="33517" y="197429"/>
                  <a:pt x="25730" y="205217"/>
                </a:cubicBezTo>
                <a:cubicBezTo>
                  <a:pt x="17942" y="213004"/>
                  <a:pt x="17942" y="225651"/>
                  <a:pt x="25730" y="233439"/>
                </a:cubicBezTo>
                <a:lnTo>
                  <a:pt x="85538" y="293247"/>
                </a:lnTo>
                <a:cubicBezTo>
                  <a:pt x="89650" y="297359"/>
                  <a:pt x="95382" y="299477"/>
                  <a:pt x="101175" y="299041"/>
                </a:cubicBezTo>
                <a:cubicBezTo>
                  <a:pt x="106969" y="298605"/>
                  <a:pt x="112327" y="295614"/>
                  <a:pt x="115754" y="290879"/>
                </a:cubicBezTo>
                <a:lnTo>
                  <a:pt x="235370" y="126407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5" name="Text 43"/>
          <p:cNvSpPr/>
          <p:nvPr/>
        </p:nvSpPr>
        <p:spPr>
          <a:xfrm>
            <a:off x="1086293" y="5781453"/>
            <a:ext cx="4917558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86293" y="6100430"/>
            <a:ext cx="489983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Cleaner dataset with </a:t>
            </a:r>
            <a:pPr>
              <a:lnSpc>
                <a:spcPct val="130000"/>
              </a:lnSpc>
            </a:pPr>
            <a:r>
              <a:rPr lang="en-US" sz="1116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training inputs</a:t>
            </a:r>
            <a:pPr>
              <a:lnSpc>
                <a:spcPct val="130000"/>
              </a:lnSpc>
            </a:pPr>
            <a:r>
              <a:rPr lang="en-US" sz="111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ready for machine learning models.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608" y="343437"/>
            <a:ext cx="1056068" cy="343437"/>
          </a:xfrm>
          <a:custGeom>
            <a:avLst/>
            <a:gdLst/>
            <a:ahLst/>
            <a:cxnLst/>
            <a:rect l="l" t="t" r="r" b="b"/>
            <a:pathLst>
              <a:path w="1056068" h="343437">
                <a:moveTo>
                  <a:pt x="0" y="0"/>
                </a:moveTo>
                <a:lnTo>
                  <a:pt x="1056068" y="0"/>
                </a:lnTo>
                <a:lnTo>
                  <a:pt x="1056068" y="343437"/>
                </a:lnTo>
                <a:lnTo>
                  <a:pt x="0" y="343437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0608" y="343437"/>
            <a:ext cx="34344" cy="343437"/>
          </a:xfrm>
          <a:custGeom>
            <a:avLst/>
            <a:gdLst/>
            <a:ahLst/>
            <a:cxnLst/>
            <a:rect l="l" t="t" r="r" b="b"/>
            <a:pathLst>
              <a:path w="34344" h="343437">
                <a:moveTo>
                  <a:pt x="0" y="0"/>
                </a:moveTo>
                <a:lnTo>
                  <a:pt x="34344" y="0"/>
                </a:lnTo>
                <a:lnTo>
                  <a:pt x="34344" y="343437"/>
                </a:lnTo>
                <a:lnTo>
                  <a:pt x="0" y="343437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15155" y="412124"/>
            <a:ext cx="83283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spc="54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3437" y="824248"/>
            <a:ext cx="11711189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Modeling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608" y="1442434"/>
            <a:ext cx="11487955" cy="626772"/>
          </a:xfrm>
          <a:custGeom>
            <a:avLst/>
            <a:gdLst/>
            <a:ahLst/>
            <a:cxnLst/>
            <a:rect l="l" t="t" r="r" b="b"/>
            <a:pathLst>
              <a:path w="11487955" h="626772">
                <a:moveTo>
                  <a:pt x="34341" y="0"/>
                </a:moveTo>
                <a:lnTo>
                  <a:pt x="11453614" y="0"/>
                </a:lnTo>
                <a:cubicBezTo>
                  <a:pt x="11472580" y="0"/>
                  <a:pt x="11487955" y="15375"/>
                  <a:pt x="11487955" y="34341"/>
                </a:cubicBezTo>
                <a:lnTo>
                  <a:pt x="11487955" y="592431"/>
                </a:lnTo>
                <a:cubicBezTo>
                  <a:pt x="11487955" y="611397"/>
                  <a:pt x="11472580" y="626772"/>
                  <a:pt x="11453614" y="626772"/>
                </a:cubicBezTo>
                <a:lnTo>
                  <a:pt x="34341" y="626772"/>
                </a:lnTo>
                <a:cubicBezTo>
                  <a:pt x="15375" y="626772"/>
                  <a:pt x="0" y="611397"/>
                  <a:pt x="0" y="592431"/>
                </a:cubicBezTo>
                <a:lnTo>
                  <a:pt x="0" y="34341"/>
                </a:lnTo>
                <a:cubicBezTo>
                  <a:pt x="0" y="15375"/>
                  <a:pt x="15375" y="0"/>
                  <a:pt x="3434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0608" y="1442434"/>
            <a:ext cx="34344" cy="626772"/>
          </a:xfrm>
          <a:custGeom>
            <a:avLst/>
            <a:gdLst/>
            <a:ahLst/>
            <a:cxnLst/>
            <a:rect l="l" t="t" r="r" b="b"/>
            <a:pathLst>
              <a:path w="34344" h="626772">
                <a:moveTo>
                  <a:pt x="34344" y="0"/>
                </a:moveTo>
                <a:lnTo>
                  <a:pt x="34344" y="0"/>
                </a:lnTo>
                <a:lnTo>
                  <a:pt x="34344" y="626772"/>
                </a:lnTo>
                <a:lnTo>
                  <a:pt x="34344" y="626772"/>
                </a:lnTo>
                <a:cubicBezTo>
                  <a:pt x="15376" y="626772"/>
                  <a:pt x="0" y="611396"/>
                  <a:pt x="0" y="592428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49499" y="1614152"/>
            <a:ext cx="11213206" cy="28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learning was employed to predict fare amount using multiple regression algorithms.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0305" y="2243500"/>
            <a:ext cx="5654684" cy="3207698"/>
          </a:xfrm>
          <a:custGeom>
            <a:avLst/>
            <a:gdLst/>
            <a:ahLst/>
            <a:cxnLst/>
            <a:rect l="l" t="t" r="r" b="b"/>
            <a:pathLst>
              <a:path w="5654684" h="3207698">
                <a:moveTo>
                  <a:pt x="68677" y="0"/>
                </a:moveTo>
                <a:lnTo>
                  <a:pt x="5586007" y="0"/>
                </a:lnTo>
                <a:cubicBezTo>
                  <a:pt x="5623911" y="0"/>
                  <a:pt x="5654684" y="30773"/>
                  <a:pt x="5654684" y="68677"/>
                </a:cubicBezTo>
                <a:lnTo>
                  <a:pt x="5654684" y="3139021"/>
                </a:lnTo>
                <a:cubicBezTo>
                  <a:pt x="5654684" y="3176925"/>
                  <a:pt x="5623911" y="3207698"/>
                  <a:pt x="5586007" y="3207698"/>
                </a:cubicBezTo>
                <a:lnTo>
                  <a:pt x="68677" y="3207698"/>
                </a:lnTo>
                <a:cubicBezTo>
                  <a:pt x="30773" y="3207698"/>
                  <a:pt x="0" y="3176925"/>
                  <a:pt x="0" y="3139021"/>
                </a:cubicBezTo>
                <a:lnTo>
                  <a:pt x="0" y="68677"/>
                </a:lnTo>
                <a:cubicBezTo>
                  <a:pt x="0" y="30773"/>
                  <a:pt x="30773" y="0"/>
                  <a:pt x="6867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36" y="2456435"/>
            <a:ext cx="549499" cy="549499"/>
          </a:xfrm>
          <a:custGeom>
            <a:avLst/>
            <a:gdLst/>
            <a:ahLst/>
            <a:cxnLst/>
            <a:rect l="l" t="t" r="r" b="b"/>
            <a:pathLst>
              <a:path w="549499" h="549499">
                <a:moveTo>
                  <a:pt x="68687" y="0"/>
                </a:moveTo>
                <a:lnTo>
                  <a:pt x="480811" y="0"/>
                </a:lnTo>
                <a:cubicBezTo>
                  <a:pt x="518746" y="0"/>
                  <a:pt x="549499" y="30752"/>
                  <a:pt x="549499" y="68687"/>
                </a:cubicBezTo>
                <a:lnTo>
                  <a:pt x="549499" y="480811"/>
                </a:lnTo>
                <a:cubicBezTo>
                  <a:pt x="549499" y="518746"/>
                  <a:pt x="518746" y="549499"/>
                  <a:pt x="480811" y="549499"/>
                </a:cubicBezTo>
                <a:lnTo>
                  <a:pt x="68687" y="549499"/>
                </a:lnTo>
                <a:cubicBezTo>
                  <a:pt x="30752" y="549499"/>
                  <a:pt x="0" y="518746"/>
                  <a:pt x="0" y="480811"/>
                </a:cubicBezTo>
                <a:lnTo>
                  <a:pt x="0" y="68687"/>
                </a:lnTo>
                <a:cubicBezTo>
                  <a:pt x="0" y="30752"/>
                  <a:pt x="30752" y="0"/>
                  <a:pt x="6868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788A9C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711343" y="2602396"/>
            <a:ext cx="257577" cy="257577"/>
          </a:xfrm>
          <a:custGeom>
            <a:avLst/>
            <a:gdLst/>
            <a:ahLst/>
            <a:cxnLst/>
            <a:rect l="l" t="t" r="r" b="b"/>
            <a:pathLst>
              <a:path w="257577" h="257577">
                <a:moveTo>
                  <a:pt x="60370" y="28173"/>
                </a:moveTo>
                <a:cubicBezTo>
                  <a:pt x="60370" y="12627"/>
                  <a:pt x="72997" y="0"/>
                  <a:pt x="88542" y="0"/>
                </a:cubicBezTo>
                <a:lnTo>
                  <a:pt x="100616" y="0"/>
                </a:lnTo>
                <a:cubicBezTo>
                  <a:pt x="109521" y="0"/>
                  <a:pt x="116715" y="7194"/>
                  <a:pt x="116715" y="16099"/>
                </a:cubicBezTo>
                <a:lnTo>
                  <a:pt x="116715" y="241479"/>
                </a:lnTo>
                <a:cubicBezTo>
                  <a:pt x="116715" y="250383"/>
                  <a:pt x="109521" y="257577"/>
                  <a:pt x="100616" y="257577"/>
                </a:cubicBezTo>
                <a:lnTo>
                  <a:pt x="84518" y="257577"/>
                </a:lnTo>
                <a:cubicBezTo>
                  <a:pt x="69526" y="257577"/>
                  <a:pt x="56898" y="247315"/>
                  <a:pt x="53327" y="233430"/>
                </a:cubicBezTo>
                <a:cubicBezTo>
                  <a:pt x="52974" y="233430"/>
                  <a:pt x="52673" y="233430"/>
                  <a:pt x="52320" y="233430"/>
                </a:cubicBezTo>
                <a:cubicBezTo>
                  <a:pt x="30084" y="233430"/>
                  <a:pt x="12074" y="215419"/>
                  <a:pt x="12074" y="193183"/>
                </a:cubicBezTo>
                <a:cubicBezTo>
                  <a:pt x="12074" y="184128"/>
                  <a:pt x="15092" y="175776"/>
                  <a:pt x="20123" y="169035"/>
                </a:cubicBezTo>
                <a:cubicBezTo>
                  <a:pt x="10363" y="161690"/>
                  <a:pt x="4025" y="150019"/>
                  <a:pt x="4025" y="136838"/>
                </a:cubicBezTo>
                <a:cubicBezTo>
                  <a:pt x="4025" y="121293"/>
                  <a:pt x="12879" y="107760"/>
                  <a:pt x="25758" y="101069"/>
                </a:cubicBezTo>
                <a:cubicBezTo>
                  <a:pt x="22186" y="95032"/>
                  <a:pt x="20123" y="87989"/>
                  <a:pt x="20123" y="80493"/>
                </a:cubicBezTo>
                <a:cubicBezTo>
                  <a:pt x="20123" y="58257"/>
                  <a:pt x="38134" y="40246"/>
                  <a:pt x="60370" y="40246"/>
                </a:cubicBezTo>
                <a:lnTo>
                  <a:pt x="60370" y="28173"/>
                </a:lnTo>
                <a:close/>
                <a:moveTo>
                  <a:pt x="197208" y="28173"/>
                </a:moveTo>
                <a:lnTo>
                  <a:pt x="197208" y="40246"/>
                </a:lnTo>
                <a:cubicBezTo>
                  <a:pt x="219444" y="40246"/>
                  <a:pt x="237454" y="58257"/>
                  <a:pt x="237454" y="80493"/>
                </a:cubicBezTo>
                <a:cubicBezTo>
                  <a:pt x="237454" y="88039"/>
                  <a:pt x="235392" y="95082"/>
                  <a:pt x="231820" y="101069"/>
                </a:cubicBezTo>
                <a:cubicBezTo>
                  <a:pt x="244749" y="107760"/>
                  <a:pt x="253553" y="121243"/>
                  <a:pt x="253553" y="136838"/>
                </a:cubicBezTo>
                <a:cubicBezTo>
                  <a:pt x="253553" y="150019"/>
                  <a:pt x="247214" y="161690"/>
                  <a:pt x="237454" y="169035"/>
                </a:cubicBezTo>
                <a:cubicBezTo>
                  <a:pt x="242485" y="175776"/>
                  <a:pt x="245504" y="184128"/>
                  <a:pt x="245504" y="193183"/>
                </a:cubicBezTo>
                <a:cubicBezTo>
                  <a:pt x="245504" y="215419"/>
                  <a:pt x="227493" y="233430"/>
                  <a:pt x="205257" y="233430"/>
                </a:cubicBezTo>
                <a:cubicBezTo>
                  <a:pt x="204905" y="233430"/>
                  <a:pt x="204603" y="233430"/>
                  <a:pt x="204251" y="233430"/>
                </a:cubicBezTo>
                <a:cubicBezTo>
                  <a:pt x="200679" y="247315"/>
                  <a:pt x="188052" y="257577"/>
                  <a:pt x="173060" y="257577"/>
                </a:cubicBezTo>
                <a:lnTo>
                  <a:pt x="156961" y="257577"/>
                </a:lnTo>
                <a:cubicBezTo>
                  <a:pt x="148057" y="257577"/>
                  <a:pt x="140863" y="250383"/>
                  <a:pt x="140863" y="241479"/>
                </a:cubicBezTo>
                <a:lnTo>
                  <a:pt x="140863" y="16099"/>
                </a:lnTo>
                <a:cubicBezTo>
                  <a:pt x="140863" y="7194"/>
                  <a:pt x="148057" y="0"/>
                  <a:pt x="156961" y="0"/>
                </a:cubicBezTo>
                <a:lnTo>
                  <a:pt x="169035" y="0"/>
                </a:lnTo>
                <a:cubicBezTo>
                  <a:pt x="184580" y="0"/>
                  <a:pt x="197208" y="12627"/>
                  <a:pt x="197208" y="28173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250109" y="2490779"/>
            <a:ext cx="2026276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Implemented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50109" y="2765419"/>
            <a:ext cx="1991932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regression algorithms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3236" y="3177652"/>
            <a:ext cx="5228823" cy="618186"/>
          </a:xfrm>
          <a:custGeom>
            <a:avLst/>
            <a:gdLst/>
            <a:ahLst/>
            <a:cxnLst/>
            <a:rect l="l" t="t" r="r" b="b"/>
            <a:pathLst>
              <a:path w="5228823" h="618186">
                <a:moveTo>
                  <a:pt x="34346" y="0"/>
                </a:moveTo>
                <a:lnTo>
                  <a:pt x="5194476" y="0"/>
                </a:lnTo>
                <a:cubicBezTo>
                  <a:pt x="5213445" y="0"/>
                  <a:pt x="5228823" y="15377"/>
                  <a:pt x="5228823" y="34346"/>
                </a:cubicBezTo>
                <a:lnTo>
                  <a:pt x="5228823" y="583840"/>
                </a:lnTo>
                <a:cubicBezTo>
                  <a:pt x="5228823" y="602809"/>
                  <a:pt x="5213445" y="618186"/>
                  <a:pt x="5194476" y="618186"/>
                </a:cubicBezTo>
                <a:lnTo>
                  <a:pt x="34346" y="618186"/>
                </a:lnTo>
                <a:cubicBezTo>
                  <a:pt x="15377" y="618186"/>
                  <a:pt x="0" y="602809"/>
                  <a:pt x="0" y="583840"/>
                </a:cubicBezTo>
                <a:lnTo>
                  <a:pt x="0" y="34346"/>
                </a:lnTo>
                <a:cubicBezTo>
                  <a:pt x="0" y="15377"/>
                  <a:pt x="15377" y="0"/>
                  <a:pt x="3434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6267" y="3280683"/>
            <a:ext cx="343437" cy="343437"/>
          </a:xfrm>
          <a:custGeom>
            <a:avLst/>
            <a:gdLst/>
            <a:ahLst/>
            <a:cxnLst/>
            <a:rect l="l" t="t" r="r" b="b"/>
            <a:pathLst>
              <a:path w="343437" h="343437">
                <a:moveTo>
                  <a:pt x="171718" y="0"/>
                </a:moveTo>
                <a:lnTo>
                  <a:pt x="171718" y="0"/>
                </a:lnTo>
                <a:cubicBezTo>
                  <a:pt x="266492" y="0"/>
                  <a:pt x="343437" y="76944"/>
                  <a:pt x="343437" y="171718"/>
                </a:cubicBezTo>
                <a:lnTo>
                  <a:pt x="343437" y="171718"/>
                </a:lnTo>
                <a:cubicBezTo>
                  <a:pt x="343437" y="266492"/>
                  <a:pt x="266492" y="343437"/>
                  <a:pt x="171718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807076" y="3332199"/>
            <a:ext cx="137375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2735" y="3280683"/>
            <a:ext cx="204344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2735" y="3521089"/>
            <a:ext cx="2026276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model for linear relationships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3236" y="3898869"/>
            <a:ext cx="5228823" cy="618186"/>
          </a:xfrm>
          <a:custGeom>
            <a:avLst/>
            <a:gdLst/>
            <a:ahLst/>
            <a:cxnLst/>
            <a:rect l="l" t="t" r="r" b="b"/>
            <a:pathLst>
              <a:path w="5228823" h="618186">
                <a:moveTo>
                  <a:pt x="34346" y="0"/>
                </a:moveTo>
                <a:lnTo>
                  <a:pt x="5194476" y="0"/>
                </a:lnTo>
                <a:cubicBezTo>
                  <a:pt x="5213445" y="0"/>
                  <a:pt x="5228823" y="15377"/>
                  <a:pt x="5228823" y="34346"/>
                </a:cubicBezTo>
                <a:lnTo>
                  <a:pt x="5228823" y="583840"/>
                </a:lnTo>
                <a:cubicBezTo>
                  <a:pt x="5228823" y="602809"/>
                  <a:pt x="5213445" y="618186"/>
                  <a:pt x="5194476" y="618186"/>
                </a:cubicBezTo>
                <a:lnTo>
                  <a:pt x="34346" y="618186"/>
                </a:lnTo>
                <a:cubicBezTo>
                  <a:pt x="15377" y="618186"/>
                  <a:pt x="0" y="602809"/>
                  <a:pt x="0" y="583840"/>
                </a:cubicBezTo>
                <a:lnTo>
                  <a:pt x="0" y="34346"/>
                </a:lnTo>
                <a:cubicBezTo>
                  <a:pt x="0" y="15377"/>
                  <a:pt x="15377" y="0"/>
                  <a:pt x="34346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6267" y="4001900"/>
            <a:ext cx="343437" cy="343437"/>
          </a:xfrm>
          <a:custGeom>
            <a:avLst/>
            <a:gdLst/>
            <a:ahLst/>
            <a:cxnLst/>
            <a:rect l="l" t="t" r="r" b="b"/>
            <a:pathLst>
              <a:path w="343437" h="343437">
                <a:moveTo>
                  <a:pt x="171718" y="0"/>
                </a:moveTo>
                <a:lnTo>
                  <a:pt x="171718" y="0"/>
                </a:lnTo>
                <a:cubicBezTo>
                  <a:pt x="266492" y="0"/>
                  <a:pt x="343437" y="76944"/>
                  <a:pt x="343437" y="171718"/>
                </a:cubicBezTo>
                <a:lnTo>
                  <a:pt x="343437" y="171718"/>
                </a:lnTo>
                <a:cubicBezTo>
                  <a:pt x="343437" y="266492"/>
                  <a:pt x="266492" y="343437"/>
                  <a:pt x="171718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1" name="Text 19"/>
          <p:cNvSpPr/>
          <p:nvPr/>
        </p:nvSpPr>
        <p:spPr>
          <a:xfrm>
            <a:off x="793017" y="4053416"/>
            <a:ext cx="163132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2735" y="4001900"/>
            <a:ext cx="2206580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Ridge Regression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2735" y="4242306"/>
            <a:ext cx="218940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Regularized version to prevent overfitting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236" y="4620086"/>
            <a:ext cx="5228823" cy="618186"/>
          </a:xfrm>
          <a:custGeom>
            <a:avLst/>
            <a:gdLst/>
            <a:ahLst/>
            <a:cxnLst/>
            <a:rect l="l" t="t" r="r" b="b"/>
            <a:pathLst>
              <a:path w="5228823" h="618186">
                <a:moveTo>
                  <a:pt x="34346" y="0"/>
                </a:moveTo>
                <a:lnTo>
                  <a:pt x="5194476" y="0"/>
                </a:lnTo>
                <a:cubicBezTo>
                  <a:pt x="5213445" y="0"/>
                  <a:pt x="5228823" y="15377"/>
                  <a:pt x="5228823" y="34346"/>
                </a:cubicBezTo>
                <a:lnTo>
                  <a:pt x="5228823" y="583840"/>
                </a:lnTo>
                <a:cubicBezTo>
                  <a:pt x="5228823" y="602809"/>
                  <a:pt x="5213445" y="618186"/>
                  <a:pt x="5194476" y="618186"/>
                </a:cubicBezTo>
                <a:lnTo>
                  <a:pt x="34346" y="618186"/>
                </a:lnTo>
                <a:cubicBezTo>
                  <a:pt x="15377" y="618186"/>
                  <a:pt x="0" y="602809"/>
                  <a:pt x="0" y="583840"/>
                </a:cubicBezTo>
                <a:lnTo>
                  <a:pt x="0" y="34346"/>
                </a:lnTo>
                <a:cubicBezTo>
                  <a:pt x="0" y="15377"/>
                  <a:pt x="15377" y="0"/>
                  <a:pt x="34346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6267" y="4723117"/>
            <a:ext cx="343437" cy="343437"/>
          </a:xfrm>
          <a:custGeom>
            <a:avLst/>
            <a:gdLst/>
            <a:ahLst/>
            <a:cxnLst/>
            <a:rect l="l" t="t" r="r" b="b"/>
            <a:pathLst>
              <a:path w="343437" h="343437">
                <a:moveTo>
                  <a:pt x="171718" y="0"/>
                </a:moveTo>
                <a:lnTo>
                  <a:pt x="171718" y="0"/>
                </a:lnTo>
                <a:cubicBezTo>
                  <a:pt x="266492" y="0"/>
                  <a:pt x="343437" y="76944"/>
                  <a:pt x="343437" y="171718"/>
                </a:cubicBezTo>
                <a:lnTo>
                  <a:pt x="343437" y="171718"/>
                </a:lnTo>
                <a:cubicBezTo>
                  <a:pt x="343437" y="266492"/>
                  <a:pt x="266492" y="343437"/>
                  <a:pt x="171718" y="343437"/>
                </a:cubicBezTo>
                <a:lnTo>
                  <a:pt x="171718" y="343437"/>
                </a:lnTo>
                <a:cubicBezTo>
                  <a:pt x="76944" y="343437"/>
                  <a:pt x="0" y="266492"/>
                  <a:pt x="0" y="171718"/>
                </a:cubicBezTo>
                <a:lnTo>
                  <a:pt x="0" y="171718"/>
                </a:lnTo>
                <a:cubicBezTo>
                  <a:pt x="0" y="76944"/>
                  <a:pt x="76944" y="0"/>
                  <a:pt x="171718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6" name="Text 24"/>
          <p:cNvSpPr/>
          <p:nvPr/>
        </p:nvSpPr>
        <p:spPr>
          <a:xfrm>
            <a:off x="792373" y="4774633"/>
            <a:ext cx="171718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2735" y="4723117"/>
            <a:ext cx="2129307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2735" y="4963523"/>
            <a:ext cx="2112135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 for complex patterns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0553" y="2243500"/>
            <a:ext cx="5654684" cy="3207698"/>
          </a:xfrm>
          <a:custGeom>
            <a:avLst/>
            <a:gdLst/>
            <a:ahLst/>
            <a:cxnLst/>
            <a:rect l="l" t="t" r="r" b="b"/>
            <a:pathLst>
              <a:path w="5654684" h="3207698">
                <a:moveTo>
                  <a:pt x="68677" y="0"/>
                </a:moveTo>
                <a:lnTo>
                  <a:pt x="5586007" y="0"/>
                </a:lnTo>
                <a:cubicBezTo>
                  <a:pt x="5623911" y="0"/>
                  <a:pt x="5654684" y="30773"/>
                  <a:pt x="5654684" y="68677"/>
                </a:cubicBezTo>
                <a:lnTo>
                  <a:pt x="5654684" y="3139021"/>
                </a:lnTo>
                <a:cubicBezTo>
                  <a:pt x="5654684" y="3176925"/>
                  <a:pt x="5623911" y="3207698"/>
                  <a:pt x="5586007" y="3207698"/>
                </a:cubicBezTo>
                <a:lnTo>
                  <a:pt x="68677" y="3207698"/>
                </a:lnTo>
                <a:cubicBezTo>
                  <a:pt x="30773" y="3207698"/>
                  <a:pt x="0" y="3176925"/>
                  <a:pt x="0" y="3139021"/>
                </a:cubicBezTo>
                <a:lnTo>
                  <a:pt x="0" y="68677"/>
                </a:lnTo>
                <a:cubicBezTo>
                  <a:pt x="0" y="30773"/>
                  <a:pt x="30773" y="0"/>
                  <a:pt x="6867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3483" y="2456435"/>
            <a:ext cx="549499" cy="549499"/>
          </a:xfrm>
          <a:custGeom>
            <a:avLst/>
            <a:gdLst/>
            <a:ahLst/>
            <a:cxnLst/>
            <a:rect l="l" t="t" r="r" b="b"/>
            <a:pathLst>
              <a:path w="549499" h="549499">
                <a:moveTo>
                  <a:pt x="68687" y="0"/>
                </a:moveTo>
                <a:lnTo>
                  <a:pt x="480811" y="0"/>
                </a:lnTo>
                <a:cubicBezTo>
                  <a:pt x="518746" y="0"/>
                  <a:pt x="549499" y="30752"/>
                  <a:pt x="549499" y="68687"/>
                </a:cubicBezTo>
                <a:lnTo>
                  <a:pt x="549499" y="480811"/>
                </a:lnTo>
                <a:cubicBezTo>
                  <a:pt x="549499" y="518746"/>
                  <a:pt x="518746" y="549499"/>
                  <a:pt x="480811" y="549499"/>
                </a:cubicBezTo>
                <a:lnTo>
                  <a:pt x="68687" y="549499"/>
                </a:lnTo>
                <a:cubicBezTo>
                  <a:pt x="30752" y="549499"/>
                  <a:pt x="0" y="518746"/>
                  <a:pt x="0" y="480811"/>
                </a:cubicBezTo>
                <a:lnTo>
                  <a:pt x="0" y="68687"/>
                </a:lnTo>
                <a:cubicBezTo>
                  <a:pt x="0" y="30752"/>
                  <a:pt x="30752" y="0"/>
                  <a:pt x="68687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551590" y="2602396"/>
            <a:ext cx="257577" cy="257577"/>
          </a:xfrm>
          <a:custGeom>
            <a:avLst/>
            <a:gdLst/>
            <a:ahLst/>
            <a:cxnLst/>
            <a:rect l="l" t="t" r="r" b="b"/>
            <a:pathLst>
              <a:path w="257577" h="257577">
                <a:moveTo>
                  <a:pt x="0" y="40246"/>
                </a:moveTo>
                <a:cubicBezTo>
                  <a:pt x="0" y="26915"/>
                  <a:pt x="10816" y="16099"/>
                  <a:pt x="24148" y="16099"/>
                </a:cubicBezTo>
                <a:lnTo>
                  <a:pt x="72444" y="16099"/>
                </a:lnTo>
                <a:cubicBezTo>
                  <a:pt x="85775" y="16099"/>
                  <a:pt x="96592" y="26915"/>
                  <a:pt x="96592" y="40246"/>
                </a:cubicBezTo>
                <a:lnTo>
                  <a:pt x="96592" y="48296"/>
                </a:lnTo>
                <a:lnTo>
                  <a:pt x="160986" y="48296"/>
                </a:lnTo>
                <a:lnTo>
                  <a:pt x="160986" y="40246"/>
                </a:lnTo>
                <a:cubicBezTo>
                  <a:pt x="160986" y="26915"/>
                  <a:pt x="171802" y="16099"/>
                  <a:pt x="185134" y="16099"/>
                </a:cubicBezTo>
                <a:lnTo>
                  <a:pt x="233430" y="16099"/>
                </a:lnTo>
                <a:cubicBezTo>
                  <a:pt x="246761" y="16099"/>
                  <a:pt x="257577" y="26915"/>
                  <a:pt x="257577" y="40246"/>
                </a:cubicBezTo>
                <a:lnTo>
                  <a:pt x="257577" y="88542"/>
                </a:lnTo>
                <a:cubicBezTo>
                  <a:pt x="257577" y="101874"/>
                  <a:pt x="246761" y="112690"/>
                  <a:pt x="233430" y="112690"/>
                </a:cubicBezTo>
                <a:lnTo>
                  <a:pt x="185134" y="112690"/>
                </a:lnTo>
                <a:cubicBezTo>
                  <a:pt x="171802" y="112690"/>
                  <a:pt x="160986" y="101874"/>
                  <a:pt x="160986" y="88542"/>
                </a:cubicBezTo>
                <a:lnTo>
                  <a:pt x="160986" y="80493"/>
                </a:lnTo>
                <a:lnTo>
                  <a:pt x="96592" y="80493"/>
                </a:lnTo>
                <a:lnTo>
                  <a:pt x="96592" y="88542"/>
                </a:lnTo>
                <a:cubicBezTo>
                  <a:pt x="96592" y="92215"/>
                  <a:pt x="95736" y="95736"/>
                  <a:pt x="94277" y="98855"/>
                </a:cubicBezTo>
                <a:lnTo>
                  <a:pt x="128789" y="144887"/>
                </a:lnTo>
                <a:lnTo>
                  <a:pt x="169035" y="144887"/>
                </a:lnTo>
                <a:cubicBezTo>
                  <a:pt x="182367" y="144887"/>
                  <a:pt x="193183" y="155704"/>
                  <a:pt x="193183" y="169035"/>
                </a:cubicBezTo>
                <a:lnTo>
                  <a:pt x="193183" y="217331"/>
                </a:lnTo>
                <a:cubicBezTo>
                  <a:pt x="193183" y="230663"/>
                  <a:pt x="182367" y="241479"/>
                  <a:pt x="169035" y="241479"/>
                </a:cubicBezTo>
                <a:lnTo>
                  <a:pt x="120739" y="241479"/>
                </a:lnTo>
                <a:cubicBezTo>
                  <a:pt x="107408" y="241479"/>
                  <a:pt x="96592" y="230663"/>
                  <a:pt x="96592" y="217331"/>
                </a:cubicBezTo>
                <a:lnTo>
                  <a:pt x="96592" y="169035"/>
                </a:lnTo>
                <a:cubicBezTo>
                  <a:pt x="96592" y="165363"/>
                  <a:pt x="97447" y="161841"/>
                  <a:pt x="98906" y="158722"/>
                </a:cubicBezTo>
                <a:lnTo>
                  <a:pt x="64394" y="112690"/>
                </a:lnTo>
                <a:lnTo>
                  <a:pt x="24148" y="112690"/>
                </a:lnTo>
                <a:cubicBezTo>
                  <a:pt x="10816" y="112690"/>
                  <a:pt x="0" y="101874"/>
                  <a:pt x="0" y="88542"/>
                </a:cubicBezTo>
                <a:lnTo>
                  <a:pt x="0" y="4024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7090356" y="2490779"/>
            <a:ext cx="2043448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Components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90356" y="2765419"/>
            <a:ext cx="200910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ML workflow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3483" y="3177652"/>
            <a:ext cx="5228823" cy="583842"/>
          </a:xfrm>
          <a:custGeom>
            <a:avLst/>
            <a:gdLst/>
            <a:ahLst/>
            <a:cxnLst/>
            <a:rect l="l" t="t" r="r" b="b"/>
            <a:pathLst>
              <a:path w="5228823" h="583842">
                <a:moveTo>
                  <a:pt x="34342" y="0"/>
                </a:moveTo>
                <a:lnTo>
                  <a:pt x="5194481" y="0"/>
                </a:lnTo>
                <a:cubicBezTo>
                  <a:pt x="5213447" y="0"/>
                  <a:pt x="5228823" y="15375"/>
                  <a:pt x="5228823" y="34342"/>
                </a:cubicBezTo>
                <a:lnTo>
                  <a:pt x="5228823" y="549501"/>
                </a:lnTo>
                <a:cubicBezTo>
                  <a:pt x="5228823" y="568467"/>
                  <a:pt x="5213447" y="583842"/>
                  <a:pt x="5194481" y="583842"/>
                </a:cubicBezTo>
                <a:lnTo>
                  <a:pt x="34342" y="583842"/>
                </a:lnTo>
                <a:cubicBezTo>
                  <a:pt x="15375" y="583842"/>
                  <a:pt x="0" y="568467"/>
                  <a:pt x="0" y="549501"/>
                </a:cubicBezTo>
                <a:lnTo>
                  <a:pt x="0" y="34342"/>
                </a:lnTo>
                <a:cubicBezTo>
                  <a:pt x="0" y="15388"/>
                  <a:pt x="15388" y="0"/>
                  <a:pt x="34342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38711" y="3315027"/>
            <a:ext cx="150254" cy="171718"/>
          </a:xfrm>
          <a:custGeom>
            <a:avLst/>
            <a:gdLst/>
            <a:ahLst/>
            <a:cxnLst/>
            <a:rect l="l" t="t" r="r" b="b"/>
            <a:pathLst>
              <a:path w="150254" h="171718">
                <a:moveTo>
                  <a:pt x="56345" y="10732"/>
                </a:moveTo>
                <a:lnTo>
                  <a:pt x="8049" y="10732"/>
                </a:lnTo>
                <a:cubicBezTo>
                  <a:pt x="3589" y="10732"/>
                  <a:pt x="0" y="14321"/>
                  <a:pt x="0" y="18782"/>
                </a:cubicBezTo>
                <a:lnTo>
                  <a:pt x="0" y="67077"/>
                </a:lnTo>
                <a:cubicBezTo>
                  <a:pt x="0" y="70331"/>
                  <a:pt x="1945" y="73282"/>
                  <a:pt x="4964" y="74523"/>
                </a:cubicBezTo>
                <a:cubicBezTo>
                  <a:pt x="7982" y="75764"/>
                  <a:pt x="11437" y="75060"/>
                  <a:pt x="13751" y="72779"/>
                </a:cubicBezTo>
                <a:lnTo>
                  <a:pt x="27166" y="59364"/>
                </a:lnTo>
                <a:lnTo>
                  <a:pt x="53662" y="85859"/>
                </a:lnTo>
                <a:lnTo>
                  <a:pt x="27166" y="112355"/>
                </a:lnTo>
                <a:lnTo>
                  <a:pt x="13751" y="98939"/>
                </a:lnTo>
                <a:cubicBezTo>
                  <a:pt x="11437" y="96625"/>
                  <a:pt x="7982" y="95954"/>
                  <a:pt x="4964" y="97195"/>
                </a:cubicBezTo>
                <a:cubicBezTo>
                  <a:pt x="1945" y="98436"/>
                  <a:pt x="0" y="101388"/>
                  <a:pt x="0" y="104641"/>
                </a:cubicBezTo>
                <a:lnTo>
                  <a:pt x="0" y="152937"/>
                </a:lnTo>
                <a:cubicBezTo>
                  <a:pt x="0" y="157397"/>
                  <a:pt x="3589" y="160986"/>
                  <a:pt x="8049" y="160986"/>
                </a:cubicBezTo>
                <a:lnTo>
                  <a:pt x="56345" y="160986"/>
                </a:lnTo>
                <a:cubicBezTo>
                  <a:pt x="59598" y="160986"/>
                  <a:pt x="62550" y="159041"/>
                  <a:pt x="63791" y="156022"/>
                </a:cubicBezTo>
                <a:cubicBezTo>
                  <a:pt x="65032" y="153004"/>
                  <a:pt x="64361" y="149549"/>
                  <a:pt x="62047" y="147235"/>
                </a:cubicBezTo>
                <a:lnTo>
                  <a:pt x="48631" y="133820"/>
                </a:lnTo>
                <a:lnTo>
                  <a:pt x="75127" y="107324"/>
                </a:lnTo>
                <a:lnTo>
                  <a:pt x="101622" y="133820"/>
                </a:lnTo>
                <a:lnTo>
                  <a:pt x="88207" y="147235"/>
                </a:lnTo>
                <a:cubicBezTo>
                  <a:pt x="85893" y="149549"/>
                  <a:pt x="85222" y="153004"/>
                  <a:pt x="86463" y="156022"/>
                </a:cubicBezTo>
                <a:cubicBezTo>
                  <a:pt x="87704" y="159041"/>
                  <a:pt x="90655" y="160986"/>
                  <a:pt x="93908" y="160986"/>
                </a:cubicBezTo>
                <a:lnTo>
                  <a:pt x="142204" y="160986"/>
                </a:lnTo>
                <a:cubicBezTo>
                  <a:pt x="146665" y="160986"/>
                  <a:pt x="150254" y="157397"/>
                  <a:pt x="150254" y="152937"/>
                </a:cubicBezTo>
                <a:lnTo>
                  <a:pt x="150254" y="104641"/>
                </a:lnTo>
                <a:cubicBezTo>
                  <a:pt x="150254" y="101388"/>
                  <a:pt x="148308" y="98436"/>
                  <a:pt x="145290" y="97195"/>
                </a:cubicBezTo>
                <a:cubicBezTo>
                  <a:pt x="142271" y="95954"/>
                  <a:pt x="138817" y="96625"/>
                  <a:pt x="136503" y="98939"/>
                </a:cubicBezTo>
                <a:lnTo>
                  <a:pt x="123087" y="112355"/>
                </a:lnTo>
                <a:lnTo>
                  <a:pt x="96592" y="85859"/>
                </a:lnTo>
                <a:lnTo>
                  <a:pt x="123087" y="59364"/>
                </a:lnTo>
                <a:lnTo>
                  <a:pt x="136503" y="72779"/>
                </a:lnTo>
                <a:cubicBezTo>
                  <a:pt x="138817" y="75093"/>
                  <a:pt x="142271" y="75764"/>
                  <a:pt x="145290" y="74523"/>
                </a:cubicBezTo>
                <a:cubicBezTo>
                  <a:pt x="148308" y="73282"/>
                  <a:pt x="150254" y="70331"/>
                  <a:pt x="150254" y="67077"/>
                </a:cubicBezTo>
                <a:lnTo>
                  <a:pt x="150254" y="18782"/>
                </a:lnTo>
                <a:cubicBezTo>
                  <a:pt x="150254" y="14321"/>
                  <a:pt x="146665" y="10732"/>
                  <a:pt x="142204" y="10732"/>
                </a:cubicBezTo>
                <a:lnTo>
                  <a:pt x="93908" y="10732"/>
                </a:lnTo>
                <a:cubicBezTo>
                  <a:pt x="90655" y="10732"/>
                  <a:pt x="87704" y="12678"/>
                  <a:pt x="86463" y="15696"/>
                </a:cubicBezTo>
                <a:cubicBezTo>
                  <a:pt x="85222" y="18715"/>
                  <a:pt x="85926" y="22169"/>
                  <a:pt x="88207" y="24483"/>
                </a:cubicBezTo>
                <a:lnTo>
                  <a:pt x="101622" y="37899"/>
                </a:lnTo>
                <a:lnTo>
                  <a:pt x="75127" y="64394"/>
                </a:lnTo>
                <a:lnTo>
                  <a:pt x="48631" y="37899"/>
                </a:lnTo>
                <a:lnTo>
                  <a:pt x="62047" y="24483"/>
                </a:lnTo>
                <a:cubicBezTo>
                  <a:pt x="64361" y="22169"/>
                  <a:pt x="65032" y="18715"/>
                  <a:pt x="63791" y="15696"/>
                </a:cubicBezTo>
                <a:cubicBezTo>
                  <a:pt x="62550" y="12678"/>
                  <a:pt x="59598" y="10732"/>
                  <a:pt x="56345" y="1073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6" name="Text 34"/>
          <p:cNvSpPr/>
          <p:nvPr/>
        </p:nvSpPr>
        <p:spPr>
          <a:xfrm>
            <a:off x="6824193" y="3280683"/>
            <a:ext cx="2352541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 Numeric Features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24193" y="3486745"/>
            <a:ext cx="2343955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Standardization for consistent feature scales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3483" y="3864526"/>
            <a:ext cx="5228823" cy="583842"/>
          </a:xfrm>
          <a:custGeom>
            <a:avLst/>
            <a:gdLst/>
            <a:ahLst/>
            <a:cxnLst/>
            <a:rect l="l" t="t" r="r" b="b"/>
            <a:pathLst>
              <a:path w="5228823" h="583842">
                <a:moveTo>
                  <a:pt x="34342" y="0"/>
                </a:moveTo>
                <a:lnTo>
                  <a:pt x="5194481" y="0"/>
                </a:lnTo>
                <a:cubicBezTo>
                  <a:pt x="5213447" y="0"/>
                  <a:pt x="5228823" y="15375"/>
                  <a:pt x="5228823" y="34342"/>
                </a:cubicBezTo>
                <a:lnTo>
                  <a:pt x="5228823" y="549501"/>
                </a:lnTo>
                <a:cubicBezTo>
                  <a:pt x="5228823" y="568467"/>
                  <a:pt x="5213447" y="583842"/>
                  <a:pt x="5194481" y="583842"/>
                </a:cubicBezTo>
                <a:lnTo>
                  <a:pt x="34342" y="583842"/>
                </a:lnTo>
                <a:cubicBezTo>
                  <a:pt x="15375" y="583842"/>
                  <a:pt x="0" y="568467"/>
                  <a:pt x="0" y="549501"/>
                </a:cubicBezTo>
                <a:lnTo>
                  <a:pt x="0" y="34342"/>
                </a:lnTo>
                <a:cubicBezTo>
                  <a:pt x="0" y="15388"/>
                  <a:pt x="15388" y="0"/>
                  <a:pt x="34342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17246" y="4001900"/>
            <a:ext cx="193183" cy="171718"/>
          </a:xfrm>
          <a:custGeom>
            <a:avLst/>
            <a:gdLst/>
            <a:ahLst/>
            <a:cxnLst/>
            <a:rect l="l" t="t" r="r" b="b"/>
            <a:pathLst>
              <a:path w="193183" h="171718">
                <a:moveTo>
                  <a:pt x="121008" y="402"/>
                </a:moveTo>
                <a:cubicBezTo>
                  <a:pt x="115306" y="-1241"/>
                  <a:pt x="109370" y="2079"/>
                  <a:pt x="107726" y="7781"/>
                </a:cubicBezTo>
                <a:lnTo>
                  <a:pt x="64797" y="158035"/>
                </a:lnTo>
                <a:cubicBezTo>
                  <a:pt x="63153" y="163736"/>
                  <a:pt x="66474" y="169672"/>
                  <a:pt x="72175" y="171316"/>
                </a:cubicBezTo>
                <a:cubicBezTo>
                  <a:pt x="77877" y="172959"/>
                  <a:pt x="83813" y="169639"/>
                  <a:pt x="85457" y="163937"/>
                </a:cubicBezTo>
                <a:lnTo>
                  <a:pt x="128386" y="13684"/>
                </a:lnTo>
                <a:cubicBezTo>
                  <a:pt x="130030" y="7982"/>
                  <a:pt x="126709" y="2046"/>
                  <a:pt x="121008" y="402"/>
                </a:cubicBezTo>
                <a:close/>
                <a:moveTo>
                  <a:pt x="142674" y="46049"/>
                </a:moveTo>
                <a:cubicBezTo>
                  <a:pt x="138481" y="50241"/>
                  <a:pt x="138481" y="57049"/>
                  <a:pt x="142674" y="61242"/>
                </a:cubicBezTo>
                <a:lnTo>
                  <a:pt x="167291" y="85859"/>
                </a:lnTo>
                <a:lnTo>
                  <a:pt x="142674" y="110477"/>
                </a:lnTo>
                <a:cubicBezTo>
                  <a:pt x="138481" y="114669"/>
                  <a:pt x="138481" y="121477"/>
                  <a:pt x="142674" y="125670"/>
                </a:cubicBezTo>
                <a:cubicBezTo>
                  <a:pt x="146866" y="129862"/>
                  <a:pt x="153674" y="129862"/>
                  <a:pt x="157867" y="125670"/>
                </a:cubicBezTo>
                <a:lnTo>
                  <a:pt x="190064" y="93472"/>
                </a:lnTo>
                <a:cubicBezTo>
                  <a:pt x="194256" y="89280"/>
                  <a:pt x="194256" y="82472"/>
                  <a:pt x="190064" y="78279"/>
                </a:cubicBezTo>
                <a:lnTo>
                  <a:pt x="157867" y="46082"/>
                </a:lnTo>
                <a:cubicBezTo>
                  <a:pt x="153674" y="41890"/>
                  <a:pt x="146866" y="41890"/>
                  <a:pt x="142674" y="46082"/>
                </a:cubicBezTo>
                <a:close/>
                <a:moveTo>
                  <a:pt x="50543" y="46049"/>
                </a:moveTo>
                <a:cubicBezTo>
                  <a:pt x="46351" y="41856"/>
                  <a:pt x="39542" y="41856"/>
                  <a:pt x="35350" y="46049"/>
                </a:cubicBezTo>
                <a:lnTo>
                  <a:pt x="3153" y="78246"/>
                </a:lnTo>
                <a:cubicBezTo>
                  <a:pt x="-1040" y="82438"/>
                  <a:pt x="-1040" y="89247"/>
                  <a:pt x="3153" y="93439"/>
                </a:cubicBezTo>
                <a:lnTo>
                  <a:pt x="35350" y="125636"/>
                </a:lnTo>
                <a:cubicBezTo>
                  <a:pt x="39542" y="129828"/>
                  <a:pt x="46351" y="129828"/>
                  <a:pt x="50543" y="125636"/>
                </a:cubicBezTo>
                <a:cubicBezTo>
                  <a:pt x="54735" y="121444"/>
                  <a:pt x="54735" y="114635"/>
                  <a:pt x="50543" y="110443"/>
                </a:cubicBezTo>
                <a:lnTo>
                  <a:pt x="25925" y="85859"/>
                </a:lnTo>
                <a:lnTo>
                  <a:pt x="50509" y="61242"/>
                </a:lnTo>
                <a:cubicBezTo>
                  <a:pt x="54702" y="57049"/>
                  <a:pt x="54702" y="50241"/>
                  <a:pt x="50509" y="46049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0" name="Text 38"/>
          <p:cNvSpPr/>
          <p:nvPr/>
        </p:nvSpPr>
        <p:spPr>
          <a:xfrm>
            <a:off x="6824193" y="3967557"/>
            <a:ext cx="2240924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Encoding Categorical Variables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24193" y="4173619"/>
            <a:ext cx="2232338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One-hot encoding for categorical features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3483" y="4551399"/>
            <a:ext cx="5228823" cy="583842"/>
          </a:xfrm>
          <a:custGeom>
            <a:avLst/>
            <a:gdLst/>
            <a:ahLst/>
            <a:cxnLst/>
            <a:rect l="l" t="t" r="r" b="b"/>
            <a:pathLst>
              <a:path w="5228823" h="583842">
                <a:moveTo>
                  <a:pt x="34342" y="0"/>
                </a:moveTo>
                <a:lnTo>
                  <a:pt x="5194481" y="0"/>
                </a:lnTo>
                <a:cubicBezTo>
                  <a:pt x="5213447" y="0"/>
                  <a:pt x="5228823" y="15375"/>
                  <a:pt x="5228823" y="34342"/>
                </a:cubicBezTo>
                <a:lnTo>
                  <a:pt x="5228823" y="549501"/>
                </a:lnTo>
                <a:cubicBezTo>
                  <a:pt x="5228823" y="568467"/>
                  <a:pt x="5213447" y="583842"/>
                  <a:pt x="5194481" y="583842"/>
                </a:cubicBezTo>
                <a:lnTo>
                  <a:pt x="34342" y="583842"/>
                </a:lnTo>
                <a:cubicBezTo>
                  <a:pt x="15375" y="583842"/>
                  <a:pt x="0" y="568467"/>
                  <a:pt x="0" y="549501"/>
                </a:cubicBezTo>
                <a:lnTo>
                  <a:pt x="0" y="34342"/>
                </a:lnTo>
                <a:cubicBezTo>
                  <a:pt x="0" y="15388"/>
                  <a:pt x="15388" y="0"/>
                  <a:pt x="34342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17246" y="4688773"/>
            <a:ext cx="193183" cy="171718"/>
          </a:xfrm>
          <a:custGeom>
            <a:avLst/>
            <a:gdLst/>
            <a:ahLst/>
            <a:cxnLst/>
            <a:rect l="l" t="t" r="r" b="b"/>
            <a:pathLst>
              <a:path w="193183" h="171718">
                <a:moveTo>
                  <a:pt x="16099" y="65669"/>
                </a:moveTo>
                <a:lnTo>
                  <a:pt x="86262" y="94546"/>
                </a:lnTo>
                <a:cubicBezTo>
                  <a:pt x="89548" y="95887"/>
                  <a:pt x="93036" y="96592"/>
                  <a:pt x="96592" y="96592"/>
                </a:cubicBezTo>
                <a:cubicBezTo>
                  <a:pt x="100147" y="96592"/>
                  <a:pt x="103635" y="95887"/>
                  <a:pt x="106921" y="94546"/>
                </a:cubicBezTo>
                <a:lnTo>
                  <a:pt x="188219" y="61074"/>
                </a:lnTo>
                <a:cubicBezTo>
                  <a:pt x="191238" y="59833"/>
                  <a:pt x="193183" y="56915"/>
                  <a:pt x="193183" y="53662"/>
                </a:cubicBezTo>
                <a:cubicBezTo>
                  <a:pt x="193183" y="50409"/>
                  <a:pt x="191238" y="47491"/>
                  <a:pt x="188219" y="46250"/>
                </a:cubicBezTo>
                <a:lnTo>
                  <a:pt x="106921" y="12778"/>
                </a:lnTo>
                <a:cubicBezTo>
                  <a:pt x="103635" y="11437"/>
                  <a:pt x="100147" y="10732"/>
                  <a:pt x="96592" y="10732"/>
                </a:cubicBezTo>
                <a:cubicBezTo>
                  <a:pt x="93036" y="10732"/>
                  <a:pt x="89548" y="11437"/>
                  <a:pt x="86262" y="12778"/>
                </a:cubicBezTo>
                <a:lnTo>
                  <a:pt x="4964" y="46250"/>
                </a:lnTo>
                <a:cubicBezTo>
                  <a:pt x="1945" y="47491"/>
                  <a:pt x="0" y="50409"/>
                  <a:pt x="0" y="53662"/>
                </a:cubicBezTo>
                <a:lnTo>
                  <a:pt x="0" y="152937"/>
                </a:lnTo>
                <a:cubicBezTo>
                  <a:pt x="0" y="157397"/>
                  <a:pt x="3589" y="160986"/>
                  <a:pt x="8049" y="160986"/>
                </a:cubicBezTo>
                <a:cubicBezTo>
                  <a:pt x="12510" y="160986"/>
                  <a:pt x="16099" y="157397"/>
                  <a:pt x="16099" y="152937"/>
                </a:cubicBezTo>
                <a:lnTo>
                  <a:pt x="16099" y="65669"/>
                </a:lnTo>
                <a:close/>
                <a:moveTo>
                  <a:pt x="32197" y="89716"/>
                </a:moveTo>
                <a:lnTo>
                  <a:pt x="32197" y="128789"/>
                </a:lnTo>
                <a:cubicBezTo>
                  <a:pt x="32197" y="146564"/>
                  <a:pt x="61040" y="160986"/>
                  <a:pt x="96592" y="160986"/>
                </a:cubicBezTo>
                <a:cubicBezTo>
                  <a:pt x="132143" y="160986"/>
                  <a:pt x="160986" y="146564"/>
                  <a:pt x="160986" y="128789"/>
                </a:cubicBezTo>
                <a:lnTo>
                  <a:pt x="160986" y="89683"/>
                </a:lnTo>
                <a:lnTo>
                  <a:pt x="113059" y="109437"/>
                </a:lnTo>
                <a:cubicBezTo>
                  <a:pt x="107827" y="111583"/>
                  <a:pt x="102260" y="112690"/>
                  <a:pt x="96592" y="112690"/>
                </a:cubicBezTo>
                <a:cubicBezTo>
                  <a:pt x="90924" y="112690"/>
                  <a:pt x="85356" y="111583"/>
                  <a:pt x="80124" y="109437"/>
                </a:cubicBezTo>
                <a:lnTo>
                  <a:pt x="32197" y="89683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4" name="Text 42"/>
          <p:cNvSpPr/>
          <p:nvPr/>
        </p:nvSpPr>
        <p:spPr>
          <a:xfrm>
            <a:off x="6824193" y="4654430"/>
            <a:ext cx="2060620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 &amp; Testing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24193" y="4860492"/>
            <a:ext cx="2052034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 for unbiased evaluation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50305" y="5636655"/>
            <a:ext cx="11493106" cy="872329"/>
          </a:xfrm>
          <a:custGeom>
            <a:avLst/>
            <a:gdLst/>
            <a:ahLst/>
            <a:cxnLst/>
            <a:rect l="l" t="t" r="r" b="b"/>
            <a:pathLst>
              <a:path w="11493106" h="872329">
                <a:moveTo>
                  <a:pt x="68687" y="0"/>
                </a:moveTo>
                <a:lnTo>
                  <a:pt x="11424419" y="0"/>
                </a:lnTo>
                <a:cubicBezTo>
                  <a:pt x="11462354" y="0"/>
                  <a:pt x="11493106" y="30752"/>
                  <a:pt x="11493106" y="68687"/>
                </a:cubicBezTo>
                <a:lnTo>
                  <a:pt x="11493106" y="803642"/>
                </a:lnTo>
                <a:cubicBezTo>
                  <a:pt x="11493106" y="841577"/>
                  <a:pt x="11462354" y="872329"/>
                  <a:pt x="11424419" y="872329"/>
                </a:cubicBezTo>
                <a:lnTo>
                  <a:pt x="68687" y="872329"/>
                </a:lnTo>
                <a:cubicBezTo>
                  <a:pt x="30752" y="872329"/>
                  <a:pt x="0" y="841577"/>
                  <a:pt x="0" y="803642"/>
                </a:cubicBezTo>
                <a:lnTo>
                  <a:pt x="0" y="68687"/>
                </a:lnTo>
                <a:cubicBezTo>
                  <a:pt x="0" y="30778"/>
                  <a:pt x="30778" y="0"/>
                  <a:pt x="6868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8892" y="5918270"/>
            <a:ext cx="386366" cy="309093"/>
          </a:xfrm>
          <a:custGeom>
            <a:avLst/>
            <a:gdLst/>
            <a:ahLst/>
            <a:cxnLst/>
            <a:rect l="l" t="t" r="r" b="b"/>
            <a:pathLst>
              <a:path w="386366" h="309093">
                <a:moveTo>
                  <a:pt x="251078" y="127078"/>
                </a:moveTo>
                <a:cubicBezTo>
                  <a:pt x="258443" y="125086"/>
                  <a:pt x="266170" y="128588"/>
                  <a:pt x="269490" y="135409"/>
                </a:cubicBezTo>
                <a:lnTo>
                  <a:pt x="280719" y="158108"/>
                </a:lnTo>
                <a:cubicBezTo>
                  <a:pt x="286937" y="158953"/>
                  <a:pt x="293035" y="160644"/>
                  <a:pt x="298770" y="162998"/>
                </a:cubicBezTo>
                <a:lnTo>
                  <a:pt x="319899" y="148932"/>
                </a:lnTo>
                <a:cubicBezTo>
                  <a:pt x="326238" y="144706"/>
                  <a:pt x="334629" y="145551"/>
                  <a:pt x="340002" y="150924"/>
                </a:cubicBezTo>
                <a:lnTo>
                  <a:pt x="351593" y="162515"/>
                </a:lnTo>
                <a:cubicBezTo>
                  <a:pt x="356966" y="167888"/>
                  <a:pt x="357811" y="176340"/>
                  <a:pt x="353585" y="182618"/>
                </a:cubicBezTo>
                <a:lnTo>
                  <a:pt x="339519" y="203687"/>
                </a:lnTo>
                <a:cubicBezTo>
                  <a:pt x="340666" y="206525"/>
                  <a:pt x="341693" y="209483"/>
                  <a:pt x="342538" y="212562"/>
                </a:cubicBezTo>
                <a:cubicBezTo>
                  <a:pt x="343383" y="215641"/>
                  <a:pt x="343926" y="218659"/>
                  <a:pt x="344349" y="221738"/>
                </a:cubicBezTo>
                <a:lnTo>
                  <a:pt x="367108" y="232967"/>
                </a:lnTo>
                <a:cubicBezTo>
                  <a:pt x="373930" y="236347"/>
                  <a:pt x="377431" y="244075"/>
                  <a:pt x="375439" y="251380"/>
                </a:cubicBezTo>
                <a:lnTo>
                  <a:pt x="371213" y="267196"/>
                </a:lnTo>
                <a:cubicBezTo>
                  <a:pt x="369221" y="274501"/>
                  <a:pt x="362399" y="279451"/>
                  <a:pt x="354793" y="278968"/>
                </a:cubicBezTo>
                <a:lnTo>
                  <a:pt x="329438" y="277338"/>
                </a:lnTo>
                <a:cubicBezTo>
                  <a:pt x="325634" y="282228"/>
                  <a:pt x="321227" y="286756"/>
                  <a:pt x="316217" y="290620"/>
                </a:cubicBezTo>
                <a:lnTo>
                  <a:pt x="317847" y="315915"/>
                </a:lnTo>
                <a:cubicBezTo>
                  <a:pt x="318330" y="323521"/>
                  <a:pt x="313379" y="330403"/>
                  <a:pt x="306074" y="332335"/>
                </a:cubicBezTo>
                <a:lnTo>
                  <a:pt x="290258" y="336561"/>
                </a:lnTo>
                <a:cubicBezTo>
                  <a:pt x="282893" y="338553"/>
                  <a:pt x="275226" y="335052"/>
                  <a:pt x="271845" y="328230"/>
                </a:cubicBezTo>
                <a:lnTo>
                  <a:pt x="260616" y="305531"/>
                </a:lnTo>
                <a:cubicBezTo>
                  <a:pt x="254398" y="304686"/>
                  <a:pt x="248301" y="302996"/>
                  <a:pt x="242566" y="300641"/>
                </a:cubicBezTo>
                <a:lnTo>
                  <a:pt x="221436" y="314707"/>
                </a:lnTo>
                <a:cubicBezTo>
                  <a:pt x="215097" y="318933"/>
                  <a:pt x="206706" y="318088"/>
                  <a:pt x="201333" y="312715"/>
                </a:cubicBezTo>
                <a:lnTo>
                  <a:pt x="189742" y="301124"/>
                </a:lnTo>
                <a:cubicBezTo>
                  <a:pt x="184369" y="295751"/>
                  <a:pt x="183524" y="287360"/>
                  <a:pt x="187750" y="281021"/>
                </a:cubicBezTo>
                <a:lnTo>
                  <a:pt x="201816" y="259892"/>
                </a:lnTo>
                <a:cubicBezTo>
                  <a:pt x="200669" y="257054"/>
                  <a:pt x="199643" y="254096"/>
                  <a:pt x="198797" y="251017"/>
                </a:cubicBezTo>
                <a:cubicBezTo>
                  <a:pt x="197952" y="247938"/>
                  <a:pt x="197409" y="244860"/>
                  <a:pt x="196986" y="241841"/>
                </a:cubicBezTo>
                <a:lnTo>
                  <a:pt x="174227" y="230612"/>
                </a:lnTo>
                <a:cubicBezTo>
                  <a:pt x="167405" y="227232"/>
                  <a:pt x="163964" y="219504"/>
                  <a:pt x="165896" y="212200"/>
                </a:cubicBezTo>
                <a:lnTo>
                  <a:pt x="170122" y="196383"/>
                </a:lnTo>
                <a:cubicBezTo>
                  <a:pt x="172114" y="189078"/>
                  <a:pt x="178936" y="184128"/>
                  <a:pt x="186542" y="184611"/>
                </a:cubicBezTo>
                <a:lnTo>
                  <a:pt x="211837" y="186241"/>
                </a:lnTo>
                <a:cubicBezTo>
                  <a:pt x="215641" y="181351"/>
                  <a:pt x="220048" y="176823"/>
                  <a:pt x="225058" y="172959"/>
                </a:cubicBezTo>
                <a:lnTo>
                  <a:pt x="223428" y="147725"/>
                </a:lnTo>
                <a:cubicBezTo>
                  <a:pt x="222945" y="140118"/>
                  <a:pt x="227896" y="133236"/>
                  <a:pt x="235200" y="131304"/>
                </a:cubicBezTo>
                <a:lnTo>
                  <a:pt x="251017" y="127078"/>
                </a:lnTo>
                <a:close/>
                <a:moveTo>
                  <a:pt x="270698" y="205257"/>
                </a:moveTo>
                <a:cubicBezTo>
                  <a:pt x="256037" y="205274"/>
                  <a:pt x="244149" y="217190"/>
                  <a:pt x="244165" y="231850"/>
                </a:cubicBezTo>
                <a:cubicBezTo>
                  <a:pt x="244182" y="246510"/>
                  <a:pt x="256098" y="258399"/>
                  <a:pt x="270758" y="258382"/>
                </a:cubicBezTo>
                <a:cubicBezTo>
                  <a:pt x="285419" y="258366"/>
                  <a:pt x="297307" y="246450"/>
                  <a:pt x="297291" y="231790"/>
                </a:cubicBezTo>
                <a:cubicBezTo>
                  <a:pt x="297274" y="217129"/>
                  <a:pt x="285358" y="205240"/>
                  <a:pt x="270698" y="205257"/>
                </a:cubicBezTo>
                <a:close/>
                <a:moveTo>
                  <a:pt x="135771" y="-27468"/>
                </a:moveTo>
                <a:lnTo>
                  <a:pt x="151588" y="-23242"/>
                </a:lnTo>
                <a:cubicBezTo>
                  <a:pt x="158893" y="-21250"/>
                  <a:pt x="163843" y="-14368"/>
                  <a:pt x="163360" y="-6822"/>
                </a:cubicBezTo>
                <a:lnTo>
                  <a:pt x="161730" y="18413"/>
                </a:lnTo>
                <a:cubicBezTo>
                  <a:pt x="166741" y="22276"/>
                  <a:pt x="171148" y="26744"/>
                  <a:pt x="174951" y="31694"/>
                </a:cubicBezTo>
                <a:lnTo>
                  <a:pt x="200307" y="30064"/>
                </a:lnTo>
                <a:cubicBezTo>
                  <a:pt x="207853" y="29581"/>
                  <a:pt x="214735" y="34531"/>
                  <a:pt x="216727" y="41836"/>
                </a:cubicBezTo>
                <a:lnTo>
                  <a:pt x="220953" y="57653"/>
                </a:lnTo>
                <a:cubicBezTo>
                  <a:pt x="222885" y="64958"/>
                  <a:pt x="219444" y="72685"/>
                  <a:pt x="212622" y="76066"/>
                </a:cubicBezTo>
                <a:lnTo>
                  <a:pt x="189863" y="87295"/>
                </a:lnTo>
                <a:cubicBezTo>
                  <a:pt x="189440" y="90373"/>
                  <a:pt x="188836" y="93452"/>
                  <a:pt x="188052" y="96471"/>
                </a:cubicBezTo>
                <a:cubicBezTo>
                  <a:pt x="187267" y="99489"/>
                  <a:pt x="186180" y="102508"/>
                  <a:pt x="185033" y="105345"/>
                </a:cubicBezTo>
                <a:lnTo>
                  <a:pt x="199099" y="126475"/>
                </a:lnTo>
                <a:cubicBezTo>
                  <a:pt x="203325" y="132813"/>
                  <a:pt x="202480" y="141205"/>
                  <a:pt x="197107" y="146578"/>
                </a:cubicBezTo>
                <a:lnTo>
                  <a:pt x="185516" y="158169"/>
                </a:lnTo>
                <a:cubicBezTo>
                  <a:pt x="180143" y="163542"/>
                  <a:pt x="171752" y="164387"/>
                  <a:pt x="165413" y="160161"/>
                </a:cubicBezTo>
                <a:lnTo>
                  <a:pt x="144284" y="146095"/>
                </a:lnTo>
                <a:cubicBezTo>
                  <a:pt x="138549" y="148449"/>
                  <a:pt x="132451" y="150139"/>
                  <a:pt x="126233" y="150985"/>
                </a:cubicBezTo>
                <a:lnTo>
                  <a:pt x="115004" y="173684"/>
                </a:lnTo>
                <a:cubicBezTo>
                  <a:pt x="111624" y="180505"/>
                  <a:pt x="103896" y="183947"/>
                  <a:pt x="96592" y="182015"/>
                </a:cubicBezTo>
                <a:lnTo>
                  <a:pt x="80775" y="177789"/>
                </a:lnTo>
                <a:cubicBezTo>
                  <a:pt x="73410" y="175797"/>
                  <a:pt x="68520" y="168914"/>
                  <a:pt x="69003" y="161368"/>
                </a:cubicBezTo>
                <a:lnTo>
                  <a:pt x="70633" y="136073"/>
                </a:lnTo>
                <a:cubicBezTo>
                  <a:pt x="65622" y="132210"/>
                  <a:pt x="61215" y="127742"/>
                  <a:pt x="57412" y="122792"/>
                </a:cubicBezTo>
                <a:lnTo>
                  <a:pt x="32056" y="124422"/>
                </a:lnTo>
                <a:cubicBezTo>
                  <a:pt x="24510" y="124905"/>
                  <a:pt x="17628" y="119955"/>
                  <a:pt x="15636" y="112650"/>
                </a:cubicBezTo>
                <a:lnTo>
                  <a:pt x="11410" y="96833"/>
                </a:lnTo>
                <a:cubicBezTo>
                  <a:pt x="9478" y="89528"/>
                  <a:pt x="12919" y="81801"/>
                  <a:pt x="19741" y="78420"/>
                </a:cubicBezTo>
                <a:lnTo>
                  <a:pt x="42500" y="67191"/>
                </a:lnTo>
                <a:cubicBezTo>
                  <a:pt x="42923" y="64113"/>
                  <a:pt x="43527" y="61094"/>
                  <a:pt x="44311" y="58015"/>
                </a:cubicBezTo>
                <a:cubicBezTo>
                  <a:pt x="45157" y="54936"/>
                  <a:pt x="46122" y="51978"/>
                  <a:pt x="47330" y="49141"/>
                </a:cubicBezTo>
                <a:lnTo>
                  <a:pt x="33264" y="28072"/>
                </a:lnTo>
                <a:cubicBezTo>
                  <a:pt x="29038" y="21733"/>
                  <a:pt x="29883" y="13342"/>
                  <a:pt x="35256" y="7969"/>
                </a:cubicBezTo>
                <a:lnTo>
                  <a:pt x="46847" y="-3622"/>
                </a:lnTo>
                <a:cubicBezTo>
                  <a:pt x="52220" y="-8995"/>
                  <a:pt x="60611" y="-9840"/>
                  <a:pt x="66950" y="-5614"/>
                </a:cubicBezTo>
                <a:lnTo>
                  <a:pt x="88079" y="8452"/>
                </a:lnTo>
                <a:cubicBezTo>
                  <a:pt x="93815" y="6097"/>
                  <a:pt x="99912" y="4407"/>
                  <a:pt x="106130" y="3562"/>
                </a:cubicBezTo>
                <a:lnTo>
                  <a:pt x="117359" y="-19137"/>
                </a:lnTo>
                <a:cubicBezTo>
                  <a:pt x="120739" y="-25959"/>
                  <a:pt x="128406" y="-29400"/>
                  <a:pt x="135771" y="-27468"/>
                </a:cubicBezTo>
                <a:close/>
                <a:moveTo>
                  <a:pt x="116151" y="50711"/>
                </a:moveTo>
                <a:cubicBezTo>
                  <a:pt x="101491" y="50711"/>
                  <a:pt x="89589" y="62613"/>
                  <a:pt x="89589" y="77273"/>
                </a:cubicBezTo>
                <a:cubicBezTo>
                  <a:pt x="89589" y="91934"/>
                  <a:pt x="101491" y="103836"/>
                  <a:pt x="116151" y="103836"/>
                </a:cubicBezTo>
                <a:cubicBezTo>
                  <a:pt x="130812" y="103836"/>
                  <a:pt x="142714" y="91934"/>
                  <a:pt x="142714" y="77273"/>
                </a:cubicBezTo>
                <a:cubicBezTo>
                  <a:pt x="142714" y="62613"/>
                  <a:pt x="130812" y="50711"/>
                  <a:pt x="116151" y="50711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8" name="Text 46"/>
          <p:cNvSpPr/>
          <p:nvPr/>
        </p:nvSpPr>
        <p:spPr>
          <a:xfrm>
            <a:off x="1052633" y="5815239"/>
            <a:ext cx="4756597" cy="24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52633" y="6124332"/>
            <a:ext cx="4739425" cy="20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pipeline ensures </a:t>
            </a:r>
            <a:pPr>
              <a:lnSpc>
                <a:spcPct val="130000"/>
              </a:lnSpc>
            </a:pPr>
            <a:r>
              <a:rPr lang="en-US" sz="1082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and reproducible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development.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976312" cy="317500"/>
          </a:xfrm>
          <a:custGeom>
            <a:avLst/>
            <a:gdLst/>
            <a:ahLst/>
            <a:cxnLst/>
            <a:rect l="l" t="t" r="r" b="b"/>
            <a:pathLst>
              <a:path w="976312" h="317500">
                <a:moveTo>
                  <a:pt x="0" y="0"/>
                </a:moveTo>
                <a:lnTo>
                  <a:pt x="976312" y="0"/>
                </a:lnTo>
                <a:lnTo>
                  <a:pt x="976312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381000"/>
            <a:ext cx="76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333500"/>
            <a:ext cx="11541125" cy="579438"/>
          </a:xfrm>
          <a:custGeom>
            <a:avLst/>
            <a:gdLst/>
            <a:ahLst/>
            <a:cxnLst/>
            <a:rect l="l" t="t" r="r" b="b"/>
            <a:pathLst>
              <a:path w="11541125" h="579438">
                <a:moveTo>
                  <a:pt x="31747" y="0"/>
                </a:moveTo>
                <a:lnTo>
                  <a:pt x="11509378" y="0"/>
                </a:lnTo>
                <a:cubicBezTo>
                  <a:pt x="11526911" y="0"/>
                  <a:pt x="11541125" y="14214"/>
                  <a:pt x="11541125" y="31747"/>
                </a:cubicBezTo>
                <a:lnTo>
                  <a:pt x="11541125" y="547690"/>
                </a:lnTo>
                <a:cubicBezTo>
                  <a:pt x="11541125" y="565224"/>
                  <a:pt x="11526911" y="579437"/>
                  <a:pt x="11509378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333500"/>
            <a:ext cx="31750" cy="579438"/>
          </a:xfrm>
          <a:custGeom>
            <a:avLst/>
            <a:gdLst/>
            <a:ahLst/>
            <a:cxnLst/>
            <a:rect l="l" t="t" r="r" b="b"/>
            <a:pathLst>
              <a:path w="31750" h="579438">
                <a:moveTo>
                  <a:pt x="31750" y="0"/>
                </a:moveTo>
                <a:lnTo>
                  <a:pt x="31750" y="0"/>
                </a:lnTo>
                <a:lnTo>
                  <a:pt x="31750" y="579438"/>
                </a:ln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492250"/>
            <a:ext cx="112871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were evaluated using standard regression metrics to assess prediction accuracy and model performance.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850" y="2074069"/>
            <a:ext cx="5672137" cy="3219450"/>
          </a:xfrm>
          <a:custGeom>
            <a:avLst/>
            <a:gdLst/>
            <a:ahLst/>
            <a:cxnLst/>
            <a:rect l="l" t="t" r="r" b="b"/>
            <a:pathLst>
              <a:path w="5672137" h="3219450">
                <a:moveTo>
                  <a:pt x="63488" y="0"/>
                </a:moveTo>
                <a:lnTo>
                  <a:pt x="5608650" y="0"/>
                </a:lnTo>
                <a:cubicBezTo>
                  <a:pt x="5643713" y="0"/>
                  <a:pt x="5672137" y="28424"/>
                  <a:pt x="5672137" y="63488"/>
                </a:cubicBezTo>
                <a:lnTo>
                  <a:pt x="5672137" y="3155962"/>
                </a:lnTo>
                <a:cubicBezTo>
                  <a:pt x="5672137" y="3191026"/>
                  <a:pt x="5643713" y="3219450"/>
                  <a:pt x="5608650" y="3219450"/>
                </a:cubicBezTo>
                <a:lnTo>
                  <a:pt x="63488" y="3219450"/>
                </a:lnTo>
                <a:cubicBezTo>
                  <a:pt x="28424" y="3219450"/>
                  <a:pt x="0" y="3191026"/>
                  <a:pt x="0" y="3155962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700" y="22709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788A9C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42739" y="2405861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97250" y="240078"/>
                </a:moveTo>
                <a:cubicBezTo>
                  <a:pt x="88553" y="248776"/>
                  <a:pt x="74414" y="248776"/>
                  <a:pt x="65670" y="240078"/>
                </a:cubicBezTo>
                <a:lnTo>
                  <a:pt x="13069" y="187477"/>
                </a:lnTo>
                <a:cubicBezTo>
                  <a:pt x="4372" y="178780"/>
                  <a:pt x="4372" y="164641"/>
                  <a:pt x="13069" y="155897"/>
                </a:cubicBezTo>
                <a:lnTo>
                  <a:pt x="20975" y="147991"/>
                </a:lnTo>
                <a:lnTo>
                  <a:pt x="55159" y="182175"/>
                </a:lnTo>
                <a:cubicBezTo>
                  <a:pt x="59531" y="186547"/>
                  <a:pt x="66601" y="186547"/>
                  <a:pt x="70926" y="182175"/>
                </a:cubicBezTo>
                <a:cubicBezTo>
                  <a:pt x="75251" y="177803"/>
                  <a:pt x="75298" y="170734"/>
                  <a:pt x="70926" y="166408"/>
                </a:cubicBezTo>
                <a:lnTo>
                  <a:pt x="36742" y="132224"/>
                </a:lnTo>
                <a:lnTo>
                  <a:pt x="52508" y="116458"/>
                </a:lnTo>
                <a:lnTo>
                  <a:pt x="76181" y="140131"/>
                </a:lnTo>
                <a:cubicBezTo>
                  <a:pt x="80553" y="144503"/>
                  <a:pt x="87623" y="144503"/>
                  <a:pt x="91948" y="140131"/>
                </a:cubicBezTo>
                <a:cubicBezTo>
                  <a:pt x="96273" y="135759"/>
                  <a:pt x="96320" y="128690"/>
                  <a:pt x="91948" y="124365"/>
                </a:cubicBezTo>
                <a:lnTo>
                  <a:pt x="68275" y="100692"/>
                </a:lnTo>
                <a:lnTo>
                  <a:pt x="84041" y="84925"/>
                </a:lnTo>
                <a:lnTo>
                  <a:pt x="118225" y="119109"/>
                </a:lnTo>
                <a:cubicBezTo>
                  <a:pt x="122597" y="123481"/>
                  <a:pt x="129667" y="123481"/>
                  <a:pt x="133992" y="119109"/>
                </a:cubicBezTo>
                <a:cubicBezTo>
                  <a:pt x="138317" y="114737"/>
                  <a:pt x="138364" y="107668"/>
                  <a:pt x="133992" y="103343"/>
                </a:cubicBezTo>
                <a:lnTo>
                  <a:pt x="99808" y="69159"/>
                </a:lnTo>
                <a:lnTo>
                  <a:pt x="115574" y="53392"/>
                </a:lnTo>
                <a:lnTo>
                  <a:pt x="139247" y="77065"/>
                </a:lnTo>
                <a:cubicBezTo>
                  <a:pt x="143619" y="81437"/>
                  <a:pt x="150688" y="81437"/>
                  <a:pt x="155014" y="77065"/>
                </a:cubicBezTo>
                <a:cubicBezTo>
                  <a:pt x="159339" y="72693"/>
                  <a:pt x="159386" y="65624"/>
                  <a:pt x="155014" y="61299"/>
                </a:cubicBezTo>
                <a:lnTo>
                  <a:pt x="131341" y="37626"/>
                </a:lnTo>
                <a:lnTo>
                  <a:pt x="147107" y="21859"/>
                </a:lnTo>
                <a:lnTo>
                  <a:pt x="181291" y="56043"/>
                </a:lnTo>
                <a:cubicBezTo>
                  <a:pt x="185663" y="60415"/>
                  <a:pt x="192732" y="60415"/>
                  <a:pt x="197058" y="56043"/>
                </a:cubicBezTo>
                <a:cubicBezTo>
                  <a:pt x="201383" y="51671"/>
                  <a:pt x="201430" y="44602"/>
                  <a:pt x="197058" y="40277"/>
                </a:cubicBezTo>
                <a:lnTo>
                  <a:pt x="162874" y="6093"/>
                </a:lnTo>
                <a:lnTo>
                  <a:pt x="170780" y="-1814"/>
                </a:lnTo>
                <a:cubicBezTo>
                  <a:pt x="179477" y="-10511"/>
                  <a:pt x="193616" y="-10511"/>
                  <a:pt x="202360" y="-1814"/>
                </a:cubicBezTo>
                <a:lnTo>
                  <a:pt x="255101" y="50648"/>
                </a:lnTo>
                <a:cubicBezTo>
                  <a:pt x="263798" y="59345"/>
                  <a:pt x="263798" y="73484"/>
                  <a:pt x="255101" y="82228"/>
                </a:cubicBezTo>
                <a:lnTo>
                  <a:pt x="97250" y="240078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5700" y="2302673"/>
            <a:ext cx="1484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5700" y="2556573"/>
            <a:ext cx="1452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Squared Error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2937673"/>
            <a:ext cx="5278438" cy="730250"/>
          </a:xfrm>
          <a:custGeom>
            <a:avLst/>
            <a:gdLst/>
            <a:ahLst/>
            <a:cxnLst/>
            <a:rect l="l" t="t" r="r" b="b"/>
            <a:pathLst>
              <a:path w="5278438" h="730250">
                <a:moveTo>
                  <a:pt x="31751" y="0"/>
                </a:moveTo>
                <a:lnTo>
                  <a:pt x="5246686" y="0"/>
                </a:lnTo>
                <a:cubicBezTo>
                  <a:pt x="5264222" y="0"/>
                  <a:pt x="5278438" y="14216"/>
                  <a:pt x="5278438" y="31751"/>
                </a:cubicBezTo>
                <a:lnTo>
                  <a:pt x="5278438" y="698499"/>
                </a:lnTo>
                <a:cubicBezTo>
                  <a:pt x="5278438" y="716034"/>
                  <a:pt x="5264222" y="730250"/>
                  <a:pt x="5246686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7700" y="3064673"/>
            <a:ext cx="509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700" y="3350423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the average magnitude of prediction errors, penalizing larger errors more heavily.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0700" y="3794923"/>
            <a:ext cx="5278438" cy="730250"/>
          </a:xfrm>
          <a:custGeom>
            <a:avLst/>
            <a:gdLst/>
            <a:ahLst/>
            <a:cxnLst/>
            <a:rect l="l" t="t" r="r" b="b"/>
            <a:pathLst>
              <a:path w="5278438" h="730250">
                <a:moveTo>
                  <a:pt x="31751" y="0"/>
                </a:moveTo>
                <a:lnTo>
                  <a:pt x="5246686" y="0"/>
                </a:lnTo>
                <a:cubicBezTo>
                  <a:pt x="5264222" y="0"/>
                  <a:pt x="5278438" y="14216"/>
                  <a:pt x="5278438" y="31751"/>
                </a:cubicBezTo>
                <a:lnTo>
                  <a:pt x="5278438" y="698499"/>
                </a:lnTo>
                <a:cubicBezTo>
                  <a:pt x="5278438" y="716034"/>
                  <a:pt x="5264222" y="730250"/>
                  <a:pt x="5246686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7700" y="3921923"/>
            <a:ext cx="509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4207673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RMSE indicates better model performance with more accurate predictions.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6575" y="4652173"/>
            <a:ext cx="5262563" cy="444500"/>
          </a:xfrm>
          <a:custGeom>
            <a:avLst/>
            <a:gdLst/>
            <a:ahLst/>
            <a:cxnLst/>
            <a:rect l="l" t="t" r="r" b="b"/>
            <a:pathLst>
              <a:path w="5262563" h="444500">
                <a:moveTo>
                  <a:pt x="31750" y="0"/>
                </a:moveTo>
                <a:lnTo>
                  <a:pt x="5230812" y="0"/>
                </a:lnTo>
                <a:cubicBezTo>
                  <a:pt x="5248347" y="0"/>
                  <a:pt x="5262563" y="14215"/>
                  <a:pt x="5262563" y="31751"/>
                </a:cubicBezTo>
                <a:lnTo>
                  <a:pt x="5262563" y="412749"/>
                </a:lnTo>
                <a:cubicBezTo>
                  <a:pt x="5262563" y="430285"/>
                  <a:pt x="5248347" y="444500"/>
                  <a:pt x="5230812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36575" y="4652173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2" name="Shape 20"/>
          <p:cNvSpPr/>
          <p:nvPr/>
        </p:nvSpPr>
        <p:spPr>
          <a:xfrm>
            <a:off x="695325" y="480456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1125" y="63500"/>
                </a:moveTo>
                <a:cubicBezTo>
                  <a:pt x="111125" y="37215"/>
                  <a:pt x="89785" y="15875"/>
                  <a:pt x="63500" y="15875"/>
                </a:cubicBezTo>
                <a:cubicBezTo>
                  <a:pt x="37215" y="15875"/>
                  <a:pt x="15875" y="37215"/>
                  <a:pt x="15875" y="63500"/>
                </a:cubicBezTo>
                <a:cubicBezTo>
                  <a:pt x="15875" y="89785"/>
                  <a:pt x="37215" y="111125"/>
                  <a:pt x="63500" y="111125"/>
                </a:cubicBezTo>
                <a:cubicBezTo>
                  <a:pt x="89785" y="111125"/>
                  <a:pt x="111125" y="89785"/>
                  <a:pt x="111125" y="63500"/>
                </a:cubicBez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  <a:moveTo>
                  <a:pt x="63500" y="83344"/>
                </a:moveTo>
                <a:cubicBezTo>
                  <a:pt x="74452" y="83344"/>
                  <a:pt x="83344" y="74452"/>
                  <a:pt x="83344" y="63500"/>
                </a:cubicBezTo>
                <a:cubicBezTo>
                  <a:pt x="83344" y="52548"/>
                  <a:pt x="74452" y="43656"/>
                  <a:pt x="63500" y="43656"/>
                </a:cubicBezTo>
                <a:cubicBezTo>
                  <a:pt x="52548" y="43656"/>
                  <a:pt x="43656" y="52548"/>
                  <a:pt x="43656" y="63500"/>
                </a:cubicBezTo>
                <a:cubicBezTo>
                  <a:pt x="43656" y="74452"/>
                  <a:pt x="52548" y="83344"/>
                  <a:pt x="63500" y="83344"/>
                </a:cubicBezTo>
                <a:close/>
                <a:moveTo>
                  <a:pt x="63500" y="27781"/>
                </a:moveTo>
                <a:cubicBezTo>
                  <a:pt x="83214" y="27781"/>
                  <a:pt x="99219" y="43786"/>
                  <a:pt x="99219" y="63500"/>
                </a:cubicBezTo>
                <a:cubicBezTo>
                  <a:pt x="99219" y="83214"/>
                  <a:pt x="83214" y="99219"/>
                  <a:pt x="63500" y="99219"/>
                </a:cubicBezTo>
                <a:cubicBezTo>
                  <a:pt x="43786" y="99219"/>
                  <a:pt x="27781" y="83214"/>
                  <a:pt x="27781" y="63500"/>
                </a:cubicBezTo>
                <a:cubicBezTo>
                  <a:pt x="27781" y="43786"/>
                  <a:pt x="43786" y="27781"/>
                  <a:pt x="63500" y="27781"/>
                </a:cubicBezTo>
                <a:close/>
                <a:moveTo>
                  <a:pt x="55563" y="63500"/>
                </a:moveTo>
                <a:cubicBezTo>
                  <a:pt x="55563" y="59119"/>
                  <a:pt x="59119" y="55563"/>
                  <a:pt x="63500" y="55563"/>
                </a:cubicBezTo>
                <a:cubicBezTo>
                  <a:pt x="67881" y="55563"/>
                  <a:pt x="71438" y="59119"/>
                  <a:pt x="71438" y="63500"/>
                </a:cubicBezTo>
                <a:cubicBezTo>
                  <a:pt x="71438" y="67881"/>
                  <a:pt x="67881" y="71438"/>
                  <a:pt x="63500" y="71438"/>
                </a:cubicBezTo>
                <a:cubicBezTo>
                  <a:pt x="59119" y="71438"/>
                  <a:pt x="55563" y="67881"/>
                  <a:pt x="55563" y="6350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87" y="4779173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error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magnitude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7600" y="2074069"/>
            <a:ext cx="5672137" cy="3219450"/>
          </a:xfrm>
          <a:custGeom>
            <a:avLst/>
            <a:gdLst/>
            <a:ahLst/>
            <a:cxnLst/>
            <a:rect l="l" t="t" r="r" b="b"/>
            <a:pathLst>
              <a:path w="5672137" h="3219450">
                <a:moveTo>
                  <a:pt x="63488" y="0"/>
                </a:moveTo>
                <a:lnTo>
                  <a:pt x="5608650" y="0"/>
                </a:lnTo>
                <a:cubicBezTo>
                  <a:pt x="5643713" y="0"/>
                  <a:pt x="5672137" y="28424"/>
                  <a:pt x="5672137" y="63488"/>
                </a:cubicBezTo>
                <a:lnTo>
                  <a:pt x="5672137" y="3155962"/>
                </a:lnTo>
                <a:cubicBezTo>
                  <a:pt x="5672137" y="3191026"/>
                  <a:pt x="5643713" y="3219450"/>
                  <a:pt x="5608650" y="3219450"/>
                </a:cubicBezTo>
                <a:lnTo>
                  <a:pt x="63488" y="3219450"/>
                </a:lnTo>
                <a:cubicBezTo>
                  <a:pt x="28424" y="3219450"/>
                  <a:pt x="0" y="3191026"/>
                  <a:pt x="0" y="3155962"/>
                </a:cubicBezTo>
                <a:lnTo>
                  <a:pt x="0" y="63488"/>
                </a:lnTo>
                <a:cubicBezTo>
                  <a:pt x="0" y="28448"/>
                  <a:pt x="28448" y="0"/>
                  <a:pt x="63488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4450" y="22709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6546255" y="2405861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89297" y="59531"/>
                </a:moveTo>
                <a:cubicBezTo>
                  <a:pt x="89297" y="34889"/>
                  <a:pt x="69291" y="14883"/>
                  <a:pt x="44648" y="14883"/>
                </a:cubicBezTo>
                <a:cubicBezTo>
                  <a:pt x="20006" y="14883"/>
                  <a:pt x="0" y="34889"/>
                  <a:pt x="0" y="59531"/>
                </a:cubicBezTo>
                <a:cubicBezTo>
                  <a:pt x="0" y="84173"/>
                  <a:pt x="20006" y="104180"/>
                  <a:pt x="44648" y="104180"/>
                </a:cubicBezTo>
                <a:cubicBezTo>
                  <a:pt x="69291" y="104180"/>
                  <a:pt x="89297" y="84173"/>
                  <a:pt x="89297" y="59531"/>
                </a:cubicBezTo>
                <a:close/>
                <a:moveTo>
                  <a:pt x="208359" y="178594"/>
                </a:moveTo>
                <a:cubicBezTo>
                  <a:pt x="208359" y="153952"/>
                  <a:pt x="188353" y="133945"/>
                  <a:pt x="163711" y="133945"/>
                </a:cubicBezTo>
                <a:cubicBezTo>
                  <a:pt x="139069" y="133945"/>
                  <a:pt x="119062" y="153952"/>
                  <a:pt x="119062" y="178594"/>
                </a:cubicBezTo>
                <a:cubicBezTo>
                  <a:pt x="119062" y="203236"/>
                  <a:pt x="139069" y="223242"/>
                  <a:pt x="163711" y="223242"/>
                </a:cubicBezTo>
                <a:cubicBezTo>
                  <a:pt x="188353" y="223242"/>
                  <a:pt x="208359" y="203236"/>
                  <a:pt x="208359" y="178594"/>
                </a:cubicBezTo>
                <a:close/>
                <a:moveTo>
                  <a:pt x="203988" y="40277"/>
                </a:moveTo>
                <a:cubicBezTo>
                  <a:pt x="209801" y="34463"/>
                  <a:pt x="209801" y="25022"/>
                  <a:pt x="203988" y="19208"/>
                </a:cubicBezTo>
                <a:cubicBezTo>
                  <a:pt x="198174" y="13395"/>
                  <a:pt x="188733" y="13395"/>
                  <a:pt x="182919" y="19208"/>
                </a:cubicBezTo>
                <a:lnTo>
                  <a:pt x="4325" y="197802"/>
                </a:lnTo>
                <a:cubicBezTo>
                  <a:pt x="-1488" y="203615"/>
                  <a:pt x="-1488" y="213057"/>
                  <a:pt x="4325" y="218870"/>
                </a:cubicBezTo>
                <a:cubicBezTo>
                  <a:pt x="10139" y="224684"/>
                  <a:pt x="19580" y="224684"/>
                  <a:pt x="25394" y="218870"/>
                </a:cubicBezTo>
                <a:lnTo>
                  <a:pt x="203988" y="40277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Text 25"/>
          <p:cNvSpPr/>
          <p:nvPr/>
        </p:nvSpPr>
        <p:spPr>
          <a:xfrm>
            <a:off x="7029450" y="2302673"/>
            <a:ext cx="1643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29450" y="2556573"/>
            <a:ext cx="161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Coefficient of Determination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4450" y="2937673"/>
            <a:ext cx="5278438" cy="730250"/>
          </a:xfrm>
          <a:custGeom>
            <a:avLst/>
            <a:gdLst/>
            <a:ahLst/>
            <a:cxnLst/>
            <a:rect l="l" t="t" r="r" b="b"/>
            <a:pathLst>
              <a:path w="5278438" h="730250">
                <a:moveTo>
                  <a:pt x="31751" y="0"/>
                </a:moveTo>
                <a:lnTo>
                  <a:pt x="5246686" y="0"/>
                </a:lnTo>
                <a:cubicBezTo>
                  <a:pt x="5264222" y="0"/>
                  <a:pt x="5278438" y="14216"/>
                  <a:pt x="5278438" y="31751"/>
                </a:cubicBezTo>
                <a:lnTo>
                  <a:pt x="5278438" y="698499"/>
                </a:lnTo>
                <a:cubicBezTo>
                  <a:pt x="5278438" y="716034"/>
                  <a:pt x="5264222" y="730250"/>
                  <a:pt x="5246686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21450" y="3064673"/>
            <a:ext cx="509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21450" y="3350423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how well the model explains the variance in the target variable (fare amount).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94450" y="3794923"/>
            <a:ext cx="5278438" cy="730250"/>
          </a:xfrm>
          <a:custGeom>
            <a:avLst/>
            <a:gdLst/>
            <a:ahLst/>
            <a:cxnLst/>
            <a:rect l="l" t="t" r="r" b="b"/>
            <a:pathLst>
              <a:path w="5278438" h="730250">
                <a:moveTo>
                  <a:pt x="31751" y="0"/>
                </a:moveTo>
                <a:lnTo>
                  <a:pt x="5246686" y="0"/>
                </a:lnTo>
                <a:cubicBezTo>
                  <a:pt x="5264222" y="0"/>
                  <a:pt x="5278438" y="14216"/>
                  <a:pt x="5278438" y="31751"/>
                </a:cubicBezTo>
                <a:lnTo>
                  <a:pt x="5278438" y="698499"/>
                </a:lnTo>
                <a:cubicBezTo>
                  <a:pt x="5278438" y="716034"/>
                  <a:pt x="5264222" y="730250"/>
                  <a:pt x="5246686" y="730250"/>
                </a:cubicBezTo>
                <a:lnTo>
                  <a:pt x="31751" y="730250"/>
                </a:lnTo>
                <a:cubicBezTo>
                  <a:pt x="14216" y="730250"/>
                  <a:pt x="0" y="716034"/>
                  <a:pt x="0" y="698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21450" y="3921923"/>
            <a:ext cx="509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21450" y="4207673"/>
            <a:ext cx="5087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ranges from 0 to 1, where higher values indicate better model fit and explanatory power.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10325" y="4652173"/>
            <a:ext cx="5262563" cy="444500"/>
          </a:xfrm>
          <a:custGeom>
            <a:avLst/>
            <a:gdLst/>
            <a:ahLst/>
            <a:cxnLst/>
            <a:rect l="l" t="t" r="r" b="b"/>
            <a:pathLst>
              <a:path w="5262563" h="444500">
                <a:moveTo>
                  <a:pt x="31750" y="0"/>
                </a:moveTo>
                <a:lnTo>
                  <a:pt x="5230812" y="0"/>
                </a:lnTo>
                <a:cubicBezTo>
                  <a:pt x="5248347" y="0"/>
                  <a:pt x="5262563" y="14215"/>
                  <a:pt x="5262563" y="31751"/>
                </a:cubicBezTo>
                <a:lnTo>
                  <a:pt x="5262563" y="412749"/>
                </a:lnTo>
                <a:cubicBezTo>
                  <a:pt x="5262563" y="430285"/>
                  <a:pt x="5248347" y="444500"/>
                  <a:pt x="5230812" y="444500"/>
                </a:cubicBezTo>
                <a:lnTo>
                  <a:pt x="31750" y="444500"/>
                </a:lnTo>
                <a:cubicBezTo>
                  <a:pt x="14215" y="444500"/>
                  <a:pt x="0" y="430285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10325" y="4652173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3175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31750" y="444500"/>
                </a:lnTo>
                <a:cubicBezTo>
                  <a:pt x="14227" y="444500"/>
                  <a:pt x="0" y="430273"/>
                  <a:pt x="0" y="412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Shape 35"/>
          <p:cNvSpPr/>
          <p:nvPr/>
        </p:nvSpPr>
        <p:spPr>
          <a:xfrm>
            <a:off x="6569075" y="480456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8" name="Text 36"/>
          <p:cNvSpPr/>
          <p:nvPr/>
        </p:nvSpPr>
        <p:spPr>
          <a:xfrm>
            <a:off x="6751638" y="4779173"/>
            <a:ext cx="485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variance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explanation capability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3850" y="5464970"/>
            <a:ext cx="11545888" cy="806450"/>
          </a:xfrm>
          <a:custGeom>
            <a:avLst/>
            <a:gdLst/>
            <a:ahLst/>
            <a:cxnLst/>
            <a:rect l="l" t="t" r="r" b="b"/>
            <a:pathLst>
              <a:path w="11545888" h="806450">
                <a:moveTo>
                  <a:pt x="63500" y="0"/>
                </a:moveTo>
                <a:lnTo>
                  <a:pt x="11482388" y="0"/>
                </a:lnTo>
                <a:cubicBezTo>
                  <a:pt x="11517458" y="0"/>
                  <a:pt x="11545888" y="28430"/>
                  <a:pt x="11545888" y="63500"/>
                </a:cubicBezTo>
                <a:lnTo>
                  <a:pt x="11545888" y="742950"/>
                </a:lnTo>
                <a:cubicBezTo>
                  <a:pt x="11545888" y="778020"/>
                  <a:pt x="11517458" y="806450"/>
                  <a:pt x="11482388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8950" y="5725317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14313" y="17859"/>
                </a:moveTo>
                <a:lnTo>
                  <a:pt x="285750" y="17859"/>
                </a:lnTo>
                <a:cubicBezTo>
                  <a:pt x="295628" y="17859"/>
                  <a:pt x="303609" y="25840"/>
                  <a:pt x="303609" y="35719"/>
                </a:cubicBezTo>
                <a:cubicBezTo>
                  <a:pt x="303609" y="45597"/>
                  <a:pt x="295628" y="53578"/>
                  <a:pt x="285750" y="53578"/>
                </a:cubicBezTo>
                <a:lnTo>
                  <a:pt x="222349" y="53578"/>
                </a:lnTo>
                <a:cubicBezTo>
                  <a:pt x="219447" y="67977"/>
                  <a:pt x="209569" y="79865"/>
                  <a:pt x="196453" y="85558"/>
                </a:cubicBezTo>
                <a:lnTo>
                  <a:pt x="196453" y="250031"/>
                </a:lnTo>
                <a:lnTo>
                  <a:pt x="285750" y="250031"/>
                </a:lnTo>
                <a:cubicBezTo>
                  <a:pt x="295628" y="250031"/>
                  <a:pt x="303609" y="258012"/>
                  <a:pt x="303609" y="267891"/>
                </a:cubicBezTo>
                <a:cubicBezTo>
                  <a:pt x="303609" y="277769"/>
                  <a:pt x="295628" y="285750"/>
                  <a:pt x="285750" y="285750"/>
                </a:cubicBezTo>
                <a:lnTo>
                  <a:pt x="71438" y="285750"/>
                </a:lnTo>
                <a:cubicBezTo>
                  <a:pt x="61559" y="285750"/>
                  <a:pt x="53578" y="277769"/>
                  <a:pt x="53578" y="267891"/>
                </a:cubicBezTo>
                <a:cubicBezTo>
                  <a:pt x="53578" y="258012"/>
                  <a:pt x="61559" y="250031"/>
                  <a:pt x="71438" y="250031"/>
                </a:cubicBezTo>
                <a:lnTo>
                  <a:pt x="160734" y="250031"/>
                </a:lnTo>
                <a:lnTo>
                  <a:pt x="160734" y="85558"/>
                </a:lnTo>
                <a:cubicBezTo>
                  <a:pt x="147619" y="79809"/>
                  <a:pt x="137740" y="67921"/>
                  <a:pt x="134838" y="53578"/>
                </a:cubicBezTo>
                <a:lnTo>
                  <a:pt x="71438" y="53578"/>
                </a:lnTo>
                <a:cubicBezTo>
                  <a:pt x="61559" y="53578"/>
                  <a:pt x="53578" y="45597"/>
                  <a:pt x="53578" y="35719"/>
                </a:cubicBezTo>
                <a:cubicBezTo>
                  <a:pt x="53578" y="25840"/>
                  <a:pt x="61559" y="17859"/>
                  <a:pt x="71438" y="17859"/>
                </a:cubicBezTo>
                <a:lnTo>
                  <a:pt x="142875" y="17859"/>
                </a:lnTo>
                <a:cubicBezTo>
                  <a:pt x="151023" y="7032"/>
                  <a:pt x="163971" y="0"/>
                  <a:pt x="178594" y="0"/>
                </a:cubicBezTo>
                <a:cubicBezTo>
                  <a:pt x="193216" y="0"/>
                  <a:pt x="206164" y="7032"/>
                  <a:pt x="214313" y="17859"/>
                </a:cubicBezTo>
                <a:close/>
                <a:moveTo>
                  <a:pt x="245343" y="178594"/>
                </a:moveTo>
                <a:lnTo>
                  <a:pt x="326157" y="178594"/>
                </a:lnTo>
                <a:lnTo>
                  <a:pt x="285750" y="109277"/>
                </a:lnTo>
                <a:lnTo>
                  <a:pt x="245343" y="178594"/>
                </a:lnTo>
                <a:close/>
                <a:moveTo>
                  <a:pt x="285750" y="232172"/>
                </a:moveTo>
                <a:cubicBezTo>
                  <a:pt x="250645" y="232172"/>
                  <a:pt x="221456" y="213196"/>
                  <a:pt x="215429" y="188137"/>
                </a:cubicBezTo>
                <a:cubicBezTo>
                  <a:pt x="213978" y="181998"/>
                  <a:pt x="215987" y="175692"/>
                  <a:pt x="219168" y="170222"/>
                </a:cubicBezTo>
                <a:lnTo>
                  <a:pt x="272300" y="79139"/>
                </a:lnTo>
                <a:cubicBezTo>
                  <a:pt x="275090" y="74340"/>
                  <a:pt x="280225" y="71438"/>
                  <a:pt x="285750" y="71438"/>
                </a:cubicBezTo>
                <a:cubicBezTo>
                  <a:pt x="291275" y="71438"/>
                  <a:pt x="296410" y="74395"/>
                  <a:pt x="299200" y="79139"/>
                </a:cubicBezTo>
                <a:lnTo>
                  <a:pt x="352332" y="170222"/>
                </a:lnTo>
                <a:cubicBezTo>
                  <a:pt x="355513" y="175692"/>
                  <a:pt x="357522" y="181998"/>
                  <a:pt x="356071" y="188137"/>
                </a:cubicBezTo>
                <a:cubicBezTo>
                  <a:pt x="350044" y="213140"/>
                  <a:pt x="320855" y="232172"/>
                  <a:pt x="285750" y="232172"/>
                </a:cubicBezTo>
                <a:close/>
                <a:moveTo>
                  <a:pt x="70768" y="109277"/>
                </a:moveTo>
                <a:lnTo>
                  <a:pt x="30361" y="178594"/>
                </a:lnTo>
                <a:lnTo>
                  <a:pt x="111230" y="178594"/>
                </a:lnTo>
                <a:lnTo>
                  <a:pt x="70768" y="109277"/>
                </a:lnTo>
                <a:close/>
                <a:moveTo>
                  <a:pt x="502" y="188137"/>
                </a:moveTo>
                <a:cubicBezTo>
                  <a:pt x="-949" y="181998"/>
                  <a:pt x="1060" y="175692"/>
                  <a:pt x="4242" y="170222"/>
                </a:cubicBezTo>
                <a:lnTo>
                  <a:pt x="57373" y="79139"/>
                </a:lnTo>
                <a:cubicBezTo>
                  <a:pt x="60164" y="74340"/>
                  <a:pt x="65298" y="71438"/>
                  <a:pt x="70824" y="71438"/>
                </a:cubicBezTo>
                <a:cubicBezTo>
                  <a:pt x="76349" y="71438"/>
                  <a:pt x="81483" y="74395"/>
                  <a:pt x="84274" y="79139"/>
                </a:cubicBezTo>
                <a:lnTo>
                  <a:pt x="137406" y="170222"/>
                </a:lnTo>
                <a:cubicBezTo>
                  <a:pt x="140587" y="175692"/>
                  <a:pt x="142596" y="181998"/>
                  <a:pt x="141145" y="188137"/>
                </a:cubicBezTo>
                <a:cubicBezTo>
                  <a:pt x="135117" y="213140"/>
                  <a:pt x="105928" y="232172"/>
                  <a:pt x="70824" y="232172"/>
                </a:cubicBezTo>
                <a:cubicBezTo>
                  <a:pt x="35719" y="232172"/>
                  <a:pt x="6530" y="213196"/>
                  <a:pt x="502" y="188137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1" name="Text 39"/>
          <p:cNvSpPr/>
          <p:nvPr/>
        </p:nvSpPr>
        <p:spPr>
          <a:xfrm>
            <a:off x="973137" y="5630067"/>
            <a:ext cx="516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 Selection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3137" y="5915817"/>
            <a:ext cx="515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metrics helped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model performance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objectively and select the best approach.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1171575" cy="381000"/>
          </a:xfrm>
          <a:custGeom>
            <a:avLst/>
            <a:gdLst/>
            <a:ahLst/>
            <a:cxnLst/>
            <a:rect l="l" t="t" r="r" b="b"/>
            <a:pathLst>
              <a:path w="1171575" h="381000">
                <a:moveTo>
                  <a:pt x="0" y="0"/>
                </a:moveTo>
                <a:lnTo>
                  <a:pt x="1171575" y="0"/>
                </a:lnTo>
                <a:lnTo>
                  <a:pt x="11715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572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00200"/>
            <a:ext cx="11410950" cy="695325"/>
          </a:xfrm>
          <a:custGeom>
            <a:avLst/>
            <a:gdLst/>
            <a:ahLst/>
            <a:cxnLst/>
            <a:rect l="l" t="t" r="r" b="b"/>
            <a:pathLst>
              <a:path w="11410950" h="695325">
                <a:moveTo>
                  <a:pt x="38097" y="0"/>
                </a:moveTo>
                <a:lnTo>
                  <a:pt x="11372853" y="0"/>
                </a:lnTo>
                <a:cubicBezTo>
                  <a:pt x="11393879" y="0"/>
                  <a:pt x="11410950" y="17071"/>
                  <a:pt x="11410950" y="38097"/>
                </a:cubicBezTo>
                <a:lnTo>
                  <a:pt x="11410950" y="657228"/>
                </a:lnTo>
                <a:cubicBezTo>
                  <a:pt x="11410950" y="678254"/>
                  <a:pt x="11393879" y="695325"/>
                  <a:pt x="11372853" y="695325"/>
                </a:cubicBezTo>
                <a:lnTo>
                  <a:pt x="38097" y="695325"/>
                </a:lnTo>
                <a:cubicBezTo>
                  <a:pt x="17071" y="695325"/>
                  <a:pt x="0" y="678254"/>
                  <a:pt x="0" y="65722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00200"/>
            <a:ext cx="38100" cy="695325"/>
          </a:xfrm>
          <a:custGeom>
            <a:avLst/>
            <a:gdLst/>
            <a:ahLst/>
            <a:cxnLst/>
            <a:rect l="l" t="t" r="r" b="b"/>
            <a:pathLst>
              <a:path w="38100" h="695325">
                <a:moveTo>
                  <a:pt x="38100" y="0"/>
                </a:moveTo>
                <a:lnTo>
                  <a:pt x="38100" y="0"/>
                </a:lnTo>
                <a:lnTo>
                  <a:pt x="38100" y="695325"/>
                </a:lnTo>
                <a:lnTo>
                  <a:pt x="38100" y="695325"/>
                </a:lnTo>
                <a:cubicBezTo>
                  <a:pt x="17072" y="695325"/>
                  <a:pt x="0" y="678253"/>
                  <a:pt x="0" y="657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790700"/>
            <a:ext cx="11106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analysis revealed significant performance differences across the three models.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" y="2488882"/>
            <a:ext cx="3691890" cy="2491740"/>
          </a:xfrm>
          <a:custGeom>
            <a:avLst/>
            <a:gdLst/>
            <a:ahLst/>
            <a:cxnLst/>
            <a:rect l="l" t="t" r="r" b="b"/>
            <a:pathLst>
              <a:path w="3691890" h="2491740">
                <a:moveTo>
                  <a:pt x="76197" y="0"/>
                </a:moveTo>
                <a:lnTo>
                  <a:pt x="3615693" y="0"/>
                </a:lnTo>
                <a:cubicBezTo>
                  <a:pt x="3657775" y="0"/>
                  <a:pt x="3691890" y="34115"/>
                  <a:pt x="3691890" y="76197"/>
                </a:cubicBezTo>
                <a:lnTo>
                  <a:pt x="3691890" y="2415543"/>
                </a:lnTo>
                <a:cubicBezTo>
                  <a:pt x="3691890" y="2457625"/>
                  <a:pt x="3657775" y="2491740"/>
                  <a:pt x="3615693" y="2491740"/>
                </a:cubicBezTo>
                <a:lnTo>
                  <a:pt x="76197" y="2491740"/>
                </a:lnTo>
                <a:cubicBezTo>
                  <a:pt x="34115" y="2491740"/>
                  <a:pt x="0" y="2457625"/>
                  <a:pt x="0" y="241554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740" y="26870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720090" y="28203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8240" y="2782258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6740" y="3296608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3" y="0"/>
                </a:moveTo>
                <a:lnTo>
                  <a:pt x="3257547" y="0"/>
                </a:lnTo>
                <a:cubicBezTo>
                  <a:pt x="3278591" y="0"/>
                  <a:pt x="3295650" y="17059"/>
                  <a:pt x="3295650" y="38103"/>
                </a:cubicBezTo>
                <a:lnTo>
                  <a:pt x="3295650" y="647697"/>
                </a:lnTo>
                <a:cubicBezTo>
                  <a:pt x="3295650" y="668741"/>
                  <a:pt x="3278591" y="685800"/>
                  <a:pt x="3257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1040" y="3410908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040" y="367760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Captured general trends in the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6740" y="4096708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3" y="0"/>
                </a:moveTo>
                <a:lnTo>
                  <a:pt x="3257547" y="0"/>
                </a:lnTo>
                <a:cubicBezTo>
                  <a:pt x="3278591" y="0"/>
                  <a:pt x="3295650" y="17059"/>
                  <a:pt x="3295650" y="38103"/>
                </a:cubicBezTo>
                <a:lnTo>
                  <a:pt x="3295650" y="647697"/>
                </a:lnTo>
                <a:cubicBezTo>
                  <a:pt x="3295650" y="668741"/>
                  <a:pt x="3278591" y="685800"/>
                  <a:pt x="3257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1040" y="4211008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1040" y="447770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Struggled with nonlinear relationships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9341" y="2488882"/>
            <a:ext cx="3691890" cy="2491740"/>
          </a:xfrm>
          <a:custGeom>
            <a:avLst/>
            <a:gdLst/>
            <a:ahLst/>
            <a:cxnLst/>
            <a:rect l="l" t="t" r="r" b="b"/>
            <a:pathLst>
              <a:path w="3691890" h="2491740">
                <a:moveTo>
                  <a:pt x="76197" y="0"/>
                </a:moveTo>
                <a:lnTo>
                  <a:pt x="3615693" y="0"/>
                </a:lnTo>
                <a:cubicBezTo>
                  <a:pt x="3657775" y="0"/>
                  <a:pt x="3691890" y="34115"/>
                  <a:pt x="3691890" y="76197"/>
                </a:cubicBezTo>
                <a:lnTo>
                  <a:pt x="3691890" y="2415543"/>
                </a:lnTo>
                <a:cubicBezTo>
                  <a:pt x="3691890" y="2457625"/>
                  <a:pt x="3657775" y="2491740"/>
                  <a:pt x="3615693" y="2491740"/>
                </a:cubicBezTo>
                <a:lnTo>
                  <a:pt x="76197" y="2491740"/>
                </a:lnTo>
                <a:cubicBezTo>
                  <a:pt x="34115" y="2491740"/>
                  <a:pt x="0" y="2457625"/>
                  <a:pt x="0" y="241554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7461" y="26870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0811" y="28203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2" name="Text 20"/>
          <p:cNvSpPr/>
          <p:nvPr/>
        </p:nvSpPr>
        <p:spPr>
          <a:xfrm>
            <a:off x="5018961" y="2782258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Ridge Regression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7461" y="3296608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3" y="0"/>
                </a:moveTo>
                <a:lnTo>
                  <a:pt x="3257547" y="0"/>
                </a:lnTo>
                <a:cubicBezTo>
                  <a:pt x="3278591" y="0"/>
                  <a:pt x="3295650" y="17059"/>
                  <a:pt x="3295650" y="38103"/>
                </a:cubicBezTo>
                <a:lnTo>
                  <a:pt x="3295650" y="647697"/>
                </a:lnTo>
                <a:cubicBezTo>
                  <a:pt x="3295650" y="668741"/>
                  <a:pt x="3278591" y="685800"/>
                  <a:pt x="3257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61761" y="3410908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1761" y="367760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stability with regularization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47461" y="4096708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3" y="0"/>
                </a:moveTo>
                <a:lnTo>
                  <a:pt x="3257547" y="0"/>
                </a:lnTo>
                <a:cubicBezTo>
                  <a:pt x="3278591" y="0"/>
                  <a:pt x="3295650" y="17059"/>
                  <a:pt x="3295650" y="38103"/>
                </a:cubicBezTo>
                <a:lnTo>
                  <a:pt x="3295650" y="647697"/>
                </a:lnTo>
                <a:cubicBezTo>
                  <a:pt x="3295650" y="668741"/>
                  <a:pt x="3278591" y="685800"/>
                  <a:pt x="3257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61761" y="4211008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1761" y="447770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overfitting risk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10181" y="2488882"/>
            <a:ext cx="3691890" cy="2491740"/>
          </a:xfrm>
          <a:custGeom>
            <a:avLst/>
            <a:gdLst/>
            <a:ahLst/>
            <a:cxnLst/>
            <a:rect l="l" t="t" r="r" b="b"/>
            <a:pathLst>
              <a:path w="3691890" h="2491740">
                <a:moveTo>
                  <a:pt x="76197" y="0"/>
                </a:moveTo>
                <a:lnTo>
                  <a:pt x="3615693" y="0"/>
                </a:lnTo>
                <a:cubicBezTo>
                  <a:pt x="3657775" y="0"/>
                  <a:pt x="3691890" y="34115"/>
                  <a:pt x="3691890" y="76197"/>
                </a:cubicBezTo>
                <a:lnTo>
                  <a:pt x="3691890" y="2415543"/>
                </a:lnTo>
                <a:cubicBezTo>
                  <a:pt x="3691890" y="2457625"/>
                  <a:pt x="3657775" y="2491740"/>
                  <a:pt x="3615693" y="2491740"/>
                </a:cubicBezTo>
                <a:lnTo>
                  <a:pt x="76197" y="2491740"/>
                </a:lnTo>
                <a:cubicBezTo>
                  <a:pt x="34115" y="2491740"/>
                  <a:pt x="0" y="2457625"/>
                  <a:pt x="0" y="241554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8300" y="26870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1" name="Shape 29"/>
          <p:cNvSpPr/>
          <p:nvPr/>
        </p:nvSpPr>
        <p:spPr>
          <a:xfrm>
            <a:off x="8441650" y="28203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8879800" y="2782258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08300" y="3296608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3" y="0"/>
                </a:moveTo>
                <a:lnTo>
                  <a:pt x="3257547" y="0"/>
                </a:lnTo>
                <a:cubicBezTo>
                  <a:pt x="3278591" y="0"/>
                  <a:pt x="3295650" y="17059"/>
                  <a:pt x="3295650" y="38103"/>
                </a:cubicBezTo>
                <a:lnTo>
                  <a:pt x="3295650" y="647697"/>
                </a:lnTo>
                <a:cubicBezTo>
                  <a:pt x="3295650" y="668741"/>
                  <a:pt x="3278591" y="685800"/>
                  <a:pt x="3257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422600" y="3410908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22600" y="367760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Produced the highest accuracy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08300" y="4096708"/>
            <a:ext cx="3295650" cy="685800"/>
          </a:xfrm>
          <a:custGeom>
            <a:avLst/>
            <a:gdLst/>
            <a:ahLst/>
            <a:cxnLst/>
            <a:rect l="l" t="t" r="r" b="b"/>
            <a:pathLst>
              <a:path w="3295650" h="685800">
                <a:moveTo>
                  <a:pt x="38103" y="0"/>
                </a:moveTo>
                <a:lnTo>
                  <a:pt x="3257547" y="0"/>
                </a:lnTo>
                <a:cubicBezTo>
                  <a:pt x="3278591" y="0"/>
                  <a:pt x="3295650" y="17059"/>
                  <a:pt x="3295650" y="38103"/>
                </a:cubicBezTo>
                <a:lnTo>
                  <a:pt x="3295650" y="647697"/>
                </a:lnTo>
                <a:cubicBezTo>
                  <a:pt x="3295650" y="668741"/>
                  <a:pt x="3278591" y="685800"/>
                  <a:pt x="32575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22600" y="4211008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22600" y="4477708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Handled nonlinear relationships better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8620" y="5186364"/>
            <a:ext cx="11416665" cy="967740"/>
          </a:xfrm>
          <a:custGeom>
            <a:avLst/>
            <a:gdLst/>
            <a:ahLst/>
            <a:cxnLst/>
            <a:rect l="l" t="t" r="r" b="b"/>
            <a:pathLst>
              <a:path w="11416665" h="967740">
                <a:moveTo>
                  <a:pt x="76200" y="0"/>
                </a:moveTo>
                <a:lnTo>
                  <a:pt x="11340465" y="0"/>
                </a:lnTo>
                <a:cubicBezTo>
                  <a:pt x="11382549" y="0"/>
                  <a:pt x="11416665" y="34116"/>
                  <a:pt x="11416665" y="76200"/>
                </a:cubicBezTo>
                <a:lnTo>
                  <a:pt x="11416665" y="891540"/>
                </a:lnTo>
                <a:cubicBezTo>
                  <a:pt x="11416665" y="933624"/>
                  <a:pt x="11382549" y="967740"/>
                  <a:pt x="11340465" y="967740"/>
                </a:cubicBezTo>
                <a:lnTo>
                  <a:pt x="76200" y="967740"/>
                </a:lnTo>
                <a:cubicBezTo>
                  <a:pt x="34116" y="967740"/>
                  <a:pt x="0" y="933624"/>
                  <a:pt x="0" y="89154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171" y="5498781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07280" y="-12658"/>
                </a:moveTo>
                <a:cubicBezTo>
                  <a:pt x="204534" y="-18016"/>
                  <a:pt x="198976" y="-21431"/>
                  <a:pt x="192948" y="-21431"/>
                </a:cubicBezTo>
                <a:cubicBezTo>
                  <a:pt x="186921" y="-21431"/>
                  <a:pt x="181362" y="-18016"/>
                  <a:pt x="178616" y="-12658"/>
                </a:cubicBezTo>
                <a:lnTo>
                  <a:pt x="129324" y="83917"/>
                </a:lnTo>
                <a:lnTo>
                  <a:pt x="22235" y="100928"/>
                </a:lnTo>
                <a:cubicBezTo>
                  <a:pt x="16274" y="101865"/>
                  <a:pt x="11318" y="106085"/>
                  <a:pt x="9443" y="111844"/>
                </a:cubicBezTo>
                <a:cubicBezTo>
                  <a:pt x="7568" y="117604"/>
                  <a:pt x="9108" y="123899"/>
                  <a:pt x="13328" y="128186"/>
                </a:cubicBezTo>
                <a:lnTo>
                  <a:pt x="89944" y="204869"/>
                </a:lnTo>
                <a:lnTo>
                  <a:pt x="73067" y="311959"/>
                </a:lnTo>
                <a:cubicBezTo>
                  <a:pt x="72130" y="317919"/>
                  <a:pt x="74608" y="323947"/>
                  <a:pt x="79497" y="327496"/>
                </a:cubicBezTo>
                <a:cubicBezTo>
                  <a:pt x="84386" y="331046"/>
                  <a:pt x="90815" y="331582"/>
                  <a:pt x="96240" y="328836"/>
                </a:cubicBezTo>
                <a:lnTo>
                  <a:pt x="192948" y="279678"/>
                </a:lnTo>
                <a:lnTo>
                  <a:pt x="289590" y="328836"/>
                </a:lnTo>
                <a:cubicBezTo>
                  <a:pt x="294948" y="331582"/>
                  <a:pt x="301444" y="331046"/>
                  <a:pt x="306333" y="327496"/>
                </a:cubicBezTo>
                <a:cubicBezTo>
                  <a:pt x="311222" y="323947"/>
                  <a:pt x="313700" y="317986"/>
                  <a:pt x="312762" y="311959"/>
                </a:cubicBezTo>
                <a:lnTo>
                  <a:pt x="295818" y="204869"/>
                </a:lnTo>
                <a:lnTo>
                  <a:pt x="372435" y="128186"/>
                </a:lnTo>
                <a:cubicBezTo>
                  <a:pt x="376721" y="123899"/>
                  <a:pt x="378195" y="117604"/>
                  <a:pt x="376319" y="111844"/>
                </a:cubicBezTo>
                <a:cubicBezTo>
                  <a:pt x="374444" y="106085"/>
                  <a:pt x="369555" y="101865"/>
                  <a:pt x="363528" y="100928"/>
                </a:cubicBezTo>
                <a:lnTo>
                  <a:pt x="256505" y="83917"/>
                </a:lnTo>
                <a:lnTo>
                  <a:pt x="207280" y="-12658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1" name="Text 39"/>
          <p:cNvSpPr/>
          <p:nvPr/>
        </p:nvSpPr>
        <p:spPr>
          <a:xfrm>
            <a:off x="1167765" y="5384481"/>
            <a:ext cx="718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67765" y="5727381"/>
            <a:ext cx="716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outperformed other models by effectively capturing complex, nonlinear patterns in the data.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223" y="329736"/>
            <a:ext cx="1013939" cy="329736"/>
          </a:xfrm>
          <a:custGeom>
            <a:avLst/>
            <a:gdLst/>
            <a:ahLst/>
            <a:cxnLst/>
            <a:rect l="l" t="t" r="r" b="b"/>
            <a:pathLst>
              <a:path w="1013939" h="329736">
                <a:moveTo>
                  <a:pt x="0" y="0"/>
                </a:moveTo>
                <a:lnTo>
                  <a:pt x="1013939" y="0"/>
                </a:lnTo>
                <a:lnTo>
                  <a:pt x="1013939" y="329736"/>
                </a:lnTo>
                <a:lnTo>
                  <a:pt x="0" y="329736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6223" y="329736"/>
            <a:ext cx="32974" cy="329736"/>
          </a:xfrm>
          <a:custGeom>
            <a:avLst/>
            <a:gdLst/>
            <a:ahLst/>
            <a:cxnLst/>
            <a:rect l="l" t="t" r="r" b="b"/>
            <a:pathLst>
              <a:path w="32974" h="329736">
                <a:moveTo>
                  <a:pt x="0" y="0"/>
                </a:moveTo>
                <a:lnTo>
                  <a:pt x="32974" y="0"/>
                </a:lnTo>
                <a:lnTo>
                  <a:pt x="32974" y="329736"/>
                </a:lnTo>
                <a:lnTo>
                  <a:pt x="0" y="329736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94604" y="395684"/>
            <a:ext cx="799611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spc="52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736" y="791367"/>
            <a:ext cx="11730369" cy="395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1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6223" y="1384892"/>
            <a:ext cx="11516041" cy="601769"/>
          </a:xfrm>
          <a:custGeom>
            <a:avLst/>
            <a:gdLst/>
            <a:ahLst/>
            <a:cxnLst/>
            <a:rect l="l" t="t" r="r" b="b"/>
            <a:pathLst>
              <a:path w="11516041" h="601769">
                <a:moveTo>
                  <a:pt x="32971" y="0"/>
                </a:moveTo>
                <a:lnTo>
                  <a:pt x="11483070" y="0"/>
                </a:lnTo>
                <a:cubicBezTo>
                  <a:pt x="11501279" y="0"/>
                  <a:pt x="11516041" y="14762"/>
                  <a:pt x="11516041" y="32971"/>
                </a:cubicBezTo>
                <a:lnTo>
                  <a:pt x="11516041" y="568798"/>
                </a:lnTo>
                <a:cubicBezTo>
                  <a:pt x="11516041" y="587007"/>
                  <a:pt x="11501279" y="601769"/>
                  <a:pt x="11483070" y="601769"/>
                </a:cubicBezTo>
                <a:lnTo>
                  <a:pt x="32971" y="601769"/>
                </a:lnTo>
                <a:cubicBezTo>
                  <a:pt x="14762" y="601769"/>
                  <a:pt x="0" y="587007"/>
                  <a:pt x="0" y="568798"/>
                </a:cubicBezTo>
                <a:lnTo>
                  <a:pt x="0" y="32971"/>
                </a:lnTo>
                <a:cubicBezTo>
                  <a:pt x="0" y="14774"/>
                  <a:pt x="14774" y="0"/>
                  <a:pt x="3297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46223" y="1384892"/>
            <a:ext cx="32974" cy="601769"/>
          </a:xfrm>
          <a:custGeom>
            <a:avLst/>
            <a:gdLst/>
            <a:ahLst/>
            <a:cxnLst/>
            <a:rect l="l" t="t" r="r" b="b"/>
            <a:pathLst>
              <a:path w="32974" h="601769">
                <a:moveTo>
                  <a:pt x="32974" y="0"/>
                </a:moveTo>
                <a:lnTo>
                  <a:pt x="32974" y="0"/>
                </a:lnTo>
                <a:lnTo>
                  <a:pt x="32974" y="601769"/>
                </a:lnTo>
                <a:lnTo>
                  <a:pt x="32974" y="601769"/>
                </a:lnTo>
                <a:cubicBezTo>
                  <a:pt x="14763" y="601769"/>
                  <a:pt x="0" y="587006"/>
                  <a:pt x="0" y="568795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27578" y="1549761"/>
            <a:ext cx="11252252" cy="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of feature importance revealed the key drivers influencing taxi fare predictions.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736" y="2147408"/>
            <a:ext cx="5786872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8" b="1" dirty="0">
                <a:solidFill>
                  <a:srgbClr val="D8A2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Drivers of Taxi Fare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6331" y="2549581"/>
            <a:ext cx="5668167" cy="705636"/>
          </a:xfrm>
          <a:custGeom>
            <a:avLst/>
            <a:gdLst/>
            <a:ahLst/>
            <a:cxnLst/>
            <a:rect l="l" t="t" r="r" b="b"/>
            <a:pathLst>
              <a:path w="5668167" h="705636">
                <a:moveTo>
                  <a:pt x="65949" y="0"/>
                </a:moveTo>
                <a:lnTo>
                  <a:pt x="5602218" y="0"/>
                </a:lnTo>
                <a:cubicBezTo>
                  <a:pt x="5638641" y="0"/>
                  <a:pt x="5668167" y="29526"/>
                  <a:pt x="5668167" y="65949"/>
                </a:cubicBezTo>
                <a:lnTo>
                  <a:pt x="5668167" y="639687"/>
                </a:lnTo>
                <a:cubicBezTo>
                  <a:pt x="5668167" y="676109"/>
                  <a:pt x="5638641" y="705636"/>
                  <a:pt x="5602218" y="705636"/>
                </a:cubicBezTo>
                <a:lnTo>
                  <a:pt x="65949" y="705636"/>
                </a:lnTo>
                <a:cubicBezTo>
                  <a:pt x="29526" y="705636"/>
                  <a:pt x="0" y="676109"/>
                  <a:pt x="0" y="639687"/>
                </a:cubicBezTo>
                <a:lnTo>
                  <a:pt x="0" y="65949"/>
                </a:lnTo>
                <a:cubicBezTo>
                  <a:pt x="0" y="29526"/>
                  <a:pt x="29526" y="0"/>
                  <a:pt x="6594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4820" y="2704562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2" name="Text 10"/>
          <p:cNvSpPr/>
          <p:nvPr/>
        </p:nvSpPr>
        <p:spPr>
          <a:xfrm>
            <a:off x="639688" y="2786996"/>
            <a:ext cx="14838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2398" y="2688075"/>
            <a:ext cx="193720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Distance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2398" y="2918891"/>
            <a:ext cx="1928957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predictor of fare amount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331" y="3367329"/>
            <a:ext cx="5668167" cy="705636"/>
          </a:xfrm>
          <a:custGeom>
            <a:avLst/>
            <a:gdLst/>
            <a:ahLst/>
            <a:cxnLst/>
            <a:rect l="l" t="t" r="r" b="b"/>
            <a:pathLst>
              <a:path w="5668167" h="705636">
                <a:moveTo>
                  <a:pt x="65949" y="0"/>
                </a:moveTo>
                <a:lnTo>
                  <a:pt x="5602218" y="0"/>
                </a:lnTo>
                <a:cubicBezTo>
                  <a:pt x="5638641" y="0"/>
                  <a:pt x="5668167" y="29526"/>
                  <a:pt x="5668167" y="65949"/>
                </a:cubicBezTo>
                <a:lnTo>
                  <a:pt x="5668167" y="639687"/>
                </a:lnTo>
                <a:cubicBezTo>
                  <a:pt x="5668167" y="676109"/>
                  <a:pt x="5638641" y="705636"/>
                  <a:pt x="5602218" y="705636"/>
                </a:cubicBezTo>
                <a:lnTo>
                  <a:pt x="65949" y="705636"/>
                </a:lnTo>
                <a:cubicBezTo>
                  <a:pt x="29526" y="705636"/>
                  <a:pt x="0" y="676109"/>
                  <a:pt x="0" y="639687"/>
                </a:cubicBezTo>
                <a:lnTo>
                  <a:pt x="0" y="65949"/>
                </a:lnTo>
                <a:cubicBezTo>
                  <a:pt x="0" y="29526"/>
                  <a:pt x="29526" y="0"/>
                  <a:pt x="6594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820" y="3522310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7" name="Text 15"/>
          <p:cNvSpPr/>
          <p:nvPr/>
        </p:nvSpPr>
        <p:spPr>
          <a:xfrm>
            <a:off x="624747" y="3604744"/>
            <a:ext cx="18135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2398" y="3505823"/>
            <a:ext cx="170638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Duration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2398" y="3736639"/>
            <a:ext cx="169814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Time-based fare component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6331" y="4185077"/>
            <a:ext cx="5668167" cy="705636"/>
          </a:xfrm>
          <a:custGeom>
            <a:avLst/>
            <a:gdLst/>
            <a:ahLst/>
            <a:cxnLst/>
            <a:rect l="l" t="t" r="r" b="b"/>
            <a:pathLst>
              <a:path w="5668167" h="705636">
                <a:moveTo>
                  <a:pt x="65949" y="0"/>
                </a:moveTo>
                <a:lnTo>
                  <a:pt x="5602218" y="0"/>
                </a:lnTo>
                <a:cubicBezTo>
                  <a:pt x="5638641" y="0"/>
                  <a:pt x="5668167" y="29526"/>
                  <a:pt x="5668167" y="65949"/>
                </a:cubicBezTo>
                <a:lnTo>
                  <a:pt x="5668167" y="639687"/>
                </a:lnTo>
                <a:cubicBezTo>
                  <a:pt x="5668167" y="676109"/>
                  <a:pt x="5638641" y="705636"/>
                  <a:pt x="5602218" y="705636"/>
                </a:cubicBezTo>
                <a:lnTo>
                  <a:pt x="65949" y="705636"/>
                </a:lnTo>
                <a:cubicBezTo>
                  <a:pt x="29526" y="705636"/>
                  <a:pt x="0" y="676109"/>
                  <a:pt x="0" y="639687"/>
                </a:cubicBezTo>
                <a:lnTo>
                  <a:pt x="0" y="65949"/>
                </a:lnTo>
                <a:cubicBezTo>
                  <a:pt x="0" y="29526"/>
                  <a:pt x="29526" y="0"/>
                  <a:pt x="6594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820" y="4340050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2" name="Text 20"/>
          <p:cNvSpPr/>
          <p:nvPr/>
        </p:nvSpPr>
        <p:spPr>
          <a:xfrm>
            <a:off x="624026" y="4422484"/>
            <a:ext cx="18135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2398" y="4323563"/>
            <a:ext cx="1813550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Pickup Hour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2398" y="4554378"/>
            <a:ext cx="180530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Time-of-day pricing variations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6331" y="5002824"/>
            <a:ext cx="5668167" cy="705636"/>
          </a:xfrm>
          <a:custGeom>
            <a:avLst/>
            <a:gdLst/>
            <a:ahLst/>
            <a:cxnLst/>
            <a:rect l="l" t="t" r="r" b="b"/>
            <a:pathLst>
              <a:path w="5668167" h="705636">
                <a:moveTo>
                  <a:pt x="65949" y="0"/>
                </a:moveTo>
                <a:lnTo>
                  <a:pt x="5602218" y="0"/>
                </a:lnTo>
                <a:cubicBezTo>
                  <a:pt x="5638641" y="0"/>
                  <a:pt x="5668167" y="29526"/>
                  <a:pt x="5668167" y="65949"/>
                </a:cubicBezTo>
                <a:lnTo>
                  <a:pt x="5668167" y="639687"/>
                </a:lnTo>
                <a:cubicBezTo>
                  <a:pt x="5668167" y="676109"/>
                  <a:pt x="5638641" y="705636"/>
                  <a:pt x="5602218" y="705636"/>
                </a:cubicBezTo>
                <a:lnTo>
                  <a:pt x="65949" y="705636"/>
                </a:lnTo>
                <a:cubicBezTo>
                  <a:pt x="29526" y="705636"/>
                  <a:pt x="0" y="676109"/>
                  <a:pt x="0" y="639687"/>
                </a:cubicBezTo>
                <a:lnTo>
                  <a:pt x="0" y="65949"/>
                </a:lnTo>
                <a:cubicBezTo>
                  <a:pt x="0" y="29526"/>
                  <a:pt x="29526" y="0"/>
                  <a:pt x="6594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820" y="5157797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7" name="Text 25"/>
          <p:cNvSpPr/>
          <p:nvPr/>
        </p:nvSpPr>
        <p:spPr>
          <a:xfrm>
            <a:off x="624026" y="5240231"/>
            <a:ext cx="18135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2398" y="5141310"/>
            <a:ext cx="1813550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Borough Location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2398" y="5372126"/>
            <a:ext cx="1805306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pricing differences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6331" y="5820572"/>
            <a:ext cx="5668167" cy="705636"/>
          </a:xfrm>
          <a:custGeom>
            <a:avLst/>
            <a:gdLst/>
            <a:ahLst/>
            <a:cxnLst/>
            <a:rect l="l" t="t" r="r" b="b"/>
            <a:pathLst>
              <a:path w="5668167" h="705636">
                <a:moveTo>
                  <a:pt x="65949" y="0"/>
                </a:moveTo>
                <a:lnTo>
                  <a:pt x="5602218" y="0"/>
                </a:lnTo>
                <a:cubicBezTo>
                  <a:pt x="5638641" y="0"/>
                  <a:pt x="5668167" y="29526"/>
                  <a:pt x="5668167" y="65949"/>
                </a:cubicBezTo>
                <a:lnTo>
                  <a:pt x="5668167" y="639687"/>
                </a:lnTo>
                <a:cubicBezTo>
                  <a:pt x="5668167" y="676109"/>
                  <a:pt x="5638641" y="705636"/>
                  <a:pt x="5602218" y="705636"/>
                </a:cubicBezTo>
                <a:lnTo>
                  <a:pt x="65949" y="705636"/>
                </a:lnTo>
                <a:cubicBezTo>
                  <a:pt x="29526" y="705636"/>
                  <a:pt x="0" y="676109"/>
                  <a:pt x="0" y="639687"/>
                </a:cubicBezTo>
                <a:lnTo>
                  <a:pt x="0" y="65949"/>
                </a:lnTo>
                <a:cubicBezTo>
                  <a:pt x="0" y="29526"/>
                  <a:pt x="29526" y="0"/>
                  <a:pt x="6594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4820" y="5975545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625159" y="6057979"/>
            <a:ext cx="18135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2398" y="5959058"/>
            <a:ext cx="157449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Rush Hour Indicator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2398" y="6189873"/>
            <a:ext cx="1566247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period pricing effects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5441" y="2800184"/>
            <a:ext cx="5668167" cy="3079737"/>
          </a:xfrm>
          <a:custGeom>
            <a:avLst/>
            <a:gdLst/>
            <a:ahLst/>
            <a:cxnLst/>
            <a:rect l="l" t="t" r="r" b="b"/>
            <a:pathLst>
              <a:path w="5668167" h="3079737">
                <a:moveTo>
                  <a:pt x="65937" y="0"/>
                </a:moveTo>
                <a:lnTo>
                  <a:pt x="5602230" y="0"/>
                </a:lnTo>
                <a:cubicBezTo>
                  <a:pt x="5638646" y="0"/>
                  <a:pt x="5668167" y="29521"/>
                  <a:pt x="5668167" y="65937"/>
                </a:cubicBezTo>
                <a:lnTo>
                  <a:pt x="5668167" y="3013800"/>
                </a:lnTo>
                <a:cubicBezTo>
                  <a:pt x="5668167" y="3050216"/>
                  <a:pt x="5638646" y="3079737"/>
                  <a:pt x="5602230" y="3079737"/>
                </a:cubicBezTo>
                <a:lnTo>
                  <a:pt x="65937" y="3079737"/>
                </a:lnTo>
                <a:cubicBezTo>
                  <a:pt x="29521" y="3079737"/>
                  <a:pt x="0" y="3050216"/>
                  <a:pt x="0" y="3013800"/>
                </a:cubicBezTo>
                <a:lnTo>
                  <a:pt x="0" y="65937"/>
                </a:lnTo>
                <a:cubicBezTo>
                  <a:pt x="0" y="29545"/>
                  <a:pt x="29545" y="0"/>
                  <a:pt x="6593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270000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3126" y="3004617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259667" y="272032"/>
                </a:moveTo>
                <a:cubicBezTo>
                  <a:pt x="334785" y="272032"/>
                  <a:pt x="395684" y="211134"/>
                  <a:pt x="395684" y="136016"/>
                </a:cubicBezTo>
                <a:cubicBezTo>
                  <a:pt x="395684" y="60898"/>
                  <a:pt x="334785" y="0"/>
                  <a:pt x="259667" y="0"/>
                </a:cubicBezTo>
                <a:cubicBezTo>
                  <a:pt x="184549" y="0"/>
                  <a:pt x="123651" y="60898"/>
                  <a:pt x="123651" y="136016"/>
                </a:cubicBezTo>
                <a:cubicBezTo>
                  <a:pt x="123651" y="150468"/>
                  <a:pt x="125892" y="164456"/>
                  <a:pt x="130066" y="177517"/>
                </a:cubicBezTo>
                <a:lnTo>
                  <a:pt x="5410" y="302172"/>
                </a:lnTo>
                <a:cubicBezTo>
                  <a:pt x="1932" y="305650"/>
                  <a:pt x="0" y="310364"/>
                  <a:pt x="0" y="315310"/>
                </a:cubicBezTo>
                <a:lnTo>
                  <a:pt x="0" y="377136"/>
                </a:lnTo>
                <a:cubicBezTo>
                  <a:pt x="0" y="387414"/>
                  <a:pt x="8269" y="395684"/>
                  <a:pt x="18548" y="395684"/>
                </a:cubicBezTo>
                <a:lnTo>
                  <a:pt x="80373" y="395684"/>
                </a:lnTo>
                <a:cubicBezTo>
                  <a:pt x="90652" y="395684"/>
                  <a:pt x="98921" y="387414"/>
                  <a:pt x="98921" y="377136"/>
                </a:cubicBezTo>
                <a:lnTo>
                  <a:pt x="98921" y="346223"/>
                </a:lnTo>
                <a:lnTo>
                  <a:pt x="129834" y="346223"/>
                </a:lnTo>
                <a:cubicBezTo>
                  <a:pt x="140112" y="346223"/>
                  <a:pt x="148381" y="337954"/>
                  <a:pt x="148381" y="327675"/>
                </a:cubicBezTo>
                <a:lnTo>
                  <a:pt x="148381" y="296763"/>
                </a:lnTo>
                <a:lnTo>
                  <a:pt x="179294" y="296763"/>
                </a:lnTo>
                <a:cubicBezTo>
                  <a:pt x="184240" y="296763"/>
                  <a:pt x="188954" y="294831"/>
                  <a:pt x="192432" y="291353"/>
                </a:cubicBezTo>
                <a:lnTo>
                  <a:pt x="218167" y="265618"/>
                </a:lnTo>
                <a:cubicBezTo>
                  <a:pt x="231228" y="269791"/>
                  <a:pt x="245216" y="272032"/>
                  <a:pt x="259667" y="272032"/>
                </a:cubicBezTo>
                <a:close/>
                <a:moveTo>
                  <a:pt x="290580" y="74191"/>
                </a:moveTo>
                <a:cubicBezTo>
                  <a:pt x="307641" y="74191"/>
                  <a:pt x="321493" y="88042"/>
                  <a:pt x="321493" y="105103"/>
                </a:cubicBezTo>
                <a:cubicBezTo>
                  <a:pt x="321493" y="122165"/>
                  <a:pt x="307641" y="136016"/>
                  <a:pt x="290580" y="136016"/>
                </a:cubicBezTo>
                <a:cubicBezTo>
                  <a:pt x="273519" y="136016"/>
                  <a:pt x="259667" y="122165"/>
                  <a:pt x="259667" y="105103"/>
                </a:cubicBezTo>
                <a:cubicBezTo>
                  <a:pt x="259667" y="88042"/>
                  <a:pt x="273519" y="74191"/>
                  <a:pt x="290580" y="74191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7" name="Text 35"/>
          <p:cNvSpPr/>
          <p:nvPr/>
        </p:nvSpPr>
        <p:spPr>
          <a:xfrm>
            <a:off x="6328052" y="3532196"/>
            <a:ext cx="5382945" cy="29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4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Strongest Predictors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9878" y="4026800"/>
            <a:ext cx="5259294" cy="758394"/>
          </a:xfrm>
          <a:custGeom>
            <a:avLst/>
            <a:gdLst/>
            <a:ahLst/>
            <a:cxnLst/>
            <a:rect l="l" t="t" r="r" b="b"/>
            <a:pathLst>
              <a:path w="5259294" h="758394">
                <a:moveTo>
                  <a:pt x="32975" y="0"/>
                </a:moveTo>
                <a:lnTo>
                  <a:pt x="5226319" y="0"/>
                </a:lnTo>
                <a:cubicBezTo>
                  <a:pt x="5244531" y="0"/>
                  <a:pt x="5259294" y="14763"/>
                  <a:pt x="5259294" y="32975"/>
                </a:cubicBezTo>
                <a:lnTo>
                  <a:pt x="5259294" y="725419"/>
                </a:lnTo>
                <a:cubicBezTo>
                  <a:pt x="5259294" y="743630"/>
                  <a:pt x="5244531" y="758394"/>
                  <a:pt x="5226319" y="758394"/>
                </a:cubicBezTo>
                <a:lnTo>
                  <a:pt x="32975" y="758394"/>
                </a:lnTo>
                <a:cubicBezTo>
                  <a:pt x="14763" y="758394"/>
                  <a:pt x="0" y="743630"/>
                  <a:pt x="0" y="725419"/>
                </a:cubicBezTo>
                <a:lnTo>
                  <a:pt x="0" y="32975"/>
                </a:lnTo>
                <a:cubicBezTo>
                  <a:pt x="0" y="14763"/>
                  <a:pt x="14763" y="0"/>
                  <a:pt x="329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46502" y="4175181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86517" y="12365"/>
                </a:moveTo>
                <a:lnTo>
                  <a:pt x="57073" y="12365"/>
                </a:lnTo>
                <a:cubicBezTo>
                  <a:pt x="45712" y="12365"/>
                  <a:pt x="35782" y="20132"/>
                  <a:pt x="33077" y="31145"/>
                </a:cubicBezTo>
                <a:lnTo>
                  <a:pt x="541" y="162485"/>
                </a:lnTo>
                <a:cubicBezTo>
                  <a:pt x="-2357" y="174155"/>
                  <a:pt x="6492" y="185477"/>
                  <a:pt x="18548" y="185477"/>
                </a:cubicBezTo>
                <a:lnTo>
                  <a:pt x="86517" y="185477"/>
                </a:lnTo>
                <a:lnTo>
                  <a:pt x="86517" y="160746"/>
                </a:lnTo>
                <a:cubicBezTo>
                  <a:pt x="86517" y="153907"/>
                  <a:pt x="92043" y="148381"/>
                  <a:pt x="98882" y="148381"/>
                </a:cubicBezTo>
                <a:cubicBezTo>
                  <a:pt x="105722" y="148381"/>
                  <a:pt x="111247" y="153907"/>
                  <a:pt x="111247" y="160746"/>
                </a:cubicBezTo>
                <a:lnTo>
                  <a:pt x="111247" y="185477"/>
                </a:lnTo>
                <a:lnTo>
                  <a:pt x="179294" y="185477"/>
                </a:lnTo>
                <a:cubicBezTo>
                  <a:pt x="191350" y="185477"/>
                  <a:pt x="200199" y="174155"/>
                  <a:pt x="197301" y="162485"/>
                </a:cubicBezTo>
                <a:lnTo>
                  <a:pt x="164804" y="31145"/>
                </a:lnTo>
                <a:cubicBezTo>
                  <a:pt x="162060" y="20132"/>
                  <a:pt x="152168" y="12365"/>
                  <a:pt x="140769" y="12365"/>
                </a:cubicBezTo>
                <a:lnTo>
                  <a:pt x="111247" y="12365"/>
                </a:lnTo>
                <a:lnTo>
                  <a:pt x="111247" y="37095"/>
                </a:lnTo>
                <a:cubicBezTo>
                  <a:pt x="111247" y="43935"/>
                  <a:pt x="105722" y="49460"/>
                  <a:pt x="98882" y="49460"/>
                </a:cubicBezTo>
                <a:cubicBezTo>
                  <a:pt x="92043" y="49460"/>
                  <a:pt x="86517" y="43935"/>
                  <a:pt x="86517" y="37095"/>
                </a:cubicBezTo>
                <a:lnTo>
                  <a:pt x="86517" y="12365"/>
                </a:lnTo>
                <a:close/>
                <a:moveTo>
                  <a:pt x="111247" y="86556"/>
                </a:moveTo>
                <a:lnTo>
                  <a:pt x="111247" y="111286"/>
                </a:lnTo>
                <a:cubicBezTo>
                  <a:pt x="111247" y="118125"/>
                  <a:pt x="105722" y="123651"/>
                  <a:pt x="98882" y="123651"/>
                </a:cubicBezTo>
                <a:cubicBezTo>
                  <a:pt x="92043" y="123651"/>
                  <a:pt x="86517" y="118125"/>
                  <a:pt x="86517" y="111286"/>
                </a:cubicBezTo>
                <a:lnTo>
                  <a:pt x="86517" y="86556"/>
                </a:lnTo>
                <a:cubicBezTo>
                  <a:pt x="86517" y="79716"/>
                  <a:pt x="92043" y="74191"/>
                  <a:pt x="98882" y="74191"/>
                </a:cubicBezTo>
                <a:cubicBezTo>
                  <a:pt x="105722" y="74191"/>
                  <a:pt x="111247" y="79716"/>
                  <a:pt x="111247" y="8655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0" name="Text 38"/>
          <p:cNvSpPr/>
          <p:nvPr/>
        </p:nvSpPr>
        <p:spPr>
          <a:xfrm>
            <a:off x="6867995" y="4158695"/>
            <a:ext cx="1022183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Distance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21772" y="4455457"/>
            <a:ext cx="506145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influential factor - longer distances directly correlate with higher fares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9878" y="4917088"/>
            <a:ext cx="5259294" cy="758394"/>
          </a:xfrm>
          <a:custGeom>
            <a:avLst/>
            <a:gdLst/>
            <a:ahLst/>
            <a:cxnLst/>
            <a:rect l="l" t="t" r="r" b="b"/>
            <a:pathLst>
              <a:path w="5259294" h="758394">
                <a:moveTo>
                  <a:pt x="32975" y="0"/>
                </a:moveTo>
                <a:lnTo>
                  <a:pt x="5226319" y="0"/>
                </a:lnTo>
                <a:cubicBezTo>
                  <a:pt x="5244531" y="0"/>
                  <a:pt x="5259294" y="14763"/>
                  <a:pt x="5259294" y="32975"/>
                </a:cubicBezTo>
                <a:lnTo>
                  <a:pt x="5259294" y="725419"/>
                </a:lnTo>
                <a:cubicBezTo>
                  <a:pt x="5259294" y="743630"/>
                  <a:pt x="5244531" y="758394"/>
                  <a:pt x="5226319" y="758394"/>
                </a:cubicBezTo>
                <a:lnTo>
                  <a:pt x="32975" y="758394"/>
                </a:lnTo>
                <a:cubicBezTo>
                  <a:pt x="14763" y="758394"/>
                  <a:pt x="0" y="743630"/>
                  <a:pt x="0" y="725419"/>
                </a:cubicBezTo>
                <a:lnTo>
                  <a:pt x="0" y="32975"/>
                </a:lnTo>
                <a:cubicBezTo>
                  <a:pt x="0" y="14763"/>
                  <a:pt x="14763" y="0"/>
                  <a:pt x="3297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58868" y="5065469"/>
            <a:ext cx="173112" cy="197842"/>
          </a:xfrm>
          <a:custGeom>
            <a:avLst/>
            <a:gdLst/>
            <a:ahLst/>
            <a:cxnLst/>
            <a:rect l="l" t="t" r="r" b="b"/>
            <a:pathLst>
              <a:path w="173112" h="197842">
                <a:moveTo>
                  <a:pt x="65110" y="0"/>
                </a:moveTo>
                <a:cubicBezTo>
                  <a:pt x="59971" y="0"/>
                  <a:pt x="55836" y="4135"/>
                  <a:pt x="55836" y="9274"/>
                </a:cubicBezTo>
                <a:cubicBezTo>
                  <a:pt x="55836" y="14413"/>
                  <a:pt x="59971" y="18548"/>
                  <a:pt x="65110" y="18548"/>
                </a:cubicBezTo>
                <a:lnTo>
                  <a:pt x="77475" y="18548"/>
                </a:lnTo>
                <a:lnTo>
                  <a:pt x="77475" y="28324"/>
                </a:lnTo>
                <a:cubicBezTo>
                  <a:pt x="35743" y="32922"/>
                  <a:pt x="3284" y="68317"/>
                  <a:pt x="3284" y="111286"/>
                </a:cubicBezTo>
                <a:cubicBezTo>
                  <a:pt x="3284" y="157385"/>
                  <a:pt x="40650" y="194751"/>
                  <a:pt x="86749" y="194751"/>
                </a:cubicBezTo>
                <a:cubicBezTo>
                  <a:pt x="132848" y="194751"/>
                  <a:pt x="170213" y="157385"/>
                  <a:pt x="170213" y="111286"/>
                </a:cubicBezTo>
                <a:cubicBezTo>
                  <a:pt x="170213" y="95907"/>
                  <a:pt x="166040" y="81494"/>
                  <a:pt x="158776" y="69090"/>
                </a:cubicBezTo>
                <a:lnTo>
                  <a:pt x="169673" y="58193"/>
                </a:lnTo>
                <a:cubicBezTo>
                  <a:pt x="174503" y="53363"/>
                  <a:pt x="174503" y="45519"/>
                  <a:pt x="169673" y="40689"/>
                </a:cubicBezTo>
                <a:cubicBezTo>
                  <a:pt x="164842" y="35859"/>
                  <a:pt x="156998" y="35859"/>
                  <a:pt x="152168" y="40689"/>
                </a:cubicBezTo>
                <a:lnTo>
                  <a:pt x="143126" y="49731"/>
                </a:lnTo>
                <a:cubicBezTo>
                  <a:pt x="130413" y="38061"/>
                  <a:pt x="114068" y="30295"/>
                  <a:pt x="95984" y="28285"/>
                </a:cubicBezTo>
                <a:lnTo>
                  <a:pt x="95984" y="18509"/>
                </a:lnTo>
                <a:lnTo>
                  <a:pt x="108349" y="18509"/>
                </a:lnTo>
                <a:cubicBezTo>
                  <a:pt x="113489" y="18509"/>
                  <a:pt x="117623" y="14374"/>
                  <a:pt x="117623" y="9235"/>
                </a:cubicBezTo>
                <a:cubicBezTo>
                  <a:pt x="117623" y="4096"/>
                  <a:pt x="113489" y="-39"/>
                  <a:pt x="108349" y="-39"/>
                </a:cubicBezTo>
                <a:lnTo>
                  <a:pt x="65071" y="-39"/>
                </a:lnTo>
                <a:close/>
                <a:moveTo>
                  <a:pt x="96023" y="71099"/>
                </a:moveTo>
                <a:lnTo>
                  <a:pt x="96023" y="111286"/>
                </a:lnTo>
                <a:cubicBezTo>
                  <a:pt x="96023" y="116425"/>
                  <a:pt x="91888" y="120560"/>
                  <a:pt x="86749" y="120560"/>
                </a:cubicBezTo>
                <a:cubicBezTo>
                  <a:pt x="81610" y="120560"/>
                  <a:pt x="77475" y="116425"/>
                  <a:pt x="77475" y="111286"/>
                </a:cubicBezTo>
                <a:lnTo>
                  <a:pt x="77475" y="71099"/>
                </a:lnTo>
                <a:cubicBezTo>
                  <a:pt x="77475" y="65960"/>
                  <a:pt x="81610" y="61826"/>
                  <a:pt x="86749" y="61826"/>
                </a:cubicBezTo>
                <a:cubicBezTo>
                  <a:pt x="91888" y="61826"/>
                  <a:pt x="96023" y="65960"/>
                  <a:pt x="96023" y="71099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4" name="Text 42"/>
          <p:cNvSpPr/>
          <p:nvPr/>
        </p:nvSpPr>
        <p:spPr>
          <a:xfrm>
            <a:off x="6867995" y="5048983"/>
            <a:ext cx="1022183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Duration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21772" y="5345745"/>
            <a:ext cx="5061452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 strongest predictor - time spent in traffic affects total cost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984250" cy="317500"/>
          </a:xfrm>
          <a:custGeom>
            <a:avLst/>
            <a:gdLst/>
            <a:ahLst/>
            <a:cxnLst/>
            <a:rect l="l" t="t" r="r" b="b"/>
            <a:pathLst>
              <a:path w="984250" h="317500">
                <a:moveTo>
                  <a:pt x="0" y="0"/>
                </a:moveTo>
                <a:lnTo>
                  <a:pt x="984250" y="0"/>
                </a:lnTo>
                <a:lnTo>
                  <a:pt x="9842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381000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333500"/>
            <a:ext cx="11541125" cy="579438"/>
          </a:xfrm>
          <a:custGeom>
            <a:avLst/>
            <a:gdLst/>
            <a:ahLst/>
            <a:cxnLst/>
            <a:rect l="l" t="t" r="r" b="b"/>
            <a:pathLst>
              <a:path w="11541125" h="579438">
                <a:moveTo>
                  <a:pt x="31747" y="0"/>
                </a:moveTo>
                <a:lnTo>
                  <a:pt x="11509378" y="0"/>
                </a:lnTo>
                <a:cubicBezTo>
                  <a:pt x="11526911" y="0"/>
                  <a:pt x="11541125" y="14214"/>
                  <a:pt x="11541125" y="31747"/>
                </a:cubicBezTo>
                <a:lnTo>
                  <a:pt x="11541125" y="547690"/>
                </a:lnTo>
                <a:cubicBezTo>
                  <a:pt x="11541125" y="565224"/>
                  <a:pt x="11526911" y="579437"/>
                  <a:pt x="11509378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333500"/>
            <a:ext cx="31750" cy="579438"/>
          </a:xfrm>
          <a:custGeom>
            <a:avLst/>
            <a:gdLst/>
            <a:ahLst/>
            <a:cxnLst/>
            <a:rect l="l" t="t" r="r" b="b"/>
            <a:pathLst>
              <a:path w="31750" h="579438">
                <a:moveTo>
                  <a:pt x="31750" y="0"/>
                </a:moveTo>
                <a:lnTo>
                  <a:pt x="31750" y="0"/>
                </a:lnTo>
                <a:lnTo>
                  <a:pt x="31750" y="579438"/>
                </a:ln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492250"/>
            <a:ext cx="112871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improvements were achieved through strategic feature engineering and data refinement.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850" y="2074069"/>
            <a:ext cx="5688013" cy="1790700"/>
          </a:xfrm>
          <a:custGeom>
            <a:avLst/>
            <a:gdLst/>
            <a:ahLst/>
            <a:cxnLst/>
            <a:rect l="l" t="t" r="r" b="b"/>
            <a:pathLst>
              <a:path w="5688013" h="1790700">
                <a:moveTo>
                  <a:pt x="63498" y="0"/>
                </a:moveTo>
                <a:lnTo>
                  <a:pt x="5624514" y="0"/>
                </a:lnTo>
                <a:cubicBezTo>
                  <a:pt x="5659583" y="0"/>
                  <a:pt x="5688013" y="28429"/>
                  <a:pt x="5688013" y="63498"/>
                </a:cubicBezTo>
                <a:lnTo>
                  <a:pt x="5688013" y="1727202"/>
                </a:lnTo>
                <a:cubicBezTo>
                  <a:pt x="5688013" y="1762271"/>
                  <a:pt x="5659583" y="1790700"/>
                  <a:pt x="5624514" y="1790700"/>
                </a:cubicBezTo>
                <a:lnTo>
                  <a:pt x="63498" y="1790700"/>
                </a:lnTo>
                <a:cubicBezTo>
                  <a:pt x="28429" y="1790700"/>
                  <a:pt x="0" y="1762271"/>
                  <a:pt x="0" y="172720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8950" y="223917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615950" y="23661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060450" y="2334423"/>
            <a:ext cx="1889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8950" y="2810673"/>
            <a:ext cx="5421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Added temporal variables to capture rush hour effects, weekend patterns, and hourly demand fluctuations.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8950" y="3318673"/>
            <a:ext cx="5357813" cy="381000"/>
          </a:xfrm>
          <a:custGeom>
            <a:avLst/>
            <a:gdLst/>
            <a:ahLst/>
            <a:cxnLst/>
            <a:rect l="l" t="t" r="r" b="b"/>
            <a:pathLst>
              <a:path w="5357813" h="381000">
                <a:moveTo>
                  <a:pt x="31749" y="0"/>
                </a:moveTo>
                <a:lnTo>
                  <a:pt x="5326064" y="0"/>
                </a:lnTo>
                <a:cubicBezTo>
                  <a:pt x="5343598" y="0"/>
                  <a:pt x="5357813" y="14214"/>
                  <a:pt x="5357813" y="31749"/>
                </a:cubicBezTo>
                <a:lnTo>
                  <a:pt x="5357813" y="349251"/>
                </a:lnTo>
                <a:cubicBezTo>
                  <a:pt x="5357813" y="366786"/>
                  <a:pt x="5343598" y="381000"/>
                  <a:pt x="53260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15950" y="3439317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782637" y="3413923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time-based pricing predictions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3850" y="4004470"/>
            <a:ext cx="5688013" cy="1584325"/>
          </a:xfrm>
          <a:custGeom>
            <a:avLst/>
            <a:gdLst/>
            <a:ahLst/>
            <a:cxnLst/>
            <a:rect l="l" t="t" r="r" b="b"/>
            <a:pathLst>
              <a:path w="5688013" h="1584325">
                <a:moveTo>
                  <a:pt x="63500" y="0"/>
                </a:moveTo>
                <a:lnTo>
                  <a:pt x="5624513" y="0"/>
                </a:lnTo>
                <a:cubicBezTo>
                  <a:pt x="5659583" y="0"/>
                  <a:pt x="5688013" y="28430"/>
                  <a:pt x="5688013" y="63500"/>
                </a:cubicBezTo>
                <a:lnTo>
                  <a:pt x="5688013" y="1520825"/>
                </a:lnTo>
                <a:cubicBezTo>
                  <a:pt x="5688013" y="1555895"/>
                  <a:pt x="5659583" y="1584325"/>
                  <a:pt x="5624513" y="1584325"/>
                </a:cubicBezTo>
                <a:lnTo>
                  <a:pt x="63500" y="1584325"/>
                </a:lnTo>
                <a:cubicBezTo>
                  <a:pt x="28430" y="1584325"/>
                  <a:pt x="0" y="1555895"/>
                  <a:pt x="0" y="152082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950" y="4169567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Shape 17"/>
          <p:cNvSpPr/>
          <p:nvPr/>
        </p:nvSpPr>
        <p:spPr>
          <a:xfrm>
            <a:off x="592137" y="429656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14313" y="17859"/>
                </a:moveTo>
                <a:cubicBezTo>
                  <a:pt x="214313" y="13729"/>
                  <a:pt x="212192" y="9897"/>
                  <a:pt x="208657" y="7739"/>
                </a:cubicBezTo>
                <a:cubicBezTo>
                  <a:pt x="205122" y="5581"/>
                  <a:pt x="200769" y="5358"/>
                  <a:pt x="197086" y="7218"/>
                </a:cubicBezTo>
                <a:lnTo>
                  <a:pt x="153851" y="28835"/>
                </a:lnTo>
                <a:lnTo>
                  <a:pt x="87102" y="6548"/>
                </a:lnTo>
                <a:cubicBezTo>
                  <a:pt x="84088" y="5544"/>
                  <a:pt x="80851" y="5767"/>
                  <a:pt x="78023" y="7181"/>
                </a:cubicBezTo>
                <a:lnTo>
                  <a:pt x="30398" y="30993"/>
                </a:lnTo>
                <a:cubicBezTo>
                  <a:pt x="26343" y="33040"/>
                  <a:pt x="23812" y="37170"/>
                  <a:pt x="23812" y="41672"/>
                </a:cubicBezTo>
                <a:lnTo>
                  <a:pt x="23812" y="172641"/>
                </a:lnTo>
                <a:cubicBezTo>
                  <a:pt x="23812" y="176771"/>
                  <a:pt x="25933" y="180603"/>
                  <a:pt x="29468" y="182761"/>
                </a:cubicBezTo>
                <a:cubicBezTo>
                  <a:pt x="33003" y="184919"/>
                  <a:pt x="37356" y="185142"/>
                  <a:pt x="41039" y="183282"/>
                </a:cubicBezTo>
                <a:lnTo>
                  <a:pt x="84237" y="161665"/>
                </a:lnTo>
                <a:lnTo>
                  <a:pt x="148717" y="183170"/>
                </a:lnTo>
                <a:cubicBezTo>
                  <a:pt x="147117" y="180789"/>
                  <a:pt x="145554" y="178296"/>
                  <a:pt x="144028" y="175766"/>
                </a:cubicBezTo>
                <a:cubicBezTo>
                  <a:pt x="139936" y="168957"/>
                  <a:pt x="135880" y="161144"/>
                  <a:pt x="132866" y="152772"/>
                </a:cubicBezTo>
                <a:lnTo>
                  <a:pt x="95213" y="140233"/>
                </a:lnTo>
                <a:lnTo>
                  <a:pt x="95213" y="34379"/>
                </a:lnTo>
                <a:lnTo>
                  <a:pt x="142838" y="50267"/>
                </a:lnTo>
                <a:lnTo>
                  <a:pt x="142838" y="87213"/>
                </a:lnTo>
                <a:cubicBezTo>
                  <a:pt x="154372" y="73893"/>
                  <a:pt x="171487" y="65484"/>
                  <a:pt x="190463" y="65484"/>
                </a:cubicBezTo>
                <a:cubicBezTo>
                  <a:pt x="198872" y="65484"/>
                  <a:pt x="206908" y="67121"/>
                  <a:pt x="214275" y="70135"/>
                </a:cubicBezTo>
                <a:lnTo>
                  <a:pt x="214313" y="17859"/>
                </a:lnTo>
                <a:close/>
                <a:moveTo>
                  <a:pt x="190500" y="83344"/>
                </a:moveTo>
                <a:cubicBezTo>
                  <a:pt x="165832" y="83344"/>
                  <a:pt x="145852" y="102989"/>
                  <a:pt x="145852" y="127211"/>
                </a:cubicBezTo>
                <a:cubicBezTo>
                  <a:pt x="145852" y="152846"/>
                  <a:pt x="169701" y="183170"/>
                  <a:pt x="182538" y="197644"/>
                </a:cubicBezTo>
                <a:cubicBezTo>
                  <a:pt x="186854" y="202481"/>
                  <a:pt x="194183" y="202481"/>
                  <a:pt x="198500" y="197644"/>
                </a:cubicBezTo>
                <a:cubicBezTo>
                  <a:pt x="211336" y="183170"/>
                  <a:pt x="235186" y="152846"/>
                  <a:pt x="235186" y="127211"/>
                </a:cubicBezTo>
                <a:cubicBezTo>
                  <a:pt x="235186" y="102989"/>
                  <a:pt x="215205" y="83344"/>
                  <a:pt x="190537" y="83344"/>
                </a:cubicBezTo>
                <a:close/>
                <a:moveTo>
                  <a:pt x="175617" y="127992"/>
                </a:moveTo>
                <a:cubicBezTo>
                  <a:pt x="175617" y="119778"/>
                  <a:pt x="182286" y="113109"/>
                  <a:pt x="190500" y="113109"/>
                </a:cubicBezTo>
                <a:cubicBezTo>
                  <a:pt x="198714" y="113109"/>
                  <a:pt x="205383" y="119778"/>
                  <a:pt x="205383" y="127992"/>
                </a:cubicBezTo>
                <a:cubicBezTo>
                  <a:pt x="205383" y="136206"/>
                  <a:pt x="198714" y="142875"/>
                  <a:pt x="190500" y="142875"/>
                </a:cubicBezTo>
                <a:cubicBezTo>
                  <a:pt x="182286" y="142875"/>
                  <a:pt x="175617" y="136206"/>
                  <a:pt x="175617" y="127992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450" y="4264817"/>
            <a:ext cx="1603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Features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8950" y="4741067"/>
            <a:ext cx="5421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Incorporated borough information and service zones to account for geographic pricing variations.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8950" y="5042692"/>
            <a:ext cx="5357813" cy="381000"/>
          </a:xfrm>
          <a:custGeom>
            <a:avLst/>
            <a:gdLst/>
            <a:ahLst/>
            <a:cxnLst/>
            <a:rect l="l" t="t" r="r" b="b"/>
            <a:pathLst>
              <a:path w="5357813" h="381000">
                <a:moveTo>
                  <a:pt x="31749" y="0"/>
                </a:moveTo>
                <a:lnTo>
                  <a:pt x="5326064" y="0"/>
                </a:lnTo>
                <a:cubicBezTo>
                  <a:pt x="5343598" y="0"/>
                  <a:pt x="5357813" y="14214"/>
                  <a:pt x="5357813" y="31749"/>
                </a:cubicBezTo>
                <a:lnTo>
                  <a:pt x="5357813" y="349251"/>
                </a:lnTo>
                <a:cubicBezTo>
                  <a:pt x="5357813" y="366786"/>
                  <a:pt x="5343598" y="381000"/>
                  <a:pt x="53260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15950" y="5163344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4" name="Text 22"/>
          <p:cNvSpPr/>
          <p:nvPr/>
        </p:nvSpPr>
        <p:spPr>
          <a:xfrm>
            <a:off x="782637" y="5137942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location-aware predictions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1725" y="2074069"/>
            <a:ext cx="5688013" cy="1584325"/>
          </a:xfrm>
          <a:custGeom>
            <a:avLst/>
            <a:gdLst/>
            <a:ahLst/>
            <a:cxnLst/>
            <a:rect l="l" t="t" r="r" b="b"/>
            <a:pathLst>
              <a:path w="5688013" h="1584325">
                <a:moveTo>
                  <a:pt x="63500" y="0"/>
                </a:moveTo>
                <a:lnTo>
                  <a:pt x="5624513" y="0"/>
                </a:lnTo>
                <a:cubicBezTo>
                  <a:pt x="5659583" y="0"/>
                  <a:pt x="5688013" y="28430"/>
                  <a:pt x="5688013" y="63500"/>
                </a:cubicBezTo>
                <a:lnTo>
                  <a:pt x="5688013" y="1520825"/>
                </a:lnTo>
                <a:cubicBezTo>
                  <a:pt x="5688013" y="1555895"/>
                  <a:pt x="5659583" y="1584325"/>
                  <a:pt x="5624513" y="1584325"/>
                </a:cubicBezTo>
                <a:lnTo>
                  <a:pt x="63500" y="1584325"/>
                </a:lnTo>
                <a:cubicBezTo>
                  <a:pt x="28430" y="1584325"/>
                  <a:pt x="0" y="1555895"/>
                  <a:pt x="0" y="152082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6825" y="223917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7" name="Shape 25"/>
          <p:cNvSpPr/>
          <p:nvPr/>
        </p:nvSpPr>
        <p:spPr>
          <a:xfrm>
            <a:off x="6461919" y="23661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6918325" y="2334423"/>
            <a:ext cx="1897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Categorical Encoding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46825" y="2810673"/>
            <a:ext cx="5421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proper encoding techniques for categorical variables to enable effective model learning.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6825" y="3112298"/>
            <a:ext cx="5357813" cy="381000"/>
          </a:xfrm>
          <a:custGeom>
            <a:avLst/>
            <a:gdLst/>
            <a:ahLst/>
            <a:cxnLst/>
            <a:rect l="l" t="t" r="r" b="b"/>
            <a:pathLst>
              <a:path w="5357813" h="381000">
                <a:moveTo>
                  <a:pt x="31749" y="0"/>
                </a:moveTo>
                <a:lnTo>
                  <a:pt x="5326064" y="0"/>
                </a:lnTo>
                <a:cubicBezTo>
                  <a:pt x="5343598" y="0"/>
                  <a:pt x="5357813" y="14214"/>
                  <a:pt x="5357813" y="31749"/>
                </a:cubicBezTo>
                <a:lnTo>
                  <a:pt x="5357813" y="349251"/>
                </a:lnTo>
                <a:cubicBezTo>
                  <a:pt x="5357813" y="366786"/>
                  <a:pt x="5343598" y="381000"/>
                  <a:pt x="53260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73825" y="323294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2" name="Text 30"/>
          <p:cNvSpPr/>
          <p:nvPr/>
        </p:nvSpPr>
        <p:spPr>
          <a:xfrm>
            <a:off x="6640513" y="3207548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handling of categorical data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1725" y="3798095"/>
            <a:ext cx="5688013" cy="1790700"/>
          </a:xfrm>
          <a:custGeom>
            <a:avLst/>
            <a:gdLst/>
            <a:ahLst/>
            <a:cxnLst/>
            <a:rect l="l" t="t" r="r" b="b"/>
            <a:pathLst>
              <a:path w="5688013" h="1790700">
                <a:moveTo>
                  <a:pt x="63498" y="0"/>
                </a:moveTo>
                <a:lnTo>
                  <a:pt x="5624514" y="0"/>
                </a:lnTo>
                <a:cubicBezTo>
                  <a:pt x="5659583" y="0"/>
                  <a:pt x="5688013" y="28429"/>
                  <a:pt x="5688013" y="63498"/>
                </a:cubicBezTo>
                <a:lnTo>
                  <a:pt x="5688013" y="1727202"/>
                </a:lnTo>
                <a:cubicBezTo>
                  <a:pt x="5688013" y="1762271"/>
                  <a:pt x="5659583" y="1790700"/>
                  <a:pt x="5624514" y="1790700"/>
                </a:cubicBezTo>
                <a:lnTo>
                  <a:pt x="63498" y="1790700"/>
                </a:lnTo>
                <a:cubicBezTo>
                  <a:pt x="28429" y="1790700"/>
                  <a:pt x="0" y="1762271"/>
                  <a:pt x="0" y="172720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46825" y="396319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3825" y="409019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6" name="Text 34"/>
          <p:cNvSpPr/>
          <p:nvPr/>
        </p:nvSpPr>
        <p:spPr>
          <a:xfrm>
            <a:off x="6918325" y="4058442"/>
            <a:ext cx="1476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Reduction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46825" y="4534692"/>
            <a:ext cx="5421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noisy features and outliers that could negatively impact model performance and generalization.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6825" y="5042692"/>
            <a:ext cx="5357813" cy="381000"/>
          </a:xfrm>
          <a:custGeom>
            <a:avLst/>
            <a:gdLst/>
            <a:ahLst/>
            <a:cxnLst/>
            <a:rect l="l" t="t" r="r" b="b"/>
            <a:pathLst>
              <a:path w="5357813" h="381000">
                <a:moveTo>
                  <a:pt x="31749" y="0"/>
                </a:moveTo>
                <a:lnTo>
                  <a:pt x="5326064" y="0"/>
                </a:lnTo>
                <a:cubicBezTo>
                  <a:pt x="5343598" y="0"/>
                  <a:pt x="5357813" y="14214"/>
                  <a:pt x="5357813" y="31749"/>
                </a:cubicBezTo>
                <a:lnTo>
                  <a:pt x="5357813" y="349251"/>
                </a:lnTo>
                <a:cubicBezTo>
                  <a:pt x="5357813" y="366786"/>
                  <a:pt x="5343598" y="381000"/>
                  <a:pt x="53260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73825" y="5163344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53231" y="4316"/>
                </a:moveTo>
                <a:cubicBezTo>
                  <a:pt x="50130" y="1215"/>
                  <a:pt x="45095" y="1215"/>
                  <a:pt x="41994" y="4316"/>
                </a:cubicBezTo>
                <a:lnTo>
                  <a:pt x="2307" y="44004"/>
                </a:lnTo>
                <a:cubicBezTo>
                  <a:pt x="-794" y="47104"/>
                  <a:pt x="-794" y="52139"/>
                  <a:pt x="2307" y="55240"/>
                </a:cubicBezTo>
                <a:cubicBezTo>
                  <a:pt x="5407" y="58341"/>
                  <a:pt x="10443" y="58341"/>
                  <a:pt x="13543" y="55240"/>
                </a:cubicBezTo>
                <a:lnTo>
                  <a:pt x="39688" y="29096"/>
                </a:lnTo>
                <a:lnTo>
                  <a:pt x="39688" y="121047"/>
                </a:lnTo>
                <a:cubicBezTo>
                  <a:pt x="39688" y="125437"/>
                  <a:pt x="43235" y="128984"/>
                  <a:pt x="47625" y="128984"/>
                </a:cubicBezTo>
                <a:cubicBezTo>
                  <a:pt x="52015" y="128984"/>
                  <a:pt x="55563" y="125437"/>
                  <a:pt x="55563" y="121047"/>
                </a:cubicBezTo>
                <a:lnTo>
                  <a:pt x="55563" y="29096"/>
                </a:lnTo>
                <a:lnTo>
                  <a:pt x="81707" y="55240"/>
                </a:lnTo>
                <a:cubicBezTo>
                  <a:pt x="84807" y="58341"/>
                  <a:pt x="89843" y="58341"/>
                  <a:pt x="92943" y="55240"/>
                </a:cubicBezTo>
                <a:cubicBezTo>
                  <a:pt x="96044" y="52139"/>
                  <a:pt x="96044" y="47104"/>
                  <a:pt x="92943" y="44004"/>
                </a:cubicBezTo>
                <a:lnTo>
                  <a:pt x="53256" y="4316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0" name="Text 38"/>
          <p:cNvSpPr/>
          <p:nvPr/>
        </p:nvSpPr>
        <p:spPr>
          <a:xfrm>
            <a:off x="6640513" y="5137942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Cleaner, more focused feature set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3850" y="5760247"/>
            <a:ext cx="11545888" cy="806450"/>
          </a:xfrm>
          <a:custGeom>
            <a:avLst/>
            <a:gdLst/>
            <a:ahLst/>
            <a:cxnLst/>
            <a:rect l="l" t="t" r="r" b="b"/>
            <a:pathLst>
              <a:path w="11545888" h="806450">
                <a:moveTo>
                  <a:pt x="63500" y="0"/>
                </a:moveTo>
                <a:lnTo>
                  <a:pt x="11482388" y="0"/>
                </a:lnTo>
                <a:cubicBezTo>
                  <a:pt x="11517458" y="0"/>
                  <a:pt x="11545888" y="28430"/>
                  <a:pt x="11545888" y="63500"/>
                </a:cubicBezTo>
                <a:lnTo>
                  <a:pt x="11545888" y="742950"/>
                </a:lnTo>
                <a:cubicBezTo>
                  <a:pt x="11545888" y="778020"/>
                  <a:pt x="11517458" y="806450"/>
                  <a:pt x="11482388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4669" y="602059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3" name="Text 41"/>
          <p:cNvSpPr/>
          <p:nvPr/>
        </p:nvSpPr>
        <p:spPr>
          <a:xfrm>
            <a:off x="973137" y="5925344"/>
            <a:ext cx="459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Impact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3137" y="6211094"/>
            <a:ext cx="4579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improvements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prediction accuracy significantly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all models.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432" y="366126"/>
            <a:ext cx="1116685" cy="366126"/>
          </a:xfrm>
          <a:custGeom>
            <a:avLst/>
            <a:gdLst/>
            <a:ahLst/>
            <a:cxnLst/>
            <a:rect l="l" t="t" r="r" b="b"/>
            <a:pathLst>
              <a:path w="1116685" h="366126">
                <a:moveTo>
                  <a:pt x="0" y="0"/>
                </a:moveTo>
                <a:lnTo>
                  <a:pt x="1116685" y="0"/>
                </a:lnTo>
                <a:lnTo>
                  <a:pt x="1116685" y="366126"/>
                </a:lnTo>
                <a:lnTo>
                  <a:pt x="0" y="366126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432" y="366126"/>
            <a:ext cx="36613" cy="366126"/>
          </a:xfrm>
          <a:custGeom>
            <a:avLst/>
            <a:gdLst/>
            <a:ahLst/>
            <a:cxnLst/>
            <a:rect l="l" t="t" r="r" b="b"/>
            <a:pathLst>
              <a:path w="36613" h="366126">
                <a:moveTo>
                  <a:pt x="0" y="0"/>
                </a:moveTo>
                <a:lnTo>
                  <a:pt x="36613" y="0"/>
                </a:lnTo>
                <a:lnTo>
                  <a:pt x="36613" y="366126"/>
                </a:lnTo>
                <a:lnTo>
                  <a:pt x="0" y="366126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49189" y="439351"/>
            <a:ext cx="87870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spc="58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6126" y="878703"/>
            <a:ext cx="11679423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Model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32" y="1537730"/>
            <a:ext cx="11441441" cy="668180"/>
          </a:xfrm>
          <a:custGeom>
            <a:avLst/>
            <a:gdLst/>
            <a:ahLst/>
            <a:cxnLst/>
            <a:rect l="l" t="t" r="r" b="b"/>
            <a:pathLst>
              <a:path w="11441441" h="668180">
                <a:moveTo>
                  <a:pt x="36610" y="0"/>
                </a:moveTo>
                <a:lnTo>
                  <a:pt x="11404832" y="0"/>
                </a:lnTo>
                <a:cubicBezTo>
                  <a:pt x="11425051" y="0"/>
                  <a:pt x="11441441" y="16391"/>
                  <a:pt x="11441441" y="36610"/>
                </a:cubicBezTo>
                <a:lnTo>
                  <a:pt x="11441441" y="631571"/>
                </a:lnTo>
                <a:cubicBezTo>
                  <a:pt x="11441441" y="651790"/>
                  <a:pt x="11425051" y="668180"/>
                  <a:pt x="11404832" y="668180"/>
                </a:cubicBezTo>
                <a:lnTo>
                  <a:pt x="36610" y="668180"/>
                </a:lnTo>
                <a:cubicBezTo>
                  <a:pt x="16404" y="668180"/>
                  <a:pt x="0" y="651776"/>
                  <a:pt x="0" y="631571"/>
                </a:cubicBezTo>
                <a:lnTo>
                  <a:pt x="0" y="36610"/>
                </a:lnTo>
                <a:cubicBezTo>
                  <a:pt x="0" y="16404"/>
                  <a:pt x="16404" y="0"/>
                  <a:pt x="3661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84432" y="1537730"/>
            <a:ext cx="36613" cy="668180"/>
          </a:xfrm>
          <a:custGeom>
            <a:avLst/>
            <a:gdLst/>
            <a:ahLst/>
            <a:cxnLst/>
            <a:rect l="l" t="t" r="r" b="b"/>
            <a:pathLst>
              <a:path w="36613" h="668180">
                <a:moveTo>
                  <a:pt x="36613" y="0"/>
                </a:moveTo>
                <a:lnTo>
                  <a:pt x="36613" y="0"/>
                </a:lnTo>
                <a:lnTo>
                  <a:pt x="36613" y="668180"/>
                </a:lnTo>
                <a:lnTo>
                  <a:pt x="36613" y="668180"/>
                </a:lnTo>
                <a:cubicBezTo>
                  <a:pt x="16392" y="668180"/>
                  <a:pt x="0" y="651788"/>
                  <a:pt x="0" y="631568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85802" y="1720793"/>
            <a:ext cx="11148541" cy="30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emerged as the best performing model based on comprehensive evaluation.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3449" y="2391719"/>
            <a:ext cx="5625528" cy="4096951"/>
          </a:xfrm>
          <a:custGeom>
            <a:avLst/>
            <a:gdLst/>
            <a:ahLst/>
            <a:cxnLst/>
            <a:rect l="l" t="t" r="r" b="b"/>
            <a:pathLst>
              <a:path w="5625528" h="4096951">
                <a:moveTo>
                  <a:pt x="73213" y="0"/>
                </a:moveTo>
                <a:lnTo>
                  <a:pt x="5552315" y="0"/>
                </a:lnTo>
                <a:cubicBezTo>
                  <a:pt x="5592750" y="0"/>
                  <a:pt x="5625528" y="32778"/>
                  <a:pt x="5625528" y="73213"/>
                </a:cubicBezTo>
                <a:lnTo>
                  <a:pt x="5625528" y="4023739"/>
                </a:lnTo>
                <a:cubicBezTo>
                  <a:pt x="5625528" y="4064173"/>
                  <a:pt x="5592750" y="4096951"/>
                  <a:pt x="5552315" y="4096951"/>
                </a:cubicBezTo>
                <a:lnTo>
                  <a:pt x="73213" y="4096951"/>
                </a:lnTo>
                <a:cubicBezTo>
                  <a:pt x="32778" y="4096951"/>
                  <a:pt x="0" y="4064173"/>
                  <a:pt x="0" y="4023739"/>
                </a:cubicBezTo>
                <a:lnTo>
                  <a:pt x="0" y="73213"/>
                </a:lnTo>
                <a:cubicBezTo>
                  <a:pt x="0" y="32778"/>
                  <a:pt x="32778" y="0"/>
                  <a:pt x="73213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8142" y="2618722"/>
            <a:ext cx="732252" cy="732252"/>
          </a:xfrm>
          <a:custGeom>
            <a:avLst/>
            <a:gdLst/>
            <a:ahLst/>
            <a:cxnLst/>
            <a:rect l="l" t="t" r="r" b="b"/>
            <a:pathLst>
              <a:path w="732252" h="732252">
                <a:moveTo>
                  <a:pt x="366126" y="0"/>
                </a:moveTo>
                <a:lnTo>
                  <a:pt x="366126" y="0"/>
                </a:lnTo>
                <a:cubicBezTo>
                  <a:pt x="568332" y="0"/>
                  <a:pt x="732252" y="163920"/>
                  <a:pt x="732252" y="366126"/>
                </a:cubicBezTo>
                <a:lnTo>
                  <a:pt x="732252" y="366126"/>
                </a:lnTo>
                <a:cubicBezTo>
                  <a:pt x="732252" y="568332"/>
                  <a:pt x="568332" y="732252"/>
                  <a:pt x="366126" y="732252"/>
                </a:cubicBezTo>
                <a:lnTo>
                  <a:pt x="366126" y="732252"/>
                </a:lnTo>
                <a:cubicBezTo>
                  <a:pt x="163920" y="732252"/>
                  <a:pt x="0" y="568332"/>
                  <a:pt x="0" y="366126"/>
                </a:cubicBezTo>
                <a:lnTo>
                  <a:pt x="0" y="366126"/>
                </a:lnTo>
                <a:cubicBezTo>
                  <a:pt x="0" y="163920"/>
                  <a:pt x="163920" y="0"/>
                  <a:pt x="366126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1" name="Shape 9"/>
          <p:cNvSpPr/>
          <p:nvPr/>
        </p:nvSpPr>
        <p:spPr>
          <a:xfrm>
            <a:off x="3019511" y="2820092"/>
            <a:ext cx="329514" cy="329514"/>
          </a:xfrm>
          <a:custGeom>
            <a:avLst/>
            <a:gdLst/>
            <a:ahLst/>
            <a:cxnLst/>
            <a:rect l="l" t="t" r="r" b="b"/>
            <a:pathLst>
              <a:path w="329514" h="329514">
                <a:moveTo>
                  <a:pt x="92869" y="0"/>
                </a:moveTo>
                <a:lnTo>
                  <a:pt x="237031" y="0"/>
                </a:lnTo>
                <a:cubicBezTo>
                  <a:pt x="254086" y="0"/>
                  <a:pt x="267987" y="14030"/>
                  <a:pt x="267344" y="31021"/>
                </a:cubicBezTo>
                <a:cubicBezTo>
                  <a:pt x="267215" y="34432"/>
                  <a:pt x="267086" y="37843"/>
                  <a:pt x="266893" y="41189"/>
                </a:cubicBezTo>
                <a:lnTo>
                  <a:pt x="298815" y="41189"/>
                </a:lnTo>
                <a:cubicBezTo>
                  <a:pt x="315612" y="41189"/>
                  <a:pt x="330415" y="55091"/>
                  <a:pt x="329127" y="73240"/>
                </a:cubicBezTo>
                <a:cubicBezTo>
                  <a:pt x="324301" y="139979"/>
                  <a:pt x="290191" y="176663"/>
                  <a:pt x="253185" y="195842"/>
                </a:cubicBezTo>
                <a:cubicBezTo>
                  <a:pt x="243016" y="201119"/>
                  <a:pt x="232655" y="205045"/>
                  <a:pt x="222808" y="207941"/>
                </a:cubicBezTo>
                <a:cubicBezTo>
                  <a:pt x="209807" y="226347"/>
                  <a:pt x="196292" y="236066"/>
                  <a:pt x="185544" y="241279"/>
                </a:cubicBezTo>
                <a:lnTo>
                  <a:pt x="185544" y="288324"/>
                </a:lnTo>
                <a:lnTo>
                  <a:pt x="226734" y="288324"/>
                </a:lnTo>
                <a:cubicBezTo>
                  <a:pt x="238125" y="288324"/>
                  <a:pt x="247328" y="297528"/>
                  <a:pt x="247328" y="308919"/>
                </a:cubicBezTo>
                <a:cubicBezTo>
                  <a:pt x="247328" y="320310"/>
                  <a:pt x="238125" y="329514"/>
                  <a:pt x="226734" y="329514"/>
                </a:cubicBezTo>
                <a:lnTo>
                  <a:pt x="103166" y="329514"/>
                </a:lnTo>
                <a:cubicBezTo>
                  <a:pt x="91775" y="329514"/>
                  <a:pt x="82571" y="320310"/>
                  <a:pt x="82571" y="308919"/>
                </a:cubicBezTo>
                <a:cubicBezTo>
                  <a:pt x="82571" y="297528"/>
                  <a:pt x="91775" y="288324"/>
                  <a:pt x="103166" y="288324"/>
                </a:cubicBezTo>
                <a:lnTo>
                  <a:pt x="144355" y="288324"/>
                </a:lnTo>
                <a:lnTo>
                  <a:pt x="144355" y="241279"/>
                </a:lnTo>
                <a:cubicBezTo>
                  <a:pt x="134058" y="236323"/>
                  <a:pt x="121251" y="227120"/>
                  <a:pt x="108765" y="210194"/>
                </a:cubicBezTo>
                <a:cubicBezTo>
                  <a:pt x="96923" y="207104"/>
                  <a:pt x="84052" y="202406"/>
                  <a:pt x="71502" y="195327"/>
                </a:cubicBezTo>
                <a:cubicBezTo>
                  <a:pt x="36684" y="175826"/>
                  <a:pt x="5277" y="139078"/>
                  <a:pt x="772" y="73111"/>
                </a:cubicBezTo>
                <a:cubicBezTo>
                  <a:pt x="-451" y="55026"/>
                  <a:pt x="14288" y="41125"/>
                  <a:pt x="31085" y="41125"/>
                </a:cubicBezTo>
                <a:lnTo>
                  <a:pt x="63007" y="41125"/>
                </a:lnTo>
                <a:cubicBezTo>
                  <a:pt x="62814" y="37778"/>
                  <a:pt x="62685" y="34432"/>
                  <a:pt x="62556" y="30956"/>
                </a:cubicBezTo>
                <a:cubicBezTo>
                  <a:pt x="61913" y="13901"/>
                  <a:pt x="75814" y="-64"/>
                  <a:pt x="92869" y="-64"/>
                </a:cubicBezTo>
                <a:close/>
                <a:moveTo>
                  <a:pt x="65323" y="72081"/>
                </a:moveTo>
                <a:lnTo>
                  <a:pt x="31600" y="72081"/>
                </a:lnTo>
                <a:cubicBezTo>
                  <a:pt x="35590" y="126592"/>
                  <a:pt x="60625" y="153880"/>
                  <a:pt x="86433" y="168361"/>
                </a:cubicBezTo>
                <a:cubicBezTo>
                  <a:pt x="77165" y="144355"/>
                  <a:pt x="69507" y="113013"/>
                  <a:pt x="65323" y="72081"/>
                </a:cubicBezTo>
                <a:close/>
                <a:moveTo>
                  <a:pt x="244561" y="165272"/>
                </a:moveTo>
                <a:cubicBezTo>
                  <a:pt x="270626" y="149954"/>
                  <a:pt x="294181" y="122731"/>
                  <a:pt x="298171" y="72081"/>
                </a:cubicBezTo>
                <a:lnTo>
                  <a:pt x="264512" y="72081"/>
                </a:lnTo>
                <a:cubicBezTo>
                  <a:pt x="260522" y="111275"/>
                  <a:pt x="253314" y="141717"/>
                  <a:pt x="244561" y="16527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531798" y="3497425"/>
            <a:ext cx="5308829" cy="3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4681" y="3900164"/>
            <a:ext cx="526306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Performing Model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447" y="4376128"/>
            <a:ext cx="5171532" cy="549189"/>
          </a:xfrm>
          <a:custGeom>
            <a:avLst/>
            <a:gdLst/>
            <a:ahLst/>
            <a:cxnLst/>
            <a:rect l="l" t="t" r="r" b="b"/>
            <a:pathLst>
              <a:path w="5171532" h="549189">
                <a:moveTo>
                  <a:pt x="36614" y="0"/>
                </a:moveTo>
                <a:lnTo>
                  <a:pt x="5134917" y="0"/>
                </a:lnTo>
                <a:cubicBezTo>
                  <a:pt x="5155139" y="0"/>
                  <a:pt x="5171532" y="16393"/>
                  <a:pt x="5171532" y="36614"/>
                </a:cubicBezTo>
                <a:lnTo>
                  <a:pt x="5171532" y="512575"/>
                </a:lnTo>
                <a:cubicBezTo>
                  <a:pt x="5171532" y="532796"/>
                  <a:pt x="5155139" y="549189"/>
                  <a:pt x="5134917" y="549189"/>
                </a:cubicBezTo>
                <a:lnTo>
                  <a:pt x="36614" y="549189"/>
                </a:lnTo>
                <a:cubicBezTo>
                  <a:pt x="16393" y="549189"/>
                  <a:pt x="0" y="532796"/>
                  <a:pt x="0" y="512575"/>
                </a:cubicBezTo>
                <a:lnTo>
                  <a:pt x="0" y="36614"/>
                </a:lnTo>
                <a:cubicBezTo>
                  <a:pt x="0" y="16406"/>
                  <a:pt x="16406" y="0"/>
                  <a:pt x="366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4357" y="4540885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109838" y="219676"/>
                </a:moveTo>
                <a:cubicBezTo>
                  <a:pt x="170459" y="219676"/>
                  <a:pt x="219676" y="170459"/>
                  <a:pt x="219676" y="109838"/>
                </a:cubicBezTo>
                <a:cubicBezTo>
                  <a:pt x="219676" y="49217"/>
                  <a:pt x="170459" y="0"/>
                  <a:pt x="109838" y="0"/>
                </a:cubicBezTo>
                <a:cubicBezTo>
                  <a:pt x="49217" y="0"/>
                  <a:pt x="0" y="49217"/>
                  <a:pt x="0" y="109838"/>
                </a:cubicBezTo>
                <a:cubicBezTo>
                  <a:pt x="0" y="170459"/>
                  <a:pt x="49217" y="219676"/>
                  <a:pt x="109838" y="219676"/>
                </a:cubicBezTo>
                <a:close/>
                <a:moveTo>
                  <a:pt x="146050" y="91260"/>
                </a:moveTo>
                <a:lnTo>
                  <a:pt x="111726" y="146179"/>
                </a:lnTo>
                <a:cubicBezTo>
                  <a:pt x="109924" y="149053"/>
                  <a:pt x="106834" y="150855"/>
                  <a:pt x="103445" y="151027"/>
                </a:cubicBezTo>
                <a:cubicBezTo>
                  <a:pt x="100055" y="151199"/>
                  <a:pt x="96795" y="149654"/>
                  <a:pt x="94778" y="146908"/>
                </a:cubicBezTo>
                <a:lnTo>
                  <a:pt x="74183" y="119449"/>
                </a:lnTo>
                <a:cubicBezTo>
                  <a:pt x="70751" y="114901"/>
                  <a:pt x="71695" y="108465"/>
                  <a:pt x="76243" y="105032"/>
                </a:cubicBezTo>
                <a:cubicBezTo>
                  <a:pt x="80791" y="101600"/>
                  <a:pt x="87227" y="102544"/>
                  <a:pt x="90659" y="107092"/>
                </a:cubicBezTo>
                <a:lnTo>
                  <a:pt x="102244" y="122538"/>
                </a:lnTo>
                <a:lnTo>
                  <a:pt x="128588" y="80362"/>
                </a:lnTo>
                <a:cubicBezTo>
                  <a:pt x="131591" y="75556"/>
                  <a:pt x="137941" y="74055"/>
                  <a:pt x="142789" y="77101"/>
                </a:cubicBezTo>
                <a:cubicBezTo>
                  <a:pt x="147638" y="80147"/>
                  <a:pt x="149096" y="86454"/>
                  <a:pt x="146050" y="9130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1131330" y="4522578"/>
            <a:ext cx="206861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prediction accuracy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0447" y="5035155"/>
            <a:ext cx="5171532" cy="549189"/>
          </a:xfrm>
          <a:custGeom>
            <a:avLst/>
            <a:gdLst/>
            <a:ahLst/>
            <a:cxnLst/>
            <a:rect l="l" t="t" r="r" b="b"/>
            <a:pathLst>
              <a:path w="5171532" h="549189">
                <a:moveTo>
                  <a:pt x="36614" y="0"/>
                </a:moveTo>
                <a:lnTo>
                  <a:pt x="5134917" y="0"/>
                </a:lnTo>
                <a:cubicBezTo>
                  <a:pt x="5155139" y="0"/>
                  <a:pt x="5171532" y="16393"/>
                  <a:pt x="5171532" y="36614"/>
                </a:cubicBezTo>
                <a:lnTo>
                  <a:pt x="5171532" y="512575"/>
                </a:lnTo>
                <a:cubicBezTo>
                  <a:pt x="5171532" y="532796"/>
                  <a:pt x="5155139" y="549189"/>
                  <a:pt x="5134917" y="549189"/>
                </a:cubicBezTo>
                <a:lnTo>
                  <a:pt x="36614" y="549189"/>
                </a:lnTo>
                <a:cubicBezTo>
                  <a:pt x="16393" y="549189"/>
                  <a:pt x="0" y="532796"/>
                  <a:pt x="0" y="512575"/>
                </a:cubicBezTo>
                <a:lnTo>
                  <a:pt x="0" y="36614"/>
                </a:lnTo>
                <a:cubicBezTo>
                  <a:pt x="0" y="16406"/>
                  <a:pt x="16406" y="0"/>
                  <a:pt x="366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4357" y="5199912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109838" y="219676"/>
                </a:moveTo>
                <a:cubicBezTo>
                  <a:pt x="170459" y="219676"/>
                  <a:pt x="219676" y="170459"/>
                  <a:pt x="219676" y="109838"/>
                </a:cubicBezTo>
                <a:cubicBezTo>
                  <a:pt x="219676" y="49217"/>
                  <a:pt x="170459" y="0"/>
                  <a:pt x="109838" y="0"/>
                </a:cubicBezTo>
                <a:cubicBezTo>
                  <a:pt x="49217" y="0"/>
                  <a:pt x="0" y="49217"/>
                  <a:pt x="0" y="109838"/>
                </a:cubicBezTo>
                <a:cubicBezTo>
                  <a:pt x="0" y="170459"/>
                  <a:pt x="49217" y="219676"/>
                  <a:pt x="109838" y="219676"/>
                </a:cubicBezTo>
                <a:close/>
                <a:moveTo>
                  <a:pt x="146050" y="91260"/>
                </a:moveTo>
                <a:lnTo>
                  <a:pt x="111726" y="146179"/>
                </a:lnTo>
                <a:cubicBezTo>
                  <a:pt x="109924" y="149053"/>
                  <a:pt x="106834" y="150855"/>
                  <a:pt x="103445" y="151027"/>
                </a:cubicBezTo>
                <a:cubicBezTo>
                  <a:pt x="100055" y="151199"/>
                  <a:pt x="96795" y="149654"/>
                  <a:pt x="94778" y="146908"/>
                </a:cubicBezTo>
                <a:lnTo>
                  <a:pt x="74183" y="119449"/>
                </a:lnTo>
                <a:cubicBezTo>
                  <a:pt x="70751" y="114901"/>
                  <a:pt x="71695" y="108465"/>
                  <a:pt x="76243" y="105032"/>
                </a:cubicBezTo>
                <a:cubicBezTo>
                  <a:pt x="80791" y="101600"/>
                  <a:pt x="87227" y="102544"/>
                  <a:pt x="90659" y="107092"/>
                </a:cubicBezTo>
                <a:lnTo>
                  <a:pt x="102244" y="122538"/>
                </a:lnTo>
                <a:lnTo>
                  <a:pt x="128588" y="80362"/>
                </a:lnTo>
                <a:cubicBezTo>
                  <a:pt x="131591" y="75556"/>
                  <a:pt x="137941" y="74055"/>
                  <a:pt x="142789" y="77101"/>
                </a:cubicBezTo>
                <a:cubicBezTo>
                  <a:pt x="147638" y="80147"/>
                  <a:pt x="149096" y="86454"/>
                  <a:pt x="146050" y="9130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9" name="Text 17"/>
          <p:cNvSpPr/>
          <p:nvPr/>
        </p:nvSpPr>
        <p:spPr>
          <a:xfrm>
            <a:off x="1131330" y="5181605"/>
            <a:ext cx="133636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to outliers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447" y="5694182"/>
            <a:ext cx="5171532" cy="549189"/>
          </a:xfrm>
          <a:custGeom>
            <a:avLst/>
            <a:gdLst/>
            <a:ahLst/>
            <a:cxnLst/>
            <a:rect l="l" t="t" r="r" b="b"/>
            <a:pathLst>
              <a:path w="5171532" h="549189">
                <a:moveTo>
                  <a:pt x="36614" y="0"/>
                </a:moveTo>
                <a:lnTo>
                  <a:pt x="5134917" y="0"/>
                </a:lnTo>
                <a:cubicBezTo>
                  <a:pt x="5155139" y="0"/>
                  <a:pt x="5171532" y="16393"/>
                  <a:pt x="5171532" y="36614"/>
                </a:cubicBezTo>
                <a:lnTo>
                  <a:pt x="5171532" y="512575"/>
                </a:lnTo>
                <a:cubicBezTo>
                  <a:pt x="5171532" y="532796"/>
                  <a:pt x="5155139" y="549189"/>
                  <a:pt x="5134917" y="549189"/>
                </a:cubicBezTo>
                <a:lnTo>
                  <a:pt x="36614" y="549189"/>
                </a:lnTo>
                <a:cubicBezTo>
                  <a:pt x="16393" y="549189"/>
                  <a:pt x="0" y="532796"/>
                  <a:pt x="0" y="512575"/>
                </a:cubicBezTo>
                <a:lnTo>
                  <a:pt x="0" y="36614"/>
                </a:lnTo>
                <a:cubicBezTo>
                  <a:pt x="0" y="16406"/>
                  <a:pt x="16406" y="0"/>
                  <a:pt x="366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4357" y="5858939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109838" y="219676"/>
                </a:moveTo>
                <a:cubicBezTo>
                  <a:pt x="170459" y="219676"/>
                  <a:pt x="219676" y="170459"/>
                  <a:pt x="219676" y="109838"/>
                </a:cubicBezTo>
                <a:cubicBezTo>
                  <a:pt x="219676" y="49217"/>
                  <a:pt x="170459" y="0"/>
                  <a:pt x="109838" y="0"/>
                </a:cubicBezTo>
                <a:cubicBezTo>
                  <a:pt x="49217" y="0"/>
                  <a:pt x="0" y="49217"/>
                  <a:pt x="0" y="109838"/>
                </a:cubicBezTo>
                <a:cubicBezTo>
                  <a:pt x="0" y="170459"/>
                  <a:pt x="49217" y="219676"/>
                  <a:pt x="109838" y="219676"/>
                </a:cubicBezTo>
                <a:close/>
                <a:moveTo>
                  <a:pt x="146050" y="91260"/>
                </a:moveTo>
                <a:lnTo>
                  <a:pt x="111726" y="146179"/>
                </a:lnTo>
                <a:cubicBezTo>
                  <a:pt x="109924" y="149053"/>
                  <a:pt x="106834" y="150855"/>
                  <a:pt x="103445" y="151027"/>
                </a:cubicBezTo>
                <a:cubicBezTo>
                  <a:pt x="100055" y="151199"/>
                  <a:pt x="96795" y="149654"/>
                  <a:pt x="94778" y="146908"/>
                </a:cubicBezTo>
                <a:lnTo>
                  <a:pt x="74183" y="119449"/>
                </a:lnTo>
                <a:cubicBezTo>
                  <a:pt x="70751" y="114901"/>
                  <a:pt x="71695" y="108465"/>
                  <a:pt x="76243" y="105032"/>
                </a:cubicBezTo>
                <a:cubicBezTo>
                  <a:pt x="80791" y="101600"/>
                  <a:pt x="87227" y="102544"/>
                  <a:pt x="90659" y="107092"/>
                </a:cubicBezTo>
                <a:lnTo>
                  <a:pt x="102244" y="122538"/>
                </a:lnTo>
                <a:lnTo>
                  <a:pt x="128588" y="80362"/>
                </a:lnTo>
                <a:cubicBezTo>
                  <a:pt x="131591" y="75556"/>
                  <a:pt x="137941" y="74055"/>
                  <a:pt x="142789" y="77101"/>
                </a:cubicBezTo>
                <a:cubicBezTo>
                  <a:pt x="147638" y="80147"/>
                  <a:pt x="149096" y="86454"/>
                  <a:pt x="146050" y="9130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2" name="Text 20"/>
          <p:cNvSpPr/>
          <p:nvPr/>
        </p:nvSpPr>
        <p:spPr>
          <a:xfrm>
            <a:off x="1131330" y="5840632"/>
            <a:ext cx="1748252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generalization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85472" y="2384396"/>
            <a:ext cx="5748180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0" b="1" dirty="0">
                <a:solidFill>
                  <a:srgbClr val="D8A2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Random Forest?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2795" y="2830954"/>
            <a:ext cx="5625528" cy="820123"/>
          </a:xfrm>
          <a:custGeom>
            <a:avLst/>
            <a:gdLst/>
            <a:ahLst/>
            <a:cxnLst/>
            <a:rect l="l" t="t" r="r" b="b"/>
            <a:pathLst>
              <a:path w="5625528" h="820123">
                <a:moveTo>
                  <a:pt x="73229" y="0"/>
                </a:moveTo>
                <a:lnTo>
                  <a:pt x="5552299" y="0"/>
                </a:lnTo>
                <a:cubicBezTo>
                  <a:pt x="5592742" y="0"/>
                  <a:pt x="5625528" y="32786"/>
                  <a:pt x="5625528" y="73229"/>
                </a:cubicBezTo>
                <a:lnTo>
                  <a:pt x="5625528" y="746894"/>
                </a:lnTo>
                <a:cubicBezTo>
                  <a:pt x="5625528" y="787337"/>
                  <a:pt x="5592742" y="820123"/>
                  <a:pt x="5552299" y="820123"/>
                </a:cubicBezTo>
                <a:lnTo>
                  <a:pt x="73229" y="820123"/>
                </a:lnTo>
                <a:cubicBezTo>
                  <a:pt x="32786" y="820123"/>
                  <a:pt x="0" y="787337"/>
                  <a:pt x="0" y="746894"/>
                </a:cubicBezTo>
                <a:lnTo>
                  <a:pt x="0" y="73229"/>
                </a:lnTo>
                <a:cubicBezTo>
                  <a:pt x="0" y="32813"/>
                  <a:pt x="32813" y="0"/>
                  <a:pt x="7322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6568" y="2984732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219676" y="0"/>
                </a:moveTo>
                <a:lnTo>
                  <a:pt x="219676" y="0"/>
                </a:lnTo>
                <a:cubicBezTo>
                  <a:pt x="340999" y="0"/>
                  <a:pt x="439351" y="98352"/>
                  <a:pt x="439351" y="219676"/>
                </a:cubicBezTo>
                <a:lnTo>
                  <a:pt x="439351" y="219676"/>
                </a:lnTo>
                <a:cubicBezTo>
                  <a:pt x="439351" y="340999"/>
                  <a:pt x="340999" y="439351"/>
                  <a:pt x="219676" y="439351"/>
                </a:cubicBezTo>
                <a:lnTo>
                  <a:pt x="219676" y="439351"/>
                </a:lnTo>
                <a:cubicBezTo>
                  <a:pt x="98352" y="439351"/>
                  <a:pt x="0" y="340999"/>
                  <a:pt x="0" y="219676"/>
                </a:cubicBezTo>
                <a:lnTo>
                  <a:pt x="0" y="219676"/>
                </a:lnTo>
                <a:cubicBezTo>
                  <a:pt x="0" y="98352"/>
                  <a:pt x="98352" y="0"/>
                  <a:pt x="21967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4712" y="3112877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0" y="28604"/>
                </a:moveTo>
                <a:cubicBezTo>
                  <a:pt x="0" y="19129"/>
                  <a:pt x="7687" y="11441"/>
                  <a:pt x="17162" y="11441"/>
                </a:cubicBezTo>
                <a:lnTo>
                  <a:pt x="51486" y="11441"/>
                </a:lnTo>
                <a:cubicBezTo>
                  <a:pt x="60961" y="11441"/>
                  <a:pt x="68649" y="19129"/>
                  <a:pt x="68649" y="28604"/>
                </a:cubicBezTo>
                <a:lnTo>
                  <a:pt x="68649" y="34324"/>
                </a:lnTo>
                <a:lnTo>
                  <a:pt x="114414" y="34324"/>
                </a:lnTo>
                <a:lnTo>
                  <a:pt x="114414" y="28604"/>
                </a:lnTo>
                <a:cubicBezTo>
                  <a:pt x="114414" y="19129"/>
                  <a:pt x="122102" y="11441"/>
                  <a:pt x="131577" y="11441"/>
                </a:cubicBezTo>
                <a:lnTo>
                  <a:pt x="165901" y="11441"/>
                </a:lnTo>
                <a:cubicBezTo>
                  <a:pt x="175376" y="11441"/>
                  <a:pt x="183063" y="19129"/>
                  <a:pt x="183063" y="28604"/>
                </a:cubicBezTo>
                <a:lnTo>
                  <a:pt x="183063" y="62928"/>
                </a:lnTo>
                <a:cubicBezTo>
                  <a:pt x="183063" y="72403"/>
                  <a:pt x="175376" y="80090"/>
                  <a:pt x="165901" y="80090"/>
                </a:cubicBezTo>
                <a:lnTo>
                  <a:pt x="131577" y="80090"/>
                </a:lnTo>
                <a:cubicBezTo>
                  <a:pt x="122102" y="80090"/>
                  <a:pt x="114414" y="72403"/>
                  <a:pt x="114414" y="62928"/>
                </a:cubicBezTo>
                <a:lnTo>
                  <a:pt x="114414" y="57207"/>
                </a:lnTo>
                <a:lnTo>
                  <a:pt x="68649" y="57207"/>
                </a:lnTo>
                <a:lnTo>
                  <a:pt x="68649" y="62928"/>
                </a:lnTo>
                <a:cubicBezTo>
                  <a:pt x="68649" y="65538"/>
                  <a:pt x="68041" y="68041"/>
                  <a:pt x="67004" y="70258"/>
                </a:cubicBezTo>
                <a:lnTo>
                  <a:pt x="91532" y="102973"/>
                </a:lnTo>
                <a:lnTo>
                  <a:pt x="120135" y="102973"/>
                </a:lnTo>
                <a:cubicBezTo>
                  <a:pt x="129610" y="102973"/>
                  <a:pt x="137297" y="110660"/>
                  <a:pt x="137297" y="120135"/>
                </a:cubicBezTo>
                <a:lnTo>
                  <a:pt x="137297" y="154459"/>
                </a:lnTo>
                <a:cubicBezTo>
                  <a:pt x="137297" y="163934"/>
                  <a:pt x="129610" y="171622"/>
                  <a:pt x="120135" y="171622"/>
                </a:cubicBezTo>
                <a:lnTo>
                  <a:pt x="85811" y="171622"/>
                </a:lnTo>
                <a:cubicBezTo>
                  <a:pt x="76336" y="171622"/>
                  <a:pt x="68649" y="163934"/>
                  <a:pt x="68649" y="154459"/>
                </a:cubicBezTo>
                <a:lnTo>
                  <a:pt x="68649" y="120135"/>
                </a:lnTo>
                <a:cubicBezTo>
                  <a:pt x="68649" y="117525"/>
                  <a:pt x="69256" y="115022"/>
                  <a:pt x="70293" y="112805"/>
                </a:cubicBezTo>
                <a:lnTo>
                  <a:pt x="45766" y="80090"/>
                </a:lnTo>
                <a:lnTo>
                  <a:pt x="17162" y="80090"/>
                </a:lnTo>
                <a:cubicBezTo>
                  <a:pt x="7687" y="80090"/>
                  <a:pt x="0" y="72403"/>
                  <a:pt x="0" y="62928"/>
                </a:cubicBezTo>
                <a:lnTo>
                  <a:pt x="0" y="28604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7" name="Text 25"/>
          <p:cNvSpPr/>
          <p:nvPr/>
        </p:nvSpPr>
        <p:spPr>
          <a:xfrm>
            <a:off x="6932369" y="2984732"/>
            <a:ext cx="273679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Complex Patterns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32369" y="3277633"/>
            <a:ext cx="272764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intricate relationships in the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2795" y="3775561"/>
            <a:ext cx="5625528" cy="820123"/>
          </a:xfrm>
          <a:custGeom>
            <a:avLst/>
            <a:gdLst/>
            <a:ahLst/>
            <a:cxnLst/>
            <a:rect l="l" t="t" r="r" b="b"/>
            <a:pathLst>
              <a:path w="5625528" h="820123">
                <a:moveTo>
                  <a:pt x="73229" y="0"/>
                </a:moveTo>
                <a:lnTo>
                  <a:pt x="5552299" y="0"/>
                </a:lnTo>
                <a:cubicBezTo>
                  <a:pt x="5592742" y="0"/>
                  <a:pt x="5625528" y="32786"/>
                  <a:pt x="5625528" y="73229"/>
                </a:cubicBezTo>
                <a:lnTo>
                  <a:pt x="5625528" y="746894"/>
                </a:lnTo>
                <a:cubicBezTo>
                  <a:pt x="5625528" y="787337"/>
                  <a:pt x="5592742" y="820123"/>
                  <a:pt x="5552299" y="820123"/>
                </a:cubicBezTo>
                <a:lnTo>
                  <a:pt x="73229" y="820123"/>
                </a:lnTo>
                <a:cubicBezTo>
                  <a:pt x="32786" y="820123"/>
                  <a:pt x="0" y="787337"/>
                  <a:pt x="0" y="746894"/>
                </a:cubicBezTo>
                <a:lnTo>
                  <a:pt x="0" y="73229"/>
                </a:lnTo>
                <a:cubicBezTo>
                  <a:pt x="0" y="32813"/>
                  <a:pt x="32813" y="0"/>
                  <a:pt x="7322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6568" y="3929340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219676" y="0"/>
                </a:moveTo>
                <a:lnTo>
                  <a:pt x="219676" y="0"/>
                </a:lnTo>
                <a:cubicBezTo>
                  <a:pt x="340999" y="0"/>
                  <a:pt x="439351" y="98352"/>
                  <a:pt x="439351" y="219676"/>
                </a:cubicBezTo>
                <a:lnTo>
                  <a:pt x="439351" y="219676"/>
                </a:lnTo>
                <a:cubicBezTo>
                  <a:pt x="439351" y="340999"/>
                  <a:pt x="340999" y="439351"/>
                  <a:pt x="219676" y="439351"/>
                </a:cubicBezTo>
                <a:lnTo>
                  <a:pt x="219676" y="439351"/>
                </a:lnTo>
                <a:cubicBezTo>
                  <a:pt x="98352" y="439351"/>
                  <a:pt x="0" y="340999"/>
                  <a:pt x="0" y="219676"/>
                </a:cubicBezTo>
                <a:lnTo>
                  <a:pt x="0" y="219676"/>
                </a:lnTo>
                <a:cubicBezTo>
                  <a:pt x="0" y="98352"/>
                  <a:pt x="98352" y="0"/>
                  <a:pt x="219676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4712" y="4057484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83129" y="1859"/>
                </a:moveTo>
                <a:cubicBezTo>
                  <a:pt x="88457" y="-608"/>
                  <a:pt x="94606" y="-608"/>
                  <a:pt x="99934" y="1859"/>
                </a:cubicBezTo>
                <a:lnTo>
                  <a:pt x="178093" y="37971"/>
                </a:lnTo>
                <a:cubicBezTo>
                  <a:pt x="181132" y="39366"/>
                  <a:pt x="183063" y="42405"/>
                  <a:pt x="183063" y="45766"/>
                </a:cubicBezTo>
                <a:cubicBezTo>
                  <a:pt x="183063" y="49127"/>
                  <a:pt x="181132" y="52166"/>
                  <a:pt x="178093" y="53560"/>
                </a:cubicBezTo>
                <a:lnTo>
                  <a:pt x="99934" y="89672"/>
                </a:lnTo>
                <a:cubicBezTo>
                  <a:pt x="94606" y="92139"/>
                  <a:pt x="88457" y="92139"/>
                  <a:pt x="83129" y="89672"/>
                </a:cubicBezTo>
                <a:lnTo>
                  <a:pt x="4970" y="53560"/>
                </a:lnTo>
                <a:cubicBezTo>
                  <a:pt x="1931" y="52130"/>
                  <a:pt x="0" y="49091"/>
                  <a:pt x="0" y="45766"/>
                </a:cubicBezTo>
                <a:cubicBezTo>
                  <a:pt x="0" y="42441"/>
                  <a:pt x="1931" y="39366"/>
                  <a:pt x="4970" y="37971"/>
                </a:cubicBezTo>
                <a:lnTo>
                  <a:pt x="83129" y="1859"/>
                </a:lnTo>
                <a:close/>
                <a:moveTo>
                  <a:pt x="17198" y="78088"/>
                </a:moveTo>
                <a:lnTo>
                  <a:pt x="75943" y="105226"/>
                </a:lnTo>
                <a:cubicBezTo>
                  <a:pt x="85847" y="109802"/>
                  <a:pt x="97252" y="109802"/>
                  <a:pt x="107156" y="105226"/>
                </a:cubicBezTo>
                <a:lnTo>
                  <a:pt x="165901" y="78088"/>
                </a:lnTo>
                <a:lnTo>
                  <a:pt x="178093" y="83737"/>
                </a:lnTo>
                <a:cubicBezTo>
                  <a:pt x="181132" y="85131"/>
                  <a:pt x="183063" y="88171"/>
                  <a:pt x="183063" y="91532"/>
                </a:cubicBezTo>
                <a:cubicBezTo>
                  <a:pt x="183063" y="94892"/>
                  <a:pt x="181132" y="97932"/>
                  <a:pt x="178093" y="99326"/>
                </a:cubicBezTo>
                <a:lnTo>
                  <a:pt x="99934" y="135438"/>
                </a:lnTo>
                <a:cubicBezTo>
                  <a:pt x="94606" y="137905"/>
                  <a:pt x="88457" y="137905"/>
                  <a:pt x="83129" y="135438"/>
                </a:cubicBezTo>
                <a:lnTo>
                  <a:pt x="4970" y="99326"/>
                </a:lnTo>
                <a:cubicBezTo>
                  <a:pt x="1931" y="97896"/>
                  <a:pt x="0" y="94857"/>
                  <a:pt x="0" y="91532"/>
                </a:cubicBezTo>
                <a:cubicBezTo>
                  <a:pt x="0" y="88206"/>
                  <a:pt x="1931" y="85131"/>
                  <a:pt x="4970" y="83737"/>
                </a:cubicBezTo>
                <a:lnTo>
                  <a:pt x="17162" y="78088"/>
                </a:lnTo>
                <a:close/>
                <a:moveTo>
                  <a:pt x="4970" y="129503"/>
                </a:moveTo>
                <a:lnTo>
                  <a:pt x="17162" y="123854"/>
                </a:lnTo>
                <a:lnTo>
                  <a:pt x="75907" y="150991"/>
                </a:lnTo>
                <a:cubicBezTo>
                  <a:pt x="85811" y="155568"/>
                  <a:pt x="97216" y="155568"/>
                  <a:pt x="107120" y="150991"/>
                </a:cubicBezTo>
                <a:lnTo>
                  <a:pt x="165865" y="123854"/>
                </a:lnTo>
                <a:lnTo>
                  <a:pt x="178057" y="129503"/>
                </a:lnTo>
                <a:cubicBezTo>
                  <a:pt x="181097" y="130897"/>
                  <a:pt x="183027" y="133936"/>
                  <a:pt x="183027" y="137297"/>
                </a:cubicBezTo>
                <a:cubicBezTo>
                  <a:pt x="183027" y="140658"/>
                  <a:pt x="181097" y="143697"/>
                  <a:pt x="178057" y="145092"/>
                </a:cubicBezTo>
                <a:lnTo>
                  <a:pt x="99898" y="181204"/>
                </a:lnTo>
                <a:cubicBezTo>
                  <a:pt x="94571" y="183671"/>
                  <a:pt x="88421" y="183671"/>
                  <a:pt x="83093" y="181204"/>
                </a:cubicBezTo>
                <a:lnTo>
                  <a:pt x="4970" y="145092"/>
                </a:lnTo>
                <a:cubicBezTo>
                  <a:pt x="1931" y="143662"/>
                  <a:pt x="0" y="140622"/>
                  <a:pt x="0" y="137297"/>
                </a:cubicBezTo>
                <a:cubicBezTo>
                  <a:pt x="0" y="133972"/>
                  <a:pt x="1931" y="130897"/>
                  <a:pt x="4970" y="129503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2" name="Text 30"/>
          <p:cNvSpPr/>
          <p:nvPr/>
        </p:nvSpPr>
        <p:spPr>
          <a:xfrm>
            <a:off x="6932369" y="3929340"/>
            <a:ext cx="355142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Mixed Feature Types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2369" y="4222240"/>
            <a:ext cx="354227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well with both numeric and categorical features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2795" y="4720168"/>
            <a:ext cx="5625528" cy="820123"/>
          </a:xfrm>
          <a:custGeom>
            <a:avLst/>
            <a:gdLst/>
            <a:ahLst/>
            <a:cxnLst/>
            <a:rect l="l" t="t" r="r" b="b"/>
            <a:pathLst>
              <a:path w="5625528" h="820123">
                <a:moveTo>
                  <a:pt x="73229" y="0"/>
                </a:moveTo>
                <a:lnTo>
                  <a:pt x="5552299" y="0"/>
                </a:lnTo>
                <a:cubicBezTo>
                  <a:pt x="5592742" y="0"/>
                  <a:pt x="5625528" y="32786"/>
                  <a:pt x="5625528" y="73229"/>
                </a:cubicBezTo>
                <a:lnTo>
                  <a:pt x="5625528" y="746894"/>
                </a:lnTo>
                <a:cubicBezTo>
                  <a:pt x="5625528" y="787337"/>
                  <a:pt x="5592742" y="820123"/>
                  <a:pt x="5552299" y="820123"/>
                </a:cubicBezTo>
                <a:lnTo>
                  <a:pt x="73229" y="820123"/>
                </a:lnTo>
                <a:cubicBezTo>
                  <a:pt x="32786" y="820123"/>
                  <a:pt x="0" y="787337"/>
                  <a:pt x="0" y="746894"/>
                </a:cubicBezTo>
                <a:lnTo>
                  <a:pt x="0" y="73229"/>
                </a:lnTo>
                <a:cubicBezTo>
                  <a:pt x="0" y="32813"/>
                  <a:pt x="32813" y="0"/>
                  <a:pt x="7322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46568" y="4873938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219676" y="0"/>
                </a:moveTo>
                <a:lnTo>
                  <a:pt x="219676" y="0"/>
                </a:lnTo>
                <a:cubicBezTo>
                  <a:pt x="340999" y="0"/>
                  <a:pt x="439351" y="98352"/>
                  <a:pt x="439351" y="219676"/>
                </a:cubicBezTo>
                <a:lnTo>
                  <a:pt x="439351" y="219676"/>
                </a:lnTo>
                <a:cubicBezTo>
                  <a:pt x="439351" y="340999"/>
                  <a:pt x="340999" y="439351"/>
                  <a:pt x="219676" y="439351"/>
                </a:cubicBezTo>
                <a:lnTo>
                  <a:pt x="219676" y="439351"/>
                </a:lnTo>
                <a:cubicBezTo>
                  <a:pt x="98352" y="439351"/>
                  <a:pt x="0" y="340999"/>
                  <a:pt x="0" y="219676"/>
                </a:cubicBezTo>
                <a:lnTo>
                  <a:pt x="0" y="219676"/>
                </a:lnTo>
                <a:cubicBezTo>
                  <a:pt x="0" y="98352"/>
                  <a:pt x="98352" y="0"/>
                  <a:pt x="219676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4712" y="5002082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22883" y="34324"/>
                </a:moveTo>
                <a:cubicBezTo>
                  <a:pt x="22883" y="27996"/>
                  <a:pt x="27996" y="22883"/>
                  <a:pt x="34324" y="22883"/>
                </a:cubicBezTo>
                <a:lnTo>
                  <a:pt x="91532" y="22883"/>
                </a:lnTo>
                <a:cubicBezTo>
                  <a:pt x="97860" y="22883"/>
                  <a:pt x="102973" y="27996"/>
                  <a:pt x="102973" y="34324"/>
                </a:cubicBezTo>
                <a:lnTo>
                  <a:pt x="102973" y="137297"/>
                </a:lnTo>
                <a:lnTo>
                  <a:pt x="137297" y="137297"/>
                </a:lnTo>
                <a:lnTo>
                  <a:pt x="137297" y="91532"/>
                </a:lnTo>
                <a:cubicBezTo>
                  <a:pt x="137297" y="85203"/>
                  <a:pt x="142410" y="80090"/>
                  <a:pt x="148739" y="80090"/>
                </a:cubicBezTo>
                <a:lnTo>
                  <a:pt x="171622" y="80090"/>
                </a:lnTo>
                <a:cubicBezTo>
                  <a:pt x="177950" y="80090"/>
                  <a:pt x="183063" y="85203"/>
                  <a:pt x="183063" y="91532"/>
                </a:cubicBezTo>
                <a:cubicBezTo>
                  <a:pt x="183063" y="97860"/>
                  <a:pt x="177950" y="102973"/>
                  <a:pt x="171622" y="102973"/>
                </a:cubicBezTo>
                <a:lnTo>
                  <a:pt x="160180" y="102973"/>
                </a:lnTo>
                <a:lnTo>
                  <a:pt x="160180" y="148739"/>
                </a:lnTo>
                <a:cubicBezTo>
                  <a:pt x="160180" y="155067"/>
                  <a:pt x="155067" y="160180"/>
                  <a:pt x="148739" y="160180"/>
                </a:cubicBezTo>
                <a:lnTo>
                  <a:pt x="91532" y="160180"/>
                </a:lnTo>
                <a:cubicBezTo>
                  <a:pt x="85203" y="160180"/>
                  <a:pt x="80090" y="155067"/>
                  <a:pt x="80090" y="148739"/>
                </a:cubicBezTo>
                <a:lnTo>
                  <a:pt x="80090" y="45766"/>
                </a:lnTo>
                <a:lnTo>
                  <a:pt x="45766" y="45766"/>
                </a:lnTo>
                <a:lnTo>
                  <a:pt x="45766" y="91532"/>
                </a:lnTo>
                <a:cubicBezTo>
                  <a:pt x="45766" y="97860"/>
                  <a:pt x="40653" y="102973"/>
                  <a:pt x="34324" y="102973"/>
                </a:cubicBezTo>
                <a:lnTo>
                  <a:pt x="11441" y="102973"/>
                </a:lnTo>
                <a:cubicBezTo>
                  <a:pt x="5113" y="102973"/>
                  <a:pt x="0" y="97860"/>
                  <a:pt x="0" y="91532"/>
                </a:cubicBezTo>
                <a:cubicBezTo>
                  <a:pt x="0" y="85203"/>
                  <a:pt x="5113" y="80090"/>
                  <a:pt x="11441" y="80090"/>
                </a:cubicBezTo>
                <a:lnTo>
                  <a:pt x="22883" y="80090"/>
                </a:lnTo>
                <a:lnTo>
                  <a:pt x="22883" y="3432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6932369" y="4873938"/>
            <a:ext cx="3048000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Nonlinear Relationships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32369" y="5166839"/>
            <a:ext cx="303884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Effectively models complex, nonlinear patterns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2795" y="5664776"/>
            <a:ext cx="5625528" cy="820123"/>
          </a:xfrm>
          <a:custGeom>
            <a:avLst/>
            <a:gdLst/>
            <a:ahLst/>
            <a:cxnLst/>
            <a:rect l="l" t="t" r="r" b="b"/>
            <a:pathLst>
              <a:path w="5625528" h="820123">
                <a:moveTo>
                  <a:pt x="73229" y="0"/>
                </a:moveTo>
                <a:lnTo>
                  <a:pt x="5552299" y="0"/>
                </a:lnTo>
                <a:cubicBezTo>
                  <a:pt x="5592742" y="0"/>
                  <a:pt x="5625528" y="32786"/>
                  <a:pt x="5625528" y="73229"/>
                </a:cubicBezTo>
                <a:lnTo>
                  <a:pt x="5625528" y="746894"/>
                </a:lnTo>
                <a:cubicBezTo>
                  <a:pt x="5625528" y="787337"/>
                  <a:pt x="5592742" y="820123"/>
                  <a:pt x="5552299" y="820123"/>
                </a:cubicBezTo>
                <a:lnTo>
                  <a:pt x="73229" y="820123"/>
                </a:lnTo>
                <a:cubicBezTo>
                  <a:pt x="32786" y="820123"/>
                  <a:pt x="0" y="787337"/>
                  <a:pt x="0" y="746894"/>
                </a:cubicBezTo>
                <a:lnTo>
                  <a:pt x="0" y="73229"/>
                </a:lnTo>
                <a:cubicBezTo>
                  <a:pt x="0" y="32813"/>
                  <a:pt x="32813" y="0"/>
                  <a:pt x="73229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6568" y="5818545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219676" y="0"/>
                </a:moveTo>
                <a:lnTo>
                  <a:pt x="219676" y="0"/>
                </a:lnTo>
                <a:cubicBezTo>
                  <a:pt x="340999" y="0"/>
                  <a:pt x="439351" y="98352"/>
                  <a:pt x="439351" y="219676"/>
                </a:cubicBezTo>
                <a:lnTo>
                  <a:pt x="439351" y="219676"/>
                </a:lnTo>
                <a:cubicBezTo>
                  <a:pt x="439351" y="340999"/>
                  <a:pt x="340999" y="439351"/>
                  <a:pt x="219676" y="439351"/>
                </a:cubicBezTo>
                <a:lnTo>
                  <a:pt x="219676" y="439351"/>
                </a:lnTo>
                <a:cubicBezTo>
                  <a:pt x="98352" y="439351"/>
                  <a:pt x="0" y="340999"/>
                  <a:pt x="0" y="219676"/>
                </a:cubicBezTo>
                <a:lnTo>
                  <a:pt x="0" y="219676"/>
                </a:lnTo>
                <a:cubicBezTo>
                  <a:pt x="0" y="98352"/>
                  <a:pt x="98352" y="0"/>
                  <a:pt x="219676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4712" y="5946689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91532" y="0"/>
                </a:moveTo>
                <a:cubicBezTo>
                  <a:pt x="93176" y="0"/>
                  <a:pt x="94821" y="358"/>
                  <a:pt x="96323" y="1037"/>
                </a:cubicBezTo>
                <a:lnTo>
                  <a:pt x="163684" y="29605"/>
                </a:lnTo>
                <a:cubicBezTo>
                  <a:pt x="171550" y="32930"/>
                  <a:pt x="177414" y="40689"/>
                  <a:pt x="177378" y="50056"/>
                </a:cubicBezTo>
                <a:cubicBezTo>
                  <a:pt x="177199" y="85525"/>
                  <a:pt x="162611" y="150419"/>
                  <a:pt x="101006" y="179917"/>
                </a:cubicBezTo>
                <a:cubicBezTo>
                  <a:pt x="95035" y="182777"/>
                  <a:pt x="88099" y="182777"/>
                  <a:pt x="82128" y="179917"/>
                </a:cubicBezTo>
                <a:cubicBezTo>
                  <a:pt x="20487" y="150419"/>
                  <a:pt x="5935" y="85525"/>
                  <a:pt x="5756" y="50056"/>
                </a:cubicBezTo>
                <a:cubicBezTo>
                  <a:pt x="5721" y="40689"/>
                  <a:pt x="11584" y="32930"/>
                  <a:pt x="19450" y="29605"/>
                </a:cubicBezTo>
                <a:lnTo>
                  <a:pt x="86776" y="1037"/>
                </a:lnTo>
                <a:cubicBezTo>
                  <a:pt x="88278" y="358"/>
                  <a:pt x="89887" y="0"/>
                  <a:pt x="91532" y="0"/>
                </a:cubicBezTo>
                <a:close/>
                <a:moveTo>
                  <a:pt x="91532" y="23884"/>
                </a:moveTo>
                <a:lnTo>
                  <a:pt x="91532" y="159072"/>
                </a:lnTo>
                <a:cubicBezTo>
                  <a:pt x="140873" y="135188"/>
                  <a:pt x="154138" y="82271"/>
                  <a:pt x="154459" y="50593"/>
                </a:cubicBezTo>
                <a:lnTo>
                  <a:pt x="91532" y="23920"/>
                </a:lnTo>
                <a:lnTo>
                  <a:pt x="91532" y="23920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2" name="Text 40"/>
          <p:cNvSpPr/>
          <p:nvPr/>
        </p:nvSpPr>
        <p:spPr>
          <a:xfrm>
            <a:off x="6932369" y="5818545"/>
            <a:ext cx="2251676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Predictions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32369" y="6111446"/>
            <a:ext cx="224252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and trustworthy results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984250" cy="317500"/>
          </a:xfrm>
          <a:custGeom>
            <a:avLst/>
            <a:gdLst/>
            <a:ahLst/>
            <a:cxnLst/>
            <a:rect l="l" t="t" r="r" b="b"/>
            <a:pathLst>
              <a:path w="984250" h="317500">
                <a:moveTo>
                  <a:pt x="0" y="0"/>
                </a:moveTo>
                <a:lnTo>
                  <a:pt x="984250" y="0"/>
                </a:lnTo>
                <a:lnTo>
                  <a:pt x="9842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381000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333500"/>
            <a:ext cx="11541125" cy="579438"/>
          </a:xfrm>
          <a:custGeom>
            <a:avLst/>
            <a:gdLst/>
            <a:ahLst/>
            <a:cxnLst/>
            <a:rect l="l" t="t" r="r" b="b"/>
            <a:pathLst>
              <a:path w="11541125" h="579438">
                <a:moveTo>
                  <a:pt x="31747" y="0"/>
                </a:moveTo>
                <a:lnTo>
                  <a:pt x="11509378" y="0"/>
                </a:lnTo>
                <a:cubicBezTo>
                  <a:pt x="11526911" y="0"/>
                  <a:pt x="11541125" y="14214"/>
                  <a:pt x="11541125" y="31747"/>
                </a:cubicBezTo>
                <a:lnTo>
                  <a:pt x="11541125" y="547690"/>
                </a:lnTo>
                <a:cubicBezTo>
                  <a:pt x="11541125" y="565224"/>
                  <a:pt x="11526911" y="579437"/>
                  <a:pt x="11509378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333500"/>
            <a:ext cx="31750" cy="579438"/>
          </a:xfrm>
          <a:custGeom>
            <a:avLst/>
            <a:gdLst/>
            <a:ahLst/>
            <a:cxnLst/>
            <a:rect l="l" t="t" r="r" b="b"/>
            <a:pathLst>
              <a:path w="31750" h="579438">
                <a:moveTo>
                  <a:pt x="31750" y="0"/>
                </a:moveTo>
                <a:lnTo>
                  <a:pt x="31750" y="0"/>
                </a:lnTo>
                <a:lnTo>
                  <a:pt x="31750" y="579438"/>
                </a:ln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492250"/>
            <a:ext cx="112871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predictive model delivers tangible business value across multiple operational areas.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850" y="2074069"/>
            <a:ext cx="5688013" cy="1949450"/>
          </a:xfrm>
          <a:custGeom>
            <a:avLst/>
            <a:gdLst/>
            <a:ahLst/>
            <a:cxnLst/>
            <a:rect l="l" t="t" r="r" b="b"/>
            <a:pathLst>
              <a:path w="5688013" h="1949450">
                <a:moveTo>
                  <a:pt x="63494" y="0"/>
                </a:moveTo>
                <a:lnTo>
                  <a:pt x="5624519" y="0"/>
                </a:lnTo>
                <a:cubicBezTo>
                  <a:pt x="5659585" y="0"/>
                  <a:pt x="5688013" y="28427"/>
                  <a:pt x="5688013" y="63494"/>
                </a:cubicBezTo>
                <a:lnTo>
                  <a:pt x="5688013" y="1885956"/>
                </a:lnTo>
                <a:cubicBezTo>
                  <a:pt x="5688013" y="1921023"/>
                  <a:pt x="5659585" y="1949450"/>
                  <a:pt x="5624519" y="1949450"/>
                </a:cubicBezTo>
                <a:lnTo>
                  <a:pt x="63494" y="1949450"/>
                </a:lnTo>
                <a:cubicBezTo>
                  <a:pt x="28427" y="1949450"/>
                  <a:pt x="0" y="1921023"/>
                  <a:pt x="0" y="18859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700" y="22709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788A9C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87387" y="240586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29766" y="0"/>
                </a:moveTo>
                <a:cubicBezTo>
                  <a:pt x="13348" y="0"/>
                  <a:pt x="0" y="13348"/>
                  <a:pt x="0" y="29766"/>
                </a:cubicBezTo>
                <a:lnTo>
                  <a:pt x="0" y="208359"/>
                </a:lnTo>
                <a:cubicBezTo>
                  <a:pt x="0" y="224777"/>
                  <a:pt x="13348" y="238125"/>
                  <a:pt x="29766" y="238125"/>
                </a:cubicBezTo>
                <a:lnTo>
                  <a:pt x="148828" y="238125"/>
                </a:lnTo>
                <a:cubicBezTo>
                  <a:pt x="165246" y="238125"/>
                  <a:pt x="178594" y="224777"/>
                  <a:pt x="178594" y="208359"/>
                </a:cubicBezTo>
                <a:lnTo>
                  <a:pt x="178594" y="29766"/>
                </a:lnTo>
                <a:cubicBezTo>
                  <a:pt x="178594" y="13348"/>
                  <a:pt x="165246" y="0"/>
                  <a:pt x="148828" y="0"/>
                </a:cubicBezTo>
                <a:lnTo>
                  <a:pt x="29766" y="0"/>
                </a:lnTo>
                <a:close/>
                <a:moveTo>
                  <a:pt x="44648" y="29766"/>
                </a:moveTo>
                <a:lnTo>
                  <a:pt x="133945" y="29766"/>
                </a:lnTo>
                <a:cubicBezTo>
                  <a:pt x="142177" y="29766"/>
                  <a:pt x="148828" y="36416"/>
                  <a:pt x="148828" y="44648"/>
                </a:cubicBezTo>
                <a:lnTo>
                  <a:pt x="148828" y="59531"/>
                </a:lnTo>
                <a:cubicBezTo>
                  <a:pt x="148828" y="67763"/>
                  <a:pt x="142177" y="74414"/>
                  <a:pt x="133945" y="74414"/>
                </a:cubicBezTo>
                <a:lnTo>
                  <a:pt x="44648" y="74414"/>
                </a:lnTo>
                <a:cubicBezTo>
                  <a:pt x="36416" y="74414"/>
                  <a:pt x="29766" y="67763"/>
                  <a:pt x="29766" y="59531"/>
                </a:cubicBezTo>
                <a:lnTo>
                  <a:pt x="29766" y="44648"/>
                </a:lnTo>
                <a:cubicBezTo>
                  <a:pt x="29766" y="36416"/>
                  <a:pt x="36416" y="29766"/>
                  <a:pt x="44648" y="29766"/>
                </a:cubicBezTo>
                <a:close/>
                <a:moveTo>
                  <a:pt x="52090" y="107900"/>
                </a:moveTo>
                <a:cubicBezTo>
                  <a:pt x="52090" y="114061"/>
                  <a:pt x="47088" y="119062"/>
                  <a:pt x="40928" y="119062"/>
                </a:cubicBezTo>
                <a:cubicBezTo>
                  <a:pt x="34767" y="119062"/>
                  <a:pt x="29766" y="114061"/>
                  <a:pt x="29766" y="107900"/>
                </a:cubicBezTo>
                <a:cubicBezTo>
                  <a:pt x="29766" y="101740"/>
                  <a:pt x="34767" y="96738"/>
                  <a:pt x="40928" y="96738"/>
                </a:cubicBezTo>
                <a:cubicBezTo>
                  <a:pt x="47088" y="96738"/>
                  <a:pt x="52090" y="101740"/>
                  <a:pt x="52090" y="107900"/>
                </a:cubicBezTo>
                <a:close/>
                <a:moveTo>
                  <a:pt x="89297" y="119062"/>
                </a:moveTo>
                <a:cubicBezTo>
                  <a:pt x="83136" y="119062"/>
                  <a:pt x="78135" y="114061"/>
                  <a:pt x="78135" y="107900"/>
                </a:cubicBezTo>
                <a:cubicBezTo>
                  <a:pt x="78135" y="101740"/>
                  <a:pt x="83136" y="96738"/>
                  <a:pt x="89297" y="96738"/>
                </a:cubicBezTo>
                <a:cubicBezTo>
                  <a:pt x="95457" y="96738"/>
                  <a:pt x="100459" y="101740"/>
                  <a:pt x="100459" y="107900"/>
                </a:cubicBezTo>
                <a:cubicBezTo>
                  <a:pt x="100459" y="114061"/>
                  <a:pt x="95457" y="119062"/>
                  <a:pt x="89297" y="119062"/>
                </a:cubicBezTo>
                <a:close/>
                <a:moveTo>
                  <a:pt x="148828" y="107900"/>
                </a:moveTo>
                <a:cubicBezTo>
                  <a:pt x="148828" y="114061"/>
                  <a:pt x="143827" y="119062"/>
                  <a:pt x="137666" y="119062"/>
                </a:cubicBezTo>
                <a:cubicBezTo>
                  <a:pt x="131505" y="119062"/>
                  <a:pt x="126504" y="114061"/>
                  <a:pt x="126504" y="107900"/>
                </a:cubicBezTo>
                <a:cubicBezTo>
                  <a:pt x="126504" y="101740"/>
                  <a:pt x="131505" y="96738"/>
                  <a:pt x="137666" y="96738"/>
                </a:cubicBezTo>
                <a:cubicBezTo>
                  <a:pt x="143827" y="96738"/>
                  <a:pt x="148828" y="101740"/>
                  <a:pt x="148828" y="107900"/>
                </a:cubicBezTo>
                <a:close/>
                <a:moveTo>
                  <a:pt x="40928" y="163711"/>
                </a:moveTo>
                <a:cubicBezTo>
                  <a:pt x="34767" y="163711"/>
                  <a:pt x="29766" y="158709"/>
                  <a:pt x="29766" y="152549"/>
                </a:cubicBezTo>
                <a:cubicBezTo>
                  <a:pt x="29766" y="146388"/>
                  <a:pt x="34767" y="141387"/>
                  <a:pt x="40928" y="141387"/>
                </a:cubicBezTo>
                <a:cubicBezTo>
                  <a:pt x="47088" y="141387"/>
                  <a:pt x="52090" y="146388"/>
                  <a:pt x="52090" y="152549"/>
                </a:cubicBezTo>
                <a:cubicBezTo>
                  <a:pt x="52090" y="158709"/>
                  <a:pt x="47088" y="163711"/>
                  <a:pt x="40928" y="163711"/>
                </a:cubicBezTo>
                <a:close/>
                <a:moveTo>
                  <a:pt x="100459" y="152549"/>
                </a:moveTo>
                <a:cubicBezTo>
                  <a:pt x="100459" y="158709"/>
                  <a:pt x="95457" y="163711"/>
                  <a:pt x="89297" y="163711"/>
                </a:cubicBezTo>
                <a:cubicBezTo>
                  <a:pt x="83136" y="163711"/>
                  <a:pt x="78135" y="158709"/>
                  <a:pt x="78135" y="152549"/>
                </a:cubicBezTo>
                <a:cubicBezTo>
                  <a:pt x="78135" y="146388"/>
                  <a:pt x="83136" y="141387"/>
                  <a:pt x="89297" y="141387"/>
                </a:cubicBezTo>
                <a:cubicBezTo>
                  <a:pt x="95457" y="141387"/>
                  <a:pt x="100459" y="146388"/>
                  <a:pt x="100459" y="152549"/>
                </a:cubicBezTo>
                <a:close/>
                <a:moveTo>
                  <a:pt x="137666" y="163711"/>
                </a:moveTo>
                <a:cubicBezTo>
                  <a:pt x="131505" y="163711"/>
                  <a:pt x="126504" y="158709"/>
                  <a:pt x="126504" y="152549"/>
                </a:cubicBezTo>
                <a:cubicBezTo>
                  <a:pt x="126504" y="146388"/>
                  <a:pt x="131505" y="141387"/>
                  <a:pt x="137666" y="141387"/>
                </a:cubicBezTo>
                <a:cubicBezTo>
                  <a:pt x="143827" y="141387"/>
                  <a:pt x="148828" y="146388"/>
                  <a:pt x="148828" y="152549"/>
                </a:cubicBezTo>
                <a:cubicBezTo>
                  <a:pt x="148828" y="158709"/>
                  <a:pt x="143827" y="163711"/>
                  <a:pt x="137666" y="163711"/>
                </a:cubicBezTo>
                <a:close/>
                <a:moveTo>
                  <a:pt x="29766" y="197197"/>
                </a:moveTo>
                <a:cubicBezTo>
                  <a:pt x="29766" y="191012"/>
                  <a:pt x="34742" y="186035"/>
                  <a:pt x="40928" y="186035"/>
                </a:cubicBezTo>
                <a:lnTo>
                  <a:pt x="93018" y="186035"/>
                </a:lnTo>
                <a:cubicBezTo>
                  <a:pt x="99203" y="186035"/>
                  <a:pt x="104180" y="191012"/>
                  <a:pt x="104180" y="197197"/>
                </a:cubicBezTo>
                <a:cubicBezTo>
                  <a:pt x="104180" y="203383"/>
                  <a:pt x="99203" y="208359"/>
                  <a:pt x="93018" y="208359"/>
                </a:cubicBezTo>
                <a:lnTo>
                  <a:pt x="40928" y="208359"/>
                </a:lnTo>
                <a:cubicBezTo>
                  <a:pt x="34742" y="208359"/>
                  <a:pt x="29766" y="203383"/>
                  <a:pt x="29766" y="197197"/>
                </a:cubicBezTo>
                <a:close/>
                <a:moveTo>
                  <a:pt x="137666" y="186035"/>
                </a:moveTo>
                <a:cubicBezTo>
                  <a:pt x="143852" y="186035"/>
                  <a:pt x="148828" y="191012"/>
                  <a:pt x="148828" y="197197"/>
                </a:cubicBezTo>
                <a:cubicBezTo>
                  <a:pt x="148828" y="203383"/>
                  <a:pt x="143852" y="208359"/>
                  <a:pt x="137666" y="208359"/>
                </a:cubicBezTo>
                <a:cubicBezTo>
                  <a:pt x="131480" y="208359"/>
                  <a:pt x="126504" y="203383"/>
                  <a:pt x="126504" y="197197"/>
                </a:cubicBezTo>
                <a:cubicBezTo>
                  <a:pt x="126504" y="191012"/>
                  <a:pt x="131480" y="186035"/>
                  <a:pt x="137666" y="18603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5700" y="2397923"/>
            <a:ext cx="157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Trip Fares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0700" y="2905923"/>
            <a:ext cx="5357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accurate fare estimation before the ride begins, improving customer experience and trust.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3445666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9762" y="35663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814387" y="3540916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Pre-ride price transparency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81725" y="2074069"/>
            <a:ext cx="5688013" cy="1949450"/>
          </a:xfrm>
          <a:custGeom>
            <a:avLst/>
            <a:gdLst/>
            <a:ahLst/>
            <a:cxnLst/>
            <a:rect l="l" t="t" r="r" b="b"/>
            <a:pathLst>
              <a:path w="5688013" h="1949450">
                <a:moveTo>
                  <a:pt x="63494" y="0"/>
                </a:moveTo>
                <a:lnTo>
                  <a:pt x="5624519" y="0"/>
                </a:lnTo>
                <a:cubicBezTo>
                  <a:pt x="5659585" y="0"/>
                  <a:pt x="5688013" y="28427"/>
                  <a:pt x="5688013" y="63494"/>
                </a:cubicBezTo>
                <a:lnTo>
                  <a:pt x="5688013" y="1885956"/>
                </a:lnTo>
                <a:cubicBezTo>
                  <a:pt x="5688013" y="1921023"/>
                  <a:pt x="5659585" y="1949450"/>
                  <a:pt x="5624519" y="1949450"/>
                </a:cubicBezTo>
                <a:lnTo>
                  <a:pt x="63494" y="1949450"/>
                </a:lnTo>
                <a:cubicBezTo>
                  <a:pt x="28427" y="1949450"/>
                  <a:pt x="0" y="1921023"/>
                  <a:pt x="0" y="18859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8575" y="22709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515497" y="240586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29766"/>
                </a:moveTo>
                <a:cubicBezTo>
                  <a:pt x="29766" y="21534"/>
                  <a:pt x="23115" y="14883"/>
                  <a:pt x="14883" y="14883"/>
                </a:cubicBezTo>
                <a:cubicBezTo>
                  <a:pt x="6651" y="14883"/>
                  <a:pt x="0" y="21534"/>
                  <a:pt x="0" y="29766"/>
                </a:cubicBezTo>
                <a:lnTo>
                  <a:pt x="0" y="186035"/>
                </a:lnTo>
                <a:cubicBezTo>
                  <a:pt x="0" y="206592"/>
                  <a:pt x="16650" y="223242"/>
                  <a:pt x="37207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cubicBezTo>
                  <a:pt x="238125" y="200127"/>
                  <a:pt x="231474" y="193477"/>
                  <a:pt x="223242" y="193477"/>
                </a:cubicBezTo>
                <a:lnTo>
                  <a:pt x="37207" y="193477"/>
                </a:lnTo>
                <a:cubicBezTo>
                  <a:pt x="33114" y="193477"/>
                  <a:pt x="29766" y="190128"/>
                  <a:pt x="29766" y="186035"/>
                </a:cubicBezTo>
                <a:lnTo>
                  <a:pt x="29766" y="29766"/>
                </a:lnTo>
                <a:close/>
                <a:moveTo>
                  <a:pt x="218870" y="70042"/>
                </a:moveTo>
                <a:cubicBezTo>
                  <a:pt x="224684" y="64229"/>
                  <a:pt x="224684" y="54787"/>
                  <a:pt x="218870" y="48974"/>
                </a:cubicBezTo>
                <a:cubicBezTo>
                  <a:pt x="213057" y="43160"/>
                  <a:pt x="203615" y="43160"/>
                  <a:pt x="197802" y="48974"/>
                </a:cubicBezTo>
                <a:lnTo>
                  <a:pt x="148828" y="97994"/>
                </a:lnTo>
                <a:lnTo>
                  <a:pt x="122132" y="71344"/>
                </a:lnTo>
                <a:cubicBezTo>
                  <a:pt x="116318" y="65531"/>
                  <a:pt x="106877" y="65531"/>
                  <a:pt x="101064" y="71344"/>
                </a:cubicBezTo>
                <a:lnTo>
                  <a:pt x="56415" y="115993"/>
                </a:lnTo>
                <a:cubicBezTo>
                  <a:pt x="50602" y="121807"/>
                  <a:pt x="50602" y="131248"/>
                  <a:pt x="56415" y="137061"/>
                </a:cubicBezTo>
                <a:cubicBezTo>
                  <a:pt x="62229" y="142875"/>
                  <a:pt x="71670" y="142875"/>
                  <a:pt x="77484" y="137061"/>
                </a:cubicBezTo>
                <a:lnTo>
                  <a:pt x="111621" y="102924"/>
                </a:lnTo>
                <a:lnTo>
                  <a:pt x="138317" y="129620"/>
                </a:lnTo>
                <a:cubicBezTo>
                  <a:pt x="144131" y="135434"/>
                  <a:pt x="153572" y="135434"/>
                  <a:pt x="159386" y="129620"/>
                </a:cubicBezTo>
                <a:lnTo>
                  <a:pt x="218917" y="70089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7013575" y="2397923"/>
            <a:ext cx="2532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 Demand &amp; Revenue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8575" y="2905923"/>
            <a:ext cx="5357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potential earnings and demand patterns to support financial planning and resource allocation.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78575" y="3445666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97638" y="35663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4" name="Text 22"/>
          <p:cNvSpPr/>
          <p:nvPr/>
        </p:nvSpPr>
        <p:spPr>
          <a:xfrm>
            <a:off x="6672263" y="3540916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revenue forecasting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3850" y="4194978"/>
            <a:ext cx="5688013" cy="1743075"/>
          </a:xfrm>
          <a:custGeom>
            <a:avLst/>
            <a:gdLst/>
            <a:ahLst/>
            <a:cxnLst/>
            <a:rect l="l" t="t" r="r" b="b"/>
            <a:pathLst>
              <a:path w="5688013" h="1743075">
                <a:moveTo>
                  <a:pt x="63500" y="0"/>
                </a:moveTo>
                <a:lnTo>
                  <a:pt x="5624512" y="0"/>
                </a:lnTo>
                <a:cubicBezTo>
                  <a:pt x="5659582" y="0"/>
                  <a:pt x="5688013" y="28430"/>
                  <a:pt x="5688013" y="63500"/>
                </a:cubicBezTo>
                <a:lnTo>
                  <a:pt x="5688013" y="1679575"/>
                </a:lnTo>
                <a:cubicBezTo>
                  <a:pt x="5688013" y="1714645"/>
                  <a:pt x="5659582" y="1743075"/>
                  <a:pt x="5624512" y="1743075"/>
                </a:cubicBezTo>
                <a:lnTo>
                  <a:pt x="63500" y="1743075"/>
                </a:lnTo>
                <a:cubicBezTo>
                  <a:pt x="28430" y="1743075"/>
                  <a:pt x="0" y="1714645"/>
                  <a:pt x="0" y="167957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0700" y="43918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57622" y="45267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89297" y="0"/>
                </a:moveTo>
                <a:cubicBezTo>
                  <a:pt x="81065" y="0"/>
                  <a:pt x="74414" y="6651"/>
                  <a:pt x="74414" y="14883"/>
                </a:cubicBezTo>
                <a:lnTo>
                  <a:pt x="74414" y="29766"/>
                </a:lnTo>
                <a:lnTo>
                  <a:pt x="70275" y="29766"/>
                </a:lnTo>
                <a:cubicBezTo>
                  <a:pt x="50741" y="29766"/>
                  <a:pt x="33486" y="42463"/>
                  <a:pt x="27673" y="61113"/>
                </a:cubicBezTo>
                <a:lnTo>
                  <a:pt x="16976" y="95297"/>
                </a:lnTo>
                <a:cubicBezTo>
                  <a:pt x="6744" y="101901"/>
                  <a:pt x="0" y="113435"/>
                  <a:pt x="0" y="126504"/>
                </a:cubicBezTo>
                <a:lnTo>
                  <a:pt x="0" y="208359"/>
                </a:lnTo>
                <a:cubicBezTo>
                  <a:pt x="0" y="216591"/>
                  <a:pt x="6651" y="223242"/>
                  <a:pt x="14883" y="223242"/>
                </a:cubicBezTo>
                <a:lnTo>
                  <a:pt x="29766" y="223242"/>
                </a:lnTo>
                <a:cubicBezTo>
                  <a:pt x="37998" y="223242"/>
                  <a:pt x="44648" y="216591"/>
                  <a:pt x="44648" y="208359"/>
                </a:cubicBezTo>
                <a:lnTo>
                  <a:pt x="44648" y="193477"/>
                </a:lnTo>
                <a:lnTo>
                  <a:pt x="193477" y="193477"/>
                </a:lnTo>
                <a:lnTo>
                  <a:pt x="193477" y="208359"/>
                </a:lnTo>
                <a:cubicBezTo>
                  <a:pt x="193477" y="216591"/>
                  <a:pt x="200127" y="223242"/>
                  <a:pt x="208359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lnTo>
                  <a:pt x="238125" y="126504"/>
                </a:lnTo>
                <a:cubicBezTo>
                  <a:pt x="238125" y="113435"/>
                  <a:pt x="231381" y="101901"/>
                  <a:pt x="221196" y="95297"/>
                </a:cubicBezTo>
                <a:lnTo>
                  <a:pt x="210499" y="61113"/>
                </a:lnTo>
                <a:cubicBezTo>
                  <a:pt x="204685" y="42463"/>
                  <a:pt x="187384" y="29766"/>
                  <a:pt x="167850" y="29766"/>
                </a:cubicBezTo>
                <a:lnTo>
                  <a:pt x="163711" y="29766"/>
                </a:lnTo>
                <a:lnTo>
                  <a:pt x="163711" y="14883"/>
                </a:lnTo>
                <a:cubicBezTo>
                  <a:pt x="163711" y="6651"/>
                  <a:pt x="157060" y="0"/>
                  <a:pt x="148828" y="0"/>
                </a:cubicBezTo>
                <a:lnTo>
                  <a:pt x="89297" y="0"/>
                </a:lnTo>
                <a:close/>
                <a:moveTo>
                  <a:pt x="70275" y="59531"/>
                </a:moveTo>
                <a:lnTo>
                  <a:pt x="167897" y="59531"/>
                </a:lnTo>
                <a:cubicBezTo>
                  <a:pt x="174408" y="59531"/>
                  <a:pt x="180175" y="63764"/>
                  <a:pt x="182082" y="69996"/>
                </a:cubicBezTo>
                <a:lnTo>
                  <a:pt x="188128" y="89297"/>
                </a:lnTo>
                <a:lnTo>
                  <a:pt x="50043" y="89297"/>
                </a:lnTo>
                <a:lnTo>
                  <a:pt x="56090" y="69996"/>
                </a:lnTo>
                <a:cubicBezTo>
                  <a:pt x="58043" y="63764"/>
                  <a:pt x="63764" y="59531"/>
                  <a:pt x="70275" y="59531"/>
                </a:cubicBezTo>
                <a:close/>
                <a:moveTo>
                  <a:pt x="44648" y="126504"/>
                </a:moveTo>
                <a:cubicBezTo>
                  <a:pt x="52862" y="126504"/>
                  <a:pt x="59531" y="133173"/>
                  <a:pt x="59531" y="141387"/>
                </a:cubicBezTo>
                <a:cubicBezTo>
                  <a:pt x="59531" y="149601"/>
                  <a:pt x="52862" y="156270"/>
                  <a:pt x="44648" y="156270"/>
                </a:cubicBezTo>
                <a:cubicBezTo>
                  <a:pt x="36434" y="156270"/>
                  <a:pt x="29766" y="149601"/>
                  <a:pt x="29766" y="141387"/>
                </a:cubicBezTo>
                <a:cubicBezTo>
                  <a:pt x="29766" y="133173"/>
                  <a:pt x="36434" y="126504"/>
                  <a:pt x="44648" y="126504"/>
                </a:cubicBezTo>
                <a:close/>
                <a:moveTo>
                  <a:pt x="178594" y="141387"/>
                </a:moveTo>
                <a:cubicBezTo>
                  <a:pt x="178594" y="133173"/>
                  <a:pt x="185263" y="126504"/>
                  <a:pt x="193477" y="126504"/>
                </a:cubicBezTo>
                <a:cubicBezTo>
                  <a:pt x="201691" y="126504"/>
                  <a:pt x="208359" y="133173"/>
                  <a:pt x="208359" y="141387"/>
                </a:cubicBezTo>
                <a:cubicBezTo>
                  <a:pt x="208359" y="149601"/>
                  <a:pt x="201691" y="156270"/>
                  <a:pt x="193477" y="156270"/>
                </a:cubicBezTo>
                <a:cubicBezTo>
                  <a:pt x="185263" y="156270"/>
                  <a:pt x="178594" y="149601"/>
                  <a:pt x="178594" y="14138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1155700" y="4518825"/>
            <a:ext cx="2309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Taxi Deployment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0700" y="5026825"/>
            <a:ext cx="5357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vehicles strategically based on predicted demand patterns and high-revenue zones.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0700" y="5360200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9762" y="548084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2" name="Text 30"/>
          <p:cNvSpPr/>
          <p:nvPr/>
        </p:nvSpPr>
        <p:spPr>
          <a:xfrm>
            <a:off x="814387" y="5455450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fleet management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1725" y="4194978"/>
            <a:ext cx="5688013" cy="1743075"/>
          </a:xfrm>
          <a:custGeom>
            <a:avLst/>
            <a:gdLst/>
            <a:ahLst/>
            <a:cxnLst/>
            <a:rect l="l" t="t" r="r" b="b"/>
            <a:pathLst>
              <a:path w="5688013" h="1743075">
                <a:moveTo>
                  <a:pt x="63500" y="0"/>
                </a:moveTo>
                <a:lnTo>
                  <a:pt x="5624512" y="0"/>
                </a:lnTo>
                <a:cubicBezTo>
                  <a:pt x="5659582" y="0"/>
                  <a:pt x="5688013" y="28430"/>
                  <a:pt x="5688013" y="63500"/>
                </a:cubicBezTo>
                <a:lnTo>
                  <a:pt x="5688013" y="1679575"/>
                </a:lnTo>
                <a:cubicBezTo>
                  <a:pt x="5688013" y="1714645"/>
                  <a:pt x="5659582" y="1743075"/>
                  <a:pt x="5624512" y="1743075"/>
                </a:cubicBezTo>
                <a:lnTo>
                  <a:pt x="63500" y="1743075"/>
                </a:lnTo>
                <a:cubicBezTo>
                  <a:pt x="28430" y="1743075"/>
                  <a:pt x="0" y="1714645"/>
                  <a:pt x="0" y="1679575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8575" y="43918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D8A252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500614" y="4526762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25062" y="39625"/>
                </a:moveTo>
                <a:lnTo>
                  <a:pt x="70833" y="99901"/>
                </a:lnTo>
                <a:cubicBezTo>
                  <a:pt x="68693" y="102273"/>
                  <a:pt x="68786" y="105947"/>
                  <a:pt x="71065" y="108226"/>
                </a:cubicBezTo>
                <a:cubicBezTo>
                  <a:pt x="85251" y="122411"/>
                  <a:pt x="108272" y="122411"/>
                  <a:pt x="122458" y="108226"/>
                </a:cubicBezTo>
                <a:lnTo>
                  <a:pt x="137247" y="93436"/>
                </a:lnTo>
                <a:cubicBezTo>
                  <a:pt x="139201" y="91483"/>
                  <a:pt x="141666" y="90413"/>
                  <a:pt x="144177" y="90227"/>
                </a:cubicBezTo>
                <a:cubicBezTo>
                  <a:pt x="147340" y="89948"/>
                  <a:pt x="150595" y="91018"/>
                  <a:pt x="153014" y="93436"/>
                </a:cubicBezTo>
                <a:lnTo>
                  <a:pt x="235148" y="174873"/>
                </a:lnTo>
                <a:lnTo>
                  <a:pt x="267891" y="148828"/>
                </a:lnTo>
                <a:lnTo>
                  <a:pt x="267891" y="14883"/>
                </a:lnTo>
                <a:lnTo>
                  <a:pt x="215801" y="44648"/>
                </a:lnTo>
                <a:lnTo>
                  <a:pt x="204732" y="37254"/>
                </a:lnTo>
                <a:cubicBezTo>
                  <a:pt x="197383" y="32370"/>
                  <a:pt x="188779" y="29766"/>
                  <a:pt x="179943" y="29766"/>
                </a:cubicBezTo>
                <a:lnTo>
                  <a:pt x="147200" y="29766"/>
                </a:lnTo>
                <a:cubicBezTo>
                  <a:pt x="146689" y="29766"/>
                  <a:pt x="146131" y="29766"/>
                  <a:pt x="145619" y="29812"/>
                </a:cubicBezTo>
                <a:cubicBezTo>
                  <a:pt x="137759" y="30231"/>
                  <a:pt x="130364" y="33765"/>
                  <a:pt x="125062" y="39625"/>
                </a:cubicBezTo>
                <a:close/>
                <a:moveTo>
                  <a:pt x="54229" y="84972"/>
                </a:moveTo>
                <a:lnTo>
                  <a:pt x="103901" y="29766"/>
                </a:lnTo>
                <a:lnTo>
                  <a:pt x="85483" y="29766"/>
                </a:lnTo>
                <a:cubicBezTo>
                  <a:pt x="73623" y="29766"/>
                  <a:pt x="62275" y="34463"/>
                  <a:pt x="53904" y="42835"/>
                </a:cubicBezTo>
                <a:lnTo>
                  <a:pt x="52090" y="44648"/>
                </a:lnTo>
                <a:lnTo>
                  <a:pt x="0" y="14883"/>
                </a:lnTo>
                <a:lnTo>
                  <a:pt x="0" y="148828"/>
                </a:lnTo>
                <a:lnTo>
                  <a:pt x="72740" y="209429"/>
                </a:lnTo>
                <a:cubicBezTo>
                  <a:pt x="83437" y="218359"/>
                  <a:pt x="96924" y="223242"/>
                  <a:pt x="110830" y="223242"/>
                </a:cubicBezTo>
                <a:lnTo>
                  <a:pt x="118132" y="223242"/>
                </a:lnTo>
                <a:lnTo>
                  <a:pt x="114877" y="219987"/>
                </a:lnTo>
                <a:cubicBezTo>
                  <a:pt x="110505" y="215615"/>
                  <a:pt x="110505" y="208545"/>
                  <a:pt x="114877" y="204220"/>
                </a:cubicBezTo>
                <a:cubicBezTo>
                  <a:pt x="119249" y="199895"/>
                  <a:pt x="126318" y="199848"/>
                  <a:pt x="130643" y="204220"/>
                </a:cubicBezTo>
                <a:lnTo>
                  <a:pt x="149712" y="223289"/>
                </a:lnTo>
                <a:lnTo>
                  <a:pt x="153898" y="223289"/>
                </a:lnTo>
                <a:cubicBezTo>
                  <a:pt x="162781" y="223289"/>
                  <a:pt x="171478" y="221289"/>
                  <a:pt x="179384" y="217568"/>
                </a:cubicBezTo>
                <a:lnTo>
                  <a:pt x="166967" y="205104"/>
                </a:lnTo>
                <a:cubicBezTo>
                  <a:pt x="162595" y="200732"/>
                  <a:pt x="162595" y="193663"/>
                  <a:pt x="166967" y="189337"/>
                </a:cubicBezTo>
                <a:cubicBezTo>
                  <a:pt x="171338" y="185012"/>
                  <a:pt x="178408" y="184965"/>
                  <a:pt x="182733" y="189337"/>
                </a:cubicBezTo>
                <a:lnTo>
                  <a:pt x="197616" y="204220"/>
                </a:lnTo>
                <a:lnTo>
                  <a:pt x="205755" y="196081"/>
                </a:lnTo>
                <a:cubicBezTo>
                  <a:pt x="209894" y="191942"/>
                  <a:pt x="211103" y="185942"/>
                  <a:pt x="209290" y="180687"/>
                </a:cubicBezTo>
                <a:lnTo>
                  <a:pt x="145154" y="117063"/>
                </a:lnTo>
                <a:lnTo>
                  <a:pt x="138224" y="123992"/>
                </a:lnTo>
                <a:cubicBezTo>
                  <a:pt x="115295" y="146921"/>
                  <a:pt x="78181" y="146921"/>
                  <a:pt x="55252" y="123992"/>
                </a:cubicBezTo>
                <a:cubicBezTo>
                  <a:pt x="44555" y="113295"/>
                  <a:pt x="44137" y="96134"/>
                  <a:pt x="54229" y="8492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6" name="Text 34"/>
          <p:cNvSpPr/>
          <p:nvPr/>
        </p:nvSpPr>
        <p:spPr>
          <a:xfrm>
            <a:off x="7013575" y="4518825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Pricing Transparency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78575" y="5026825"/>
            <a:ext cx="5357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customer trust through clear, data-driven pricing that reflects actual trip characteristics.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8575" y="5360200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97638" y="5480844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0" name="Text 38"/>
          <p:cNvSpPr/>
          <p:nvPr/>
        </p:nvSpPr>
        <p:spPr>
          <a:xfrm>
            <a:off x="6672263" y="5455450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customer satisfaction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3850" y="6109497"/>
            <a:ext cx="11545888" cy="806450"/>
          </a:xfrm>
          <a:custGeom>
            <a:avLst/>
            <a:gdLst/>
            <a:ahLst/>
            <a:cxnLst/>
            <a:rect l="l" t="t" r="r" b="b"/>
            <a:pathLst>
              <a:path w="11545888" h="806450">
                <a:moveTo>
                  <a:pt x="63500" y="0"/>
                </a:moveTo>
                <a:lnTo>
                  <a:pt x="11482388" y="0"/>
                </a:lnTo>
                <a:cubicBezTo>
                  <a:pt x="11517458" y="0"/>
                  <a:pt x="11545888" y="28430"/>
                  <a:pt x="11545888" y="63500"/>
                </a:cubicBezTo>
                <a:lnTo>
                  <a:pt x="11545888" y="742950"/>
                </a:lnTo>
                <a:cubicBezTo>
                  <a:pt x="11545888" y="778020"/>
                  <a:pt x="11517458" y="806450"/>
                  <a:pt x="11482388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4669" y="636984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3" name="Text 41"/>
          <p:cNvSpPr/>
          <p:nvPr/>
        </p:nvSpPr>
        <p:spPr>
          <a:xfrm>
            <a:off x="973137" y="6274594"/>
            <a:ext cx="4849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Value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3137" y="6560344"/>
            <a:ext cx="483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can help organizations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data-driven decisions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optimize operations.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381000"/>
            <a:ext cx="1181100" cy="381000"/>
          </a:xfrm>
          <a:custGeom>
            <a:avLst/>
            <a:gdLst/>
            <a:ahLst/>
            <a:cxnLst/>
            <a:rect l="l" t="t" r="r" b="b"/>
            <a:pathLst>
              <a:path w="1181100" h="381000">
                <a:moveTo>
                  <a:pt x="0" y="0"/>
                </a:moveTo>
                <a:lnTo>
                  <a:pt x="1181100" y="0"/>
                </a:lnTo>
                <a:lnTo>
                  <a:pt x="1181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38100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5720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19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144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00200"/>
            <a:ext cx="11410950" cy="695325"/>
          </a:xfrm>
          <a:custGeom>
            <a:avLst/>
            <a:gdLst/>
            <a:ahLst/>
            <a:cxnLst/>
            <a:rect l="l" t="t" r="r" b="b"/>
            <a:pathLst>
              <a:path w="11410950" h="695325">
                <a:moveTo>
                  <a:pt x="38097" y="0"/>
                </a:moveTo>
                <a:lnTo>
                  <a:pt x="11372853" y="0"/>
                </a:lnTo>
                <a:cubicBezTo>
                  <a:pt x="11393879" y="0"/>
                  <a:pt x="11410950" y="17071"/>
                  <a:pt x="11410950" y="38097"/>
                </a:cubicBezTo>
                <a:lnTo>
                  <a:pt x="11410950" y="657228"/>
                </a:lnTo>
                <a:cubicBezTo>
                  <a:pt x="11410950" y="678254"/>
                  <a:pt x="11393879" y="695325"/>
                  <a:pt x="11372853" y="695325"/>
                </a:cubicBezTo>
                <a:lnTo>
                  <a:pt x="38097" y="695325"/>
                </a:lnTo>
                <a:cubicBezTo>
                  <a:pt x="17071" y="695325"/>
                  <a:pt x="0" y="678254"/>
                  <a:pt x="0" y="657228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00200"/>
            <a:ext cx="38100" cy="695325"/>
          </a:xfrm>
          <a:custGeom>
            <a:avLst/>
            <a:gdLst/>
            <a:ahLst/>
            <a:cxnLst/>
            <a:rect l="l" t="t" r="r" b="b"/>
            <a:pathLst>
              <a:path w="38100" h="695325">
                <a:moveTo>
                  <a:pt x="38100" y="0"/>
                </a:moveTo>
                <a:lnTo>
                  <a:pt x="38100" y="0"/>
                </a:lnTo>
                <a:lnTo>
                  <a:pt x="38100" y="695325"/>
                </a:lnTo>
                <a:lnTo>
                  <a:pt x="38100" y="695325"/>
                </a:lnTo>
                <a:cubicBezTo>
                  <a:pt x="17072" y="695325"/>
                  <a:pt x="0" y="678253"/>
                  <a:pt x="0" y="657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790700"/>
            <a:ext cx="11106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Several challenges were encountered during the project that required careful handling and innovative solutions.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" y="2488882"/>
            <a:ext cx="5606415" cy="1234440"/>
          </a:xfrm>
          <a:custGeom>
            <a:avLst/>
            <a:gdLst/>
            <a:ahLst/>
            <a:cxnLst/>
            <a:rect l="l" t="t" r="r" b="b"/>
            <a:pathLst>
              <a:path w="5606415" h="1234440">
                <a:moveTo>
                  <a:pt x="76202" y="0"/>
                </a:moveTo>
                <a:lnTo>
                  <a:pt x="5530213" y="0"/>
                </a:lnTo>
                <a:cubicBezTo>
                  <a:pt x="5572298" y="0"/>
                  <a:pt x="5606415" y="34117"/>
                  <a:pt x="5606415" y="76202"/>
                </a:cubicBezTo>
                <a:lnTo>
                  <a:pt x="5606415" y="1158238"/>
                </a:lnTo>
                <a:cubicBezTo>
                  <a:pt x="5606415" y="1200323"/>
                  <a:pt x="5572298" y="1234440"/>
                  <a:pt x="5530213" y="1234440"/>
                </a:cubicBezTo>
                <a:lnTo>
                  <a:pt x="76202" y="1234440"/>
                </a:lnTo>
                <a:cubicBezTo>
                  <a:pt x="34117" y="1234440"/>
                  <a:pt x="0" y="1200323"/>
                  <a:pt x="0" y="115823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6740" y="268699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739140" y="283939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1431"/>
                </a:moveTo>
                <a:cubicBezTo>
                  <a:pt x="228600" y="16475"/>
                  <a:pt x="226055" y="11876"/>
                  <a:pt x="221813" y="9287"/>
                </a:cubicBezTo>
                <a:cubicBezTo>
                  <a:pt x="217572" y="6697"/>
                  <a:pt x="212348" y="6429"/>
                  <a:pt x="207928" y="8662"/>
                </a:cubicBezTo>
                <a:lnTo>
                  <a:pt x="156046" y="34603"/>
                </a:lnTo>
                <a:lnTo>
                  <a:pt x="75947" y="7858"/>
                </a:lnTo>
                <a:cubicBezTo>
                  <a:pt x="72330" y="6653"/>
                  <a:pt x="68446" y="6921"/>
                  <a:pt x="65053" y="8617"/>
                </a:cubicBezTo>
                <a:lnTo>
                  <a:pt x="7903" y="37192"/>
                </a:lnTo>
                <a:cubicBezTo>
                  <a:pt x="3036" y="39648"/>
                  <a:pt x="0" y="44604"/>
                  <a:pt x="0" y="50006"/>
                </a:cubicBezTo>
                <a:lnTo>
                  <a:pt x="0" y="207169"/>
                </a:lnTo>
                <a:cubicBezTo>
                  <a:pt x="0" y="212125"/>
                  <a:pt x="2545" y="216724"/>
                  <a:pt x="6787" y="219313"/>
                </a:cubicBezTo>
                <a:cubicBezTo>
                  <a:pt x="11028" y="221903"/>
                  <a:pt x="16252" y="222171"/>
                  <a:pt x="20672" y="219938"/>
                </a:cubicBezTo>
                <a:lnTo>
                  <a:pt x="72509" y="193997"/>
                </a:lnTo>
                <a:lnTo>
                  <a:pt x="152608" y="220697"/>
                </a:lnTo>
                <a:cubicBezTo>
                  <a:pt x="156225" y="221903"/>
                  <a:pt x="160109" y="221635"/>
                  <a:pt x="163503" y="219938"/>
                </a:cubicBezTo>
                <a:lnTo>
                  <a:pt x="220653" y="191363"/>
                </a:lnTo>
                <a:cubicBezTo>
                  <a:pt x="225475" y="188952"/>
                  <a:pt x="228555" y="183996"/>
                  <a:pt x="228555" y="178594"/>
                </a:cubicBezTo>
                <a:lnTo>
                  <a:pt x="228555" y="21431"/>
                </a:lnTo>
                <a:close/>
                <a:moveTo>
                  <a:pt x="85725" y="168280"/>
                </a:moveTo>
                <a:lnTo>
                  <a:pt x="85725" y="41255"/>
                </a:lnTo>
                <a:lnTo>
                  <a:pt x="142875" y="60320"/>
                </a:lnTo>
                <a:lnTo>
                  <a:pt x="142875" y="187345"/>
                </a:lnTo>
                <a:lnTo>
                  <a:pt x="85725" y="168280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272540" y="2686999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Geographic Information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2540" y="3029899"/>
            <a:ext cx="4600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records lacked complete location data, requiring imputation or exclusion from the analysis.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8620" y="3890974"/>
            <a:ext cx="5606415" cy="1234440"/>
          </a:xfrm>
          <a:custGeom>
            <a:avLst/>
            <a:gdLst/>
            <a:ahLst/>
            <a:cxnLst/>
            <a:rect l="l" t="t" r="r" b="b"/>
            <a:pathLst>
              <a:path w="5606415" h="1234440">
                <a:moveTo>
                  <a:pt x="76202" y="0"/>
                </a:moveTo>
                <a:lnTo>
                  <a:pt x="5530213" y="0"/>
                </a:lnTo>
                <a:cubicBezTo>
                  <a:pt x="5572298" y="0"/>
                  <a:pt x="5606415" y="34117"/>
                  <a:pt x="5606415" y="76202"/>
                </a:cubicBezTo>
                <a:lnTo>
                  <a:pt x="5606415" y="1158238"/>
                </a:lnTo>
                <a:cubicBezTo>
                  <a:pt x="5606415" y="1200323"/>
                  <a:pt x="5572298" y="1234440"/>
                  <a:pt x="5530213" y="1234440"/>
                </a:cubicBezTo>
                <a:lnTo>
                  <a:pt x="76202" y="1234440"/>
                </a:lnTo>
                <a:cubicBezTo>
                  <a:pt x="34117" y="1234440"/>
                  <a:pt x="0" y="1200323"/>
                  <a:pt x="0" y="115823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40" y="408909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9140" y="42414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7" name="Text 15"/>
          <p:cNvSpPr/>
          <p:nvPr/>
        </p:nvSpPr>
        <p:spPr>
          <a:xfrm>
            <a:off x="1272540" y="4089090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 in Trip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2540" y="4431990"/>
            <a:ext cx="4600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values in distance, duration, and fare required careful outlier detection and handling strategies.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8870" y="2488882"/>
            <a:ext cx="5606415" cy="1234440"/>
          </a:xfrm>
          <a:custGeom>
            <a:avLst/>
            <a:gdLst/>
            <a:ahLst/>
            <a:cxnLst/>
            <a:rect l="l" t="t" r="r" b="b"/>
            <a:pathLst>
              <a:path w="5606415" h="1234440">
                <a:moveTo>
                  <a:pt x="76202" y="0"/>
                </a:moveTo>
                <a:lnTo>
                  <a:pt x="5530213" y="0"/>
                </a:lnTo>
                <a:cubicBezTo>
                  <a:pt x="5572298" y="0"/>
                  <a:pt x="5606415" y="34117"/>
                  <a:pt x="5606415" y="76202"/>
                </a:cubicBezTo>
                <a:lnTo>
                  <a:pt x="5606415" y="1158238"/>
                </a:lnTo>
                <a:cubicBezTo>
                  <a:pt x="5606415" y="1200323"/>
                  <a:pt x="5572298" y="1234440"/>
                  <a:pt x="5530213" y="1234440"/>
                </a:cubicBezTo>
                <a:lnTo>
                  <a:pt x="76202" y="1234440"/>
                </a:lnTo>
                <a:cubicBezTo>
                  <a:pt x="34117" y="1234440"/>
                  <a:pt x="0" y="1200323"/>
                  <a:pt x="0" y="115823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6990" y="268699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520815" y="283939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7082790" y="2686999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Imbalance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2790" y="3029899"/>
            <a:ext cx="4600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Uneven distribution in payment types and trip categories affected model training and required balancing techniques.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8870" y="3890974"/>
            <a:ext cx="5606415" cy="1234440"/>
          </a:xfrm>
          <a:custGeom>
            <a:avLst/>
            <a:gdLst/>
            <a:ahLst/>
            <a:cxnLst/>
            <a:rect l="l" t="t" r="r" b="b"/>
            <a:pathLst>
              <a:path w="5606415" h="1234440">
                <a:moveTo>
                  <a:pt x="76202" y="0"/>
                </a:moveTo>
                <a:lnTo>
                  <a:pt x="5530213" y="0"/>
                </a:lnTo>
                <a:cubicBezTo>
                  <a:pt x="5572298" y="0"/>
                  <a:pt x="5606415" y="34117"/>
                  <a:pt x="5606415" y="76202"/>
                </a:cubicBezTo>
                <a:lnTo>
                  <a:pt x="5606415" y="1158238"/>
                </a:lnTo>
                <a:cubicBezTo>
                  <a:pt x="5606415" y="1200323"/>
                  <a:pt x="5572298" y="1234440"/>
                  <a:pt x="5530213" y="1234440"/>
                </a:cubicBezTo>
                <a:lnTo>
                  <a:pt x="76202" y="1234440"/>
                </a:lnTo>
                <a:cubicBezTo>
                  <a:pt x="34117" y="1234440"/>
                  <a:pt x="0" y="1200323"/>
                  <a:pt x="0" y="115823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6990" y="408909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549390" y="424149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7" name="Text 25"/>
          <p:cNvSpPr/>
          <p:nvPr/>
        </p:nvSpPr>
        <p:spPr>
          <a:xfrm>
            <a:off x="7082790" y="4089090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 Cost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2790" y="4431990"/>
            <a:ext cx="4600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Spatial mapping operations were computationally intensive, requiring optimization and efficient processing strategies.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8620" y="5331146"/>
            <a:ext cx="11416665" cy="967740"/>
          </a:xfrm>
          <a:custGeom>
            <a:avLst/>
            <a:gdLst/>
            <a:ahLst/>
            <a:cxnLst/>
            <a:rect l="l" t="t" r="r" b="b"/>
            <a:pathLst>
              <a:path w="11416665" h="967740">
                <a:moveTo>
                  <a:pt x="76200" y="0"/>
                </a:moveTo>
                <a:lnTo>
                  <a:pt x="11340465" y="0"/>
                </a:lnTo>
                <a:cubicBezTo>
                  <a:pt x="11382549" y="0"/>
                  <a:pt x="11416665" y="34116"/>
                  <a:pt x="11416665" y="76200"/>
                </a:cubicBezTo>
                <a:lnTo>
                  <a:pt x="11416665" y="891540"/>
                </a:lnTo>
                <a:cubicBezTo>
                  <a:pt x="11416665" y="933624"/>
                  <a:pt x="11382549" y="967740"/>
                  <a:pt x="11340465" y="967740"/>
                </a:cubicBezTo>
                <a:lnTo>
                  <a:pt x="76200" y="967740"/>
                </a:lnTo>
                <a:cubicBezTo>
                  <a:pt x="34116" y="967740"/>
                  <a:pt x="0" y="933624"/>
                  <a:pt x="0" y="89154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465" y="5643563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1" name="Text 29"/>
          <p:cNvSpPr/>
          <p:nvPr/>
        </p:nvSpPr>
        <p:spPr>
          <a:xfrm>
            <a:off x="1167765" y="5529263"/>
            <a:ext cx="747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Experience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67765" y="5872163"/>
            <a:ext cx="745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challenges provided valuable insights for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improvements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best practices in data science projects.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17500"/>
            <a:ext cx="1016000" cy="317500"/>
          </a:xfrm>
          <a:custGeom>
            <a:avLst/>
            <a:gdLst/>
            <a:ahLst/>
            <a:cxnLst/>
            <a:rect l="l" t="t" r="r" b="b"/>
            <a:pathLst>
              <a:path w="1016000" h="317500">
                <a:moveTo>
                  <a:pt x="0" y="0"/>
                </a:moveTo>
                <a:lnTo>
                  <a:pt x="1016000" y="0"/>
                </a:lnTo>
                <a:lnTo>
                  <a:pt x="10160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3375" y="317500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476250" y="38100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20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620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333500"/>
            <a:ext cx="11541125" cy="579438"/>
          </a:xfrm>
          <a:custGeom>
            <a:avLst/>
            <a:gdLst/>
            <a:ahLst/>
            <a:cxnLst/>
            <a:rect l="l" t="t" r="r" b="b"/>
            <a:pathLst>
              <a:path w="11541125" h="579438">
                <a:moveTo>
                  <a:pt x="31747" y="0"/>
                </a:moveTo>
                <a:lnTo>
                  <a:pt x="11509378" y="0"/>
                </a:lnTo>
                <a:cubicBezTo>
                  <a:pt x="11526911" y="0"/>
                  <a:pt x="11541125" y="14214"/>
                  <a:pt x="11541125" y="31747"/>
                </a:cubicBezTo>
                <a:lnTo>
                  <a:pt x="11541125" y="547690"/>
                </a:lnTo>
                <a:cubicBezTo>
                  <a:pt x="11541125" y="565224"/>
                  <a:pt x="11526911" y="579437"/>
                  <a:pt x="11509378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333500"/>
            <a:ext cx="31750" cy="579438"/>
          </a:xfrm>
          <a:custGeom>
            <a:avLst/>
            <a:gdLst/>
            <a:ahLst/>
            <a:cxnLst/>
            <a:rect l="l" t="t" r="r" b="b"/>
            <a:pathLst>
              <a:path w="31750" h="579438">
                <a:moveTo>
                  <a:pt x="31750" y="0"/>
                </a:moveTo>
                <a:lnTo>
                  <a:pt x="31750" y="0"/>
                </a:lnTo>
                <a:lnTo>
                  <a:pt x="31750" y="579438"/>
                </a:lnTo>
                <a:lnTo>
                  <a:pt x="31750" y="579438"/>
                </a:lnTo>
                <a:cubicBezTo>
                  <a:pt x="14227" y="579438"/>
                  <a:pt x="0" y="565211"/>
                  <a:pt x="0" y="547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492250"/>
            <a:ext cx="112871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Several enhancements can further improve model performance and expand its capabilities.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850" y="2074069"/>
            <a:ext cx="5688013" cy="1949450"/>
          </a:xfrm>
          <a:custGeom>
            <a:avLst/>
            <a:gdLst/>
            <a:ahLst/>
            <a:cxnLst/>
            <a:rect l="l" t="t" r="r" b="b"/>
            <a:pathLst>
              <a:path w="5688013" h="1949450">
                <a:moveTo>
                  <a:pt x="63494" y="0"/>
                </a:moveTo>
                <a:lnTo>
                  <a:pt x="5624519" y="0"/>
                </a:lnTo>
                <a:cubicBezTo>
                  <a:pt x="5659585" y="0"/>
                  <a:pt x="5688013" y="28427"/>
                  <a:pt x="5688013" y="63494"/>
                </a:cubicBezTo>
                <a:lnTo>
                  <a:pt x="5688013" y="1885956"/>
                </a:lnTo>
                <a:cubicBezTo>
                  <a:pt x="5688013" y="1921023"/>
                  <a:pt x="5659585" y="1949450"/>
                  <a:pt x="5624519" y="1949450"/>
                </a:cubicBezTo>
                <a:lnTo>
                  <a:pt x="63494" y="1949450"/>
                </a:lnTo>
                <a:cubicBezTo>
                  <a:pt x="28427" y="1949450"/>
                  <a:pt x="0" y="1921023"/>
                  <a:pt x="0" y="18859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700" y="227091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788A9C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42739" y="2405853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10964" y="-6883"/>
                </a:moveTo>
                <a:cubicBezTo>
                  <a:pt x="213243" y="-5953"/>
                  <a:pt x="214917" y="-3907"/>
                  <a:pt x="215382" y="-1488"/>
                </a:cubicBezTo>
                <a:lnTo>
                  <a:pt x="223242" y="37207"/>
                </a:lnTo>
                <a:lnTo>
                  <a:pt x="261938" y="45021"/>
                </a:lnTo>
                <a:cubicBezTo>
                  <a:pt x="264356" y="45532"/>
                  <a:pt x="266356" y="47160"/>
                  <a:pt x="267333" y="49439"/>
                </a:cubicBezTo>
                <a:cubicBezTo>
                  <a:pt x="268309" y="51718"/>
                  <a:pt x="268030" y="54322"/>
                  <a:pt x="266681" y="56369"/>
                </a:cubicBezTo>
                <a:lnTo>
                  <a:pt x="244869" y="89250"/>
                </a:lnTo>
                <a:lnTo>
                  <a:pt x="266681" y="122132"/>
                </a:lnTo>
                <a:cubicBezTo>
                  <a:pt x="268030" y="124178"/>
                  <a:pt x="268309" y="126783"/>
                  <a:pt x="267333" y="129062"/>
                </a:cubicBezTo>
                <a:cubicBezTo>
                  <a:pt x="266356" y="131341"/>
                  <a:pt x="264356" y="133015"/>
                  <a:pt x="261938" y="133480"/>
                </a:cubicBezTo>
                <a:lnTo>
                  <a:pt x="233009" y="139387"/>
                </a:lnTo>
                <a:cubicBezTo>
                  <a:pt x="227474" y="135341"/>
                  <a:pt x="221335" y="132131"/>
                  <a:pt x="214685" y="129899"/>
                </a:cubicBezTo>
                <a:cubicBezTo>
                  <a:pt x="213522" y="123992"/>
                  <a:pt x="211522" y="118411"/>
                  <a:pt x="208778" y="113295"/>
                </a:cubicBezTo>
                <a:cubicBezTo>
                  <a:pt x="213196" y="106366"/>
                  <a:pt x="215801" y="98134"/>
                  <a:pt x="215801" y="89250"/>
                </a:cubicBezTo>
                <a:cubicBezTo>
                  <a:pt x="215801" y="64601"/>
                  <a:pt x="195802" y="44602"/>
                  <a:pt x="171152" y="44602"/>
                </a:cubicBezTo>
                <a:cubicBezTo>
                  <a:pt x="148875" y="44602"/>
                  <a:pt x="130411" y="60927"/>
                  <a:pt x="127062" y="82228"/>
                </a:cubicBezTo>
                <a:cubicBezTo>
                  <a:pt x="114737" y="72786"/>
                  <a:pt x="99389" y="67112"/>
                  <a:pt x="82693" y="66926"/>
                </a:cubicBezTo>
                <a:lnTo>
                  <a:pt x="75670" y="56369"/>
                </a:lnTo>
                <a:cubicBezTo>
                  <a:pt x="74321" y="54322"/>
                  <a:pt x="74042" y="51718"/>
                  <a:pt x="75019" y="49439"/>
                </a:cubicBezTo>
                <a:cubicBezTo>
                  <a:pt x="75995" y="47160"/>
                  <a:pt x="77995" y="45486"/>
                  <a:pt x="80414" y="45021"/>
                </a:cubicBezTo>
                <a:lnTo>
                  <a:pt x="119062" y="37207"/>
                </a:lnTo>
                <a:lnTo>
                  <a:pt x="126876" y="-1488"/>
                </a:lnTo>
                <a:cubicBezTo>
                  <a:pt x="127388" y="-3907"/>
                  <a:pt x="129015" y="-5907"/>
                  <a:pt x="131294" y="-6883"/>
                </a:cubicBezTo>
                <a:cubicBezTo>
                  <a:pt x="133573" y="-7860"/>
                  <a:pt x="136178" y="-7581"/>
                  <a:pt x="138224" y="-6232"/>
                </a:cubicBezTo>
                <a:lnTo>
                  <a:pt x="171152" y="15627"/>
                </a:lnTo>
                <a:lnTo>
                  <a:pt x="204034" y="-6186"/>
                </a:lnTo>
                <a:cubicBezTo>
                  <a:pt x="206080" y="-7534"/>
                  <a:pt x="208685" y="-7813"/>
                  <a:pt x="210964" y="-6837"/>
                </a:cubicBezTo>
                <a:close/>
                <a:moveTo>
                  <a:pt x="193477" y="89297"/>
                </a:moveTo>
                <a:cubicBezTo>
                  <a:pt x="193477" y="91064"/>
                  <a:pt x="193291" y="92785"/>
                  <a:pt x="192872" y="94459"/>
                </a:cubicBezTo>
                <a:cubicBezTo>
                  <a:pt x="182780" y="86553"/>
                  <a:pt x="170083" y="81855"/>
                  <a:pt x="156270" y="81855"/>
                </a:cubicBezTo>
                <a:cubicBezTo>
                  <a:pt x="154130" y="81855"/>
                  <a:pt x="152037" y="81948"/>
                  <a:pt x="149991" y="82181"/>
                </a:cubicBezTo>
                <a:cubicBezTo>
                  <a:pt x="152967" y="73344"/>
                  <a:pt x="161339" y="66973"/>
                  <a:pt x="171152" y="66973"/>
                </a:cubicBezTo>
                <a:cubicBezTo>
                  <a:pt x="183477" y="66973"/>
                  <a:pt x="193477" y="76972"/>
                  <a:pt x="193477" y="89297"/>
                </a:cubicBezTo>
                <a:close/>
                <a:moveTo>
                  <a:pt x="44648" y="238125"/>
                </a:moveTo>
                <a:cubicBezTo>
                  <a:pt x="19999" y="238125"/>
                  <a:pt x="0" y="218126"/>
                  <a:pt x="0" y="193477"/>
                </a:cubicBezTo>
                <a:cubicBezTo>
                  <a:pt x="0" y="173710"/>
                  <a:pt x="12836" y="156921"/>
                  <a:pt x="30649" y="151061"/>
                </a:cubicBezTo>
                <a:cubicBezTo>
                  <a:pt x="30045" y="147944"/>
                  <a:pt x="29766" y="144689"/>
                  <a:pt x="29766" y="141387"/>
                </a:cubicBezTo>
                <a:cubicBezTo>
                  <a:pt x="29766" y="112598"/>
                  <a:pt x="53067" y="89297"/>
                  <a:pt x="81855" y="89297"/>
                </a:cubicBezTo>
                <a:cubicBezTo>
                  <a:pt x="101901" y="89297"/>
                  <a:pt x="119295" y="100599"/>
                  <a:pt x="127992" y="117202"/>
                </a:cubicBezTo>
                <a:cubicBezTo>
                  <a:pt x="134829" y="109249"/>
                  <a:pt x="144968" y="104180"/>
                  <a:pt x="156270" y="104180"/>
                </a:cubicBezTo>
                <a:cubicBezTo>
                  <a:pt x="176826" y="104180"/>
                  <a:pt x="193477" y="120830"/>
                  <a:pt x="193477" y="141387"/>
                </a:cubicBezTo>
                <a:cubicBezTo>
                  <a:pt x="193477" y="143945"/>
                  <a:pt x="193198" y="146410"/>
                  <a:pt x="192732" y="148828"/>
                </a:cubicBezTo>
                <a:cubicBezTo>
                  <a:pt x="192965" y="148828"/>
                  <a:pt x="193244" y="148828"/>
                  <a:pt x="193477" y="148828"/>
                </a:cubicBezTo>
                <a:cubicBezTo>
                  <a:pt x="218126" y="148828"/>
                  <a:pt x="238125" y="168827"/>
                  <a:pt x="238125" y="193477"/>
                </a:cubicBezTo>
                <a:cubicBezTo>
                  <a:pt x="238125" y="218126"/>
                  <a:pt x="218126" y="238125"/>
                  <a:pt x="193477" y="238125"/>
                </a:cubicBezTo>
                <a:lnTo>
                  <a:pt x="44648" y="238125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155700" y="2397916"/>
            <a:ext cx="163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Weather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0700" y="2905916"/>
            <a:ext cx="5357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weather conditions as additional features to capture their impact on trip demand and duration.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0700" y="3445666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1825" y="35663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6" name="Text 14"/>
          <p:cNvSpPr/>
          <p:nvPr/>
        </p:nvSpPr>
        <p:spPr>
          <a:xfrm>
            <a:off x="814387" y="3540916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Rain, snow, temperature effects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81725" y="2074069"/>
            <a:ext cx="5688013" cy="1949450"/>
          </a:xfrm>
          <a:custGeom>
            <a:avLst/>
            <a:gdLst/>
            <a:ahLst/>
            <a:cxnLst/>
            <a:rect l="l" t="t" r="r" b="b"/>
            <a:pathLst>
              <a:path w="5688013" h="1949450">
                <a:moveTo>
                  <a:pt x="63494" y="0"/>
                </a:moveTo>
                <a:lnTo>
                  <a:pt x="5624519" y="0"/>
                </a:lnTo>
                <a:cubicBezTo>
                  <a:pt x="5659585" y="0"/>
                  <a:pt x="5688013" y="28427"/>
                  <a:pt x="5688013" y="63494"/>
                </a:cubicBezTo>
                <a:lnTo>
                  <a:pt x="5688013" y="1885956"/>
                </a:lnTo>
                <a:cubicBezTo>
                  <a:pt x="5688013" y="1921023"/>
                  <a:pt x="5659585" y="1949450"/>
                  <a:pt x="5624519" y="1949450"/>
                </a:cubicBezTo>
                <a:lnTo>
                  <a:pt x="63494" y="1949450"/>
                </a:lnTo>
                <a:cubicBezTo>
                  <a:pt x="28427" y="1949450"/>
                  <a:pt x="0" y="1921023"/>
                  <a:pt x="0" y="18859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8575" y="227091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515497" y="240585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7013575" y="2397916"/>
            <a:ext cx="1976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8575" y="2905916"/>
            <a:ext cx="5357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neural networks and deep learning architectures to capture more complex patterns in the data.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78575" y="3445666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89700" y="35663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4" name="Text 22"/>
          <p:cNvSpPr/>
          <p:nvPr/>
        </p:nvSpPr>
        <p:spPr>
          <a:xfrm>
            <a:off x="6672263" y="3540916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LSTM, neural networks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3850" y="4194978"/>
            <a:ext cx="5688013" cy="1949450"/>
          </a:xfrm>
          <a:custGeom>
            <a:avLst/>
            <a:gdLst/>
            <a:ahLst/>
            <a:cxnLst/>
            <a:rect l="l" t="t" r="r" b="b"/>
            <a:pathLst>
              <a:path w="5688013" h="1949450">
                <a:moveTo>
                  <a:pt x="63494" y="0"/>
                </a:moveTo>
                <a:lnTo>
                  <a:pt x="5624519" y="0"/>
                </a:lnTo>
                <a:cubicBezTo>
                  <a:pt x="5659585" y="0"/>
                  <a:pt x="5688013" y="28427"/>
                  <a:pt x="5688013" y="63494"/>
                </a:cubicBezTo>
                <a:lnTo>
                  <a:pt x="5688013" y="1885956"/>
                </a:lnTo>
                <a:cubicBezTo>
                  <a:pt x="5688013" y="1921023"/>
                  <a:pt x="5659585" y="1949450"/>
                  <a:pt x="5624519" y="1949450"/>
                </a:cubicBezTo>
                <a:lnTo>
                  <a:pt x="63494" y="1949450"/>
                </a:lnTo>
                <a:cubicBezTo>
                  <a:pt x="28427" y="1949450"/>
                  <a:pt x="0" y="1921023"/>
                  <a:pt x="0" y="18859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0700" y="43918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72505" y="4526762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57572" y="-4604"/>
                </a:moveTo>
                <a:cubicBezTo>
                  <a:pt x="163106" y="-605"/>
                  <a:pt x="165153" y="6651"/>
                  <a:pt x="162641" y="12976"/>
                </a:cubicBezTo>
                <a:lnTo>
                  <a:pt x="126178" y="104180"/>
                </a:lnTo>
                <a:lnTo>
                  <a:pt x="193477" y="104180"/>
                </a:lnTo>
                <a:cubicBezTo>
                  <a:pt x="199755" y="104180"/>
                  <a:pt x="205336" y="108086"/>
                  <a:pt x="207476" y="113993"/>
                </a:cubicBezTo>
                <a:cubicBezTo>
                  <a:pt x="209615" y="119900"/>
                  <a:pt x="207801" y="126504"/>
                  <a:pt x="203011" y="130504"/>
                </a:cubicBezTo>
                <a:lnTo>
                  <a:pt x="69066" y="242125"/>
                </a:lnTo>
                <a:cubicBezTo>
                  <a:pt x="63810" y="246497"/>
                  <a:pt x="56322" y="246729"/>
                  <a:pt x="50788" y="242729"/>
                </a:cubicBezTo>
                <a:cubicBezTo>
                  <a:pt x="45253" y="238730"/>
                  <a:pt x="43207" y="231474"/>
                  <a:pt x="45718" y="225149"/>
                </a:cubicBezTo>
                <a:lnTo>
                  <a:pt x="82181" y="133945"/>
                </a:lnTo>
                <a:lnTo>
                  <a:pt x="14883" y="133945"/>
                </a:lnTo>
                <a:cubicBezTo>
                  <a:pt x="8604" y="133945"/>
                  <a:pt x="3023" y="130039"/>
                  <a:pt x="884" y="124132"/>
                </a:cubicBezTo>
                <a:cubicBezTo>
                  <a:pt x="-1256" y="118225"/>
                  <a:pt x="558" y="111621"/>
                  <a:pt x="5349" y="107621"/>
                </a:cubicBezTo>
                <a:lnTo>
                  <a:pt x="139294" y="-4000"/>
                </a:lnTo>
                <a:cubicBezTo>
                  <a:pt x="144549" y="-8372"/>
                  <a:pt x="152037" y="-8604"/>
                  <a:pt x="157572" y="-460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1155700" y="4518825"/>
            <a:ext cx="1857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Prediction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0700" y="5026825"/>
            <a:ext cx="5357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real-time prediction system that can estimate fares instantly as trip parameters are entered.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0700" y="5566575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1825" y="56872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2" name="Text 30"/>
          <p:cNvSpPr/>
          <p:nvPr/>
        </p:nvSpPr>
        <p:spPr>
          <a:xfrm>
            <a:off x="814387" y="5661825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fare estimation API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1725" y="4194978"/>
            <a:ext cx="5688013" cy="1949450"/>
          </a:xfrm>
          <a:custGeom>
            <a:avLst/>
            <a:gdLst/>
            <a:ahLst/>
            <a:cxnLst/>
            <a:rect l="l" t="t" r="r" b="b"/>
            <a:pathLst>
              <a:path w="5688013" h="1949450">
                <a:moveTo>
                  <a:pt x="63494" y="0"/>
                </a:moveTo>
                <a:lnTo>
                  <a:pt x="5624519" y="0"/>
                </a:lnTo>
                <a:cubicBezTo>
                  <a:pt x="5659585" y="0"/>
                  <a:pt x="5688013" y="28427"/>
                  <a:pt x="5688013" y="63494"/>
                </a:cubicBezTo>
                <a:lnTo>
                  <a:pt x="5688013" y="1885956"/>
                </a:lnTo>
                <a:cubicBezTo>
                  <a:pt x="5688013" y="1921023"/>
                  <a:pt x="5659585" y="1949450"/>
                  <a:pt x="5624519" y="1949450"/>
                </a:cubicBezTo>
                <a:lnTo>
                  <a:pt x="63494" y="1949450"/>
                </a:lnTo>
                <a:cubicBezTo>
                  <a:pt x="28427" y="1949450"/>
                  <a:pt x="0" y="1921023"/>
                  <a:pt x="0" y="18859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8575" y="43918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0"/>
                </a:moveTo>
                <a:lnTo>
                  <a:pt x="444500" y="0"/>
                </a:lnTo>
                <a:cubicBezTo>
                  <a:pt x="479547" y="0"/>
                  <a:pt x="508000" y="28453"/>
                  <a:pt x="508000" y="63500"/>
                </a:cubicBezTo>
                <a:lnTo>
                  <a:pt x="508000" y="444500"/>
                </a:lnTo>
                <a:cubicBezTo>
                  <a:pt x="508000" y="479547"/>
                  <a:pt x="479547" y="508000"/>
                  <a:pt x="444500" y="508000"/>
                </a:cubicBezTo>
                <a:lnTo>
                  <a:pt x="63500" y="508000"/>
                </a:lnTo>
                <a:cubicBezTo>
                  <a:pt x="28453" y="508000"/>
                  <a:pt x="0" y="479547"/>
                  <a:pt x="0" y="444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D8A252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485732" y="4526762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93430" y="97901"/>
                </a:moveTo>
                <a:cubicBezTo>
                  <a:pt x="199104" y="96366"/>
                  <a:pt x="205057" y="99064"/>
                  <a:pt x="207615" y="104319"/>
                </a:cubicBezTo>
                <a:lnTo>
                  <a:pt x="216266" y="121807"/>
                </a:lnTo>
                <a:cubicBezTo>
                  <a:pt x="221056" y="122458"/>
                  <a:pt x="225754" y="123760"/>
                  <a:pt x="230172" y="125574"/>
                </a:cubicBezTo>
                <a:lnTo>
                  <a:pt x="246450" y="114737"/>
                </a:lnTo>
                <a:cubicBezTo>
                  <a:pt x="251333" y="111482"/>
                  <a:pt x="257798" y="112133"/>
                  <a:pt x="261937" y="116272"/>
                </a:cubicBezTo>
                <a:lnTo>
                  <a:pt x="270867" y="125202"/>
                </a:lnTo>
                <a:cubicBezTo>
                  <a:pt x="275006" y="129341"/>
                  <a:pt x="275658" y="135852"/>
                  <a:pt x="272402" y="140689"/>
                </a:cubicBezTo>
                <a:lnTo>
                  <a:pt x="261565" y="156921"/>
                </a:lnTo>
                <a:cubicBezTo>
                  <a:pt x="262449" y="159107"/>
                  <a:pt x="263240" y="161385"/>
                  <a:pt x="263891" y="163757"/>
                </a:cubicBezTo>
                <a:cubicBezTo>
                  <a:pt x="264542" y="166129"/>
                  <a:pt x="264961" y="168455"/>
                  <a:pt x="265286" y="170827"/>
                </a:cubicBezTo>
                <a:lnTo>
                  <a:pt x="282820" y="179477"/>
                </a:lnTo>
                <a:cubicBezTo>
                  <a:pt x="288075" y="182082"/>
                  <a:pt x="290773" y="188035"/>
                  <a:pt x="289238" y="193663"/>
                </a:cubicBezTo>
                <a:lnTo>
                  <a:pt x="285983" y="205848"/>
                </a:lnTo>
                <a:cubicBezTo>
                  <a:pt x="284448" y="211475"/>
                  <a:pt x="279192" y="215289"/>
                  <a:pt x="273332" y="214917"/>
                </a:cubicBezTo>
                <a:lnTo>
                  <a:pt x="253798" y="213661"/>
                </a:lnTo>
                <a:cubicBezTo>
                  <a:pt x="250868" y="217429"/>
                  <a:pt x="247473" y="220917"/>
                  <a:pt x="243613" y="223893"/>
                </a:cubicBezTo>
                <a:lnTo>
                  <a:pt x="244869" y="243380"/>
                </a:lnTo>
                <a:cubicBezTo>
                  <a:pt x="245241" y="249241"/>
                  <a:pt x="241427" y="254543"/>
                  <a:pt x="235800" y="256031"/>
                </a:cubicBezTo>
                <a:lnTo>
                  <a:pt x="223614" y="259286"/>
                </a:lnTo>
                <a:cubicBezTo>
                  <a:pt x="217940" y="260821"/>
                  <a:pt x="212034" y="258124"/>
                  <a:pt x="209429" y="252868"/>
                </a:cubicBezTo>
                <a:lnTo>
                  <a:pt x="200778" y="235381"/>
                </a:lnTo>
                <a:cubicBezTo>
                  <a:pt x="195988" y="234730"/>
                  <a:pt x="191291" y="233428"/>
                  <a:pt x="186872" y="231614"/>
                </a:cubicBezTo>
                <a:lnTo>
                  <a:pt x="170594" y="242450"/>
                </a:lnTo>
                <a:cubicBezTo>
                  <a:pt x="165711" y="245706"/>
                  <a:pt x="159246" y="245055"/>
                  <a:pt x="155107" y="240916"/>
                </a:cubicBezTo>
                <a:lnTo>
                  <a:pt x="146177" y="231986"/>
                </a:lnTo>
                <a:cubicBezTo>
                  <a:pt x="142038" y="227847"/>
                  <a:pt x="141387" y="221382"/>
                  <a:pt x="144642" y="216498"/>
                </a:cubicBezTo>
                <a:lnTo>
                  <a:pt x="155479" y="200220"/>
                </a:lnTo>
                <a:cubicBezTo>
                  <a:pt x="154595" y="198034"/>
                  <a:pt x="153805" y="195755"/>
                  <a:pt x="153153" y="193384"/>
                </a:cubicBezTo>
                <a:cubicBezTo>
                  <a:pt x="152502" y="191012"/>
                  <a:pt x="152084" y="188640"/>
                  <a:pt x="151758" y="186314"/>
                </a:cubicBezTo>
                <a:lnTo>
                  <a:pt x="134224" y="177664"/>
                </a:lnTo>
                <a:cubicBezTo>
                  <a:pt x="128969" y="175059"/>
                  <a:pt x="126318" y="169106"/>
                  <a:pt x="127806" y="163478"/>
                </a:cubicBezTo>
                <a:lnTo>
                  <a:pt x="131062" y="151293"/>
                </a:lnTo>
                <a:cubicBezTo>
                  <a:pt x="132597" y="145666"/>
                  <a:pt x="137852" y="141852"/>
                  <a:pt x="143712" y="142224"/>
                </a:cubicBezTo>
                <a:lnTo>
                  <a:pt x="163199" y="143480"/>
                </a:lnTo>
                <a:cubicBezTo>
                  <a:pt x="166129" y="139712"/>
                  <a:pt x="169525" y="136224"/>
                  <a:pt x="173385" y="133248"/>
                </a:cubicBezTo>
                <a:lnTo>
                  <a:pt x="172129" y="113807"/>
                </a:lnTo>
                <a:cubicBezTo>
                  <a:pt x="171757" y="107947"/>
                  <a:pt x="175571" y="102645"/>
                  <a:pt x="181198" y="101157"/>
                </a:cubicBezTo>
                <a:lnTo>
                  <a:pt x="193384" y="97901"/>
                </a:lnTo>
                <a:close/>
                <a:moveTo>
                  <a:pt x="208545" y="158130"/>
                </a:moveTo>
                <a:cubicBezTo>
                  <a:pt x="197251" y="158143"/>
                  <a:pt x="188092" y="167323"/>
                  <a:pt x="188105" y="178617"/>
                </a:cubicBezTo>
                <a:cubicBezTo>
                  <a:pt x="188118" y="189911"/>
                  <a:pt x="197298" y="199070"/>
                  <a:pt x="208592" y="199058"/>
                </a:cubicBezTo>
                <a:cubicBezTo>
                  <a:pt x="219886" y="199045"/>
                  <a:pt x="229045" y="189865"/>
                  <a:pt x="229033" y="178570"/>
                </a:cubicBezTo>
                <a:cubicBezTo>
                  <a:pt x="229020" y="167276"/>
                  <a:pt x="219840" y="158117"/>
                  <a:pt x="208545" y="158130"/>
                </a:cubicBezTo>
                <a:close/>
                <a:moveTo>
                  <a:pt x="104598" y="-21161"/>
                </a:moveTo>
                <a:lnTo>
                  <a:pt x="116784" y="-17906"/>
                </a:lnTo>
                <a:cubicBezTo>
                  <a:pt x="122411" y="-16371"/>
                  <a:pt x="126225" y="-11069"/>
                  <a:pt x="125853" y="-5255"/>
                </a:cubicBezTo>
                <a:lnTo>
                  <a:pt x="124597" y="14185"/>
                </a:lnTo>
                <a:cubicBezTo>
                  <a:pt x="128457" y="17162"/>
                  <a:pt x="131852" y="20603"/>
                  <a:pt x="134782" y="24417"/>
                </a:cubicBezTo>
                <a:lnTo>
                  <a:pt x="154316" y="23161"/>
                </a:lnTo>
                <a:cubicBezTo>
                  <a:pt x="160130" y="22789"/>
                  <a:pt x="165432" y="26603"/>
                  <a:pt x="166967" y="32231"/>
                </a:cubicBezTo>
                <a:lnTo>
                  <a:pt x="170222" y="44416"/>
                </a:lnTo>
                <a:cubicBezTo>
                  <a:pt x="171710" y="50043"/>
                  <a:pt x="169059" y="55997"/>
                  <a:pt x="163804" y="58601"/>
                </a:cubicBezTo>
                <a:lnTo>
                  <a:pt x="146270" y="67252"/>
                </a:lnTo>
                <a:cubicBezTo>
                  <a:pt x="145945" y="69624"/>
                  <a:pt x="145479" y="71996"/>
                  <a:pt x="144875" y="74321"/>
                </a:cubicBezTo>
                <a:cubicBezTo>
                  <a:pt x="144270" y="76646"/>
                  <a:pt x="143433" y="78972"/>
                  <a:pt x="142549" y="81158"/>
                </a:cubicBezTo>
                <a:lnTo>
                  <a:pt x="153386" y="97436"/>
                </a:lnTo>
                <a:cubicBezTo>
                  <a:pt x="156642" y="102319"/>
                  <a:pt x="155990" y="108784"/>
                  <a:pt x="151851" y="112923"/>
                </a:cubicBezTo>
                <a:lnTo>
                  <a:pt x="142922" y="121853"/>
                </a:lnTo>
                <a:cubicBezTo>
                  <a:pt x="138782" y="125992"/>
                  <a:pt x="132318" y="126643"/>
                  <a:pt x="127434" y="123388"/>
                </a:cubicBezTo>
                <a:lnTo>
                  <a:pt x="111156" y="112551"/>
                </a:lnTo>
                <a:cubicBezTo>
                  <a:pt x="106738" y="114365"/>
                  <a:pt x="102040" y="115667"/>
                  <a:pt x="97250" y="116318"/>
                </a:cubicBezTo>
                <a:lnTo>
                  <a:pt x="88599" y="133806"/>
                </a:lnTo>
                <a:cubicBezTo>
                  <a:pt x="85995" y="139061"/>
                  <a:pt x="80042" y="141712"/>
                  <a:pt x="74414" y="140224"/>
                </a:cubicBezTo>
                <a:lnTo>
                  <a:pt x="62229" y="136968"/>
                </a:lnTo>
                <a:cubicBezTo>
                  <a:pt x="56555" y="135434"/>
                  <a:pt x="52787" y="130132"/>
                  <a:pt x="53160" y="124318"/>
                </a:cubicBezTo>
                <a:lnTo>
                  <a:pt x="54415" y="104831"/>
                </a:lnTo>
                <a:cubicBezTo>
                  <a:pt x="50555" y="101854"/>
                  <a:pt x="47160" y="98413"/>
                  <a:pt x="44230" y="94599"/>
                </a:cubicBezTo>
                <a:lnTo>
                  <a:pt x="24696" y="95855"/>
                </a:lnTo>
                <a:cubicBezTo>
                  <a:pt x="18883" y="96227"/>
                  <a:pt x="13581" y="92413"/>
                  <a:pt x="12046" y="86785"/>
                </a:cubicBezTo>
                <a:lnTo>
                  <a:pt x="8790" y="74600"/>
                </a:lnTo>
                <a:cubicBezTo>
                  <a:pt x="7302" y="68973"/>
                  <a:pt x="9953" y="63019"/>
                  <a:pt x="15208" y="60415"/>
                </a:cubicBezTo>
                <a:lnTo>
                  <a:pt x="32742" y="51764"/>
                </a:lnTo>
                <a:cubicBezTo>
                  <a:pt x="33068" y="49392"/>
                  <a:pt x="33533" y="47067"/>
                  <a:pt x="34137" y="44695"/>
                </a:cubicBezTo>
                <a:cubicBezTo>
                  <a:pt x="34789" y="42323"/>
                  <a:pt x="35533" y="40044"/>
                  <a:pt x="36463" y="37858"/>
                </a:cubicBezTo>
                <a:lnTo>
                  <a:pt x="25626" y="21627"/>
                </a:lnTo>
                <a:cubicBezTo>
                  <a:pt x="22371" y="16743"/>
                  <a:pt x="23022" y="10278"/>
                  <a:pt x="27161" y="6139"/>
                </a:cubicBezTo>
                <a:lnTo>
                  <a:pt x="36091" y="-2791"/>
                </a:lnTo>
                <a:cubicBezTo>
                  <a:pt x="40230" y="-6930"/>
                  <a:pt x="46695" y="-7581"/>
                  <a:pt x="51578" y="-4325"/>
                </a:cubicBezTo>
                <a:lnTo>
                  <a:pt x="67856" y="6511"/>
                </a:lnTo>
                <a:cubicBezTo>
                  <a:pt x="72275" y="4697"/>
                  <a:pt x="76972" y="3395"/>
                  <a:pt x="81762" y="2744"/>
                </a:cubicBezTo>
                <a:lnTo>
                  <a:pt x="90413" y="-14743"/>
                </a:lnTo>
                <a:cubicBezTo>
                  <a:pt x="93018" y="-19999"/>
                  <a:pt x="98924" y="-22650"/>
                  <a:pt x="104598" y="-21161"/>
                </a:cubicBezTo>
                <a:close/>
                <a:moveTo>
                  <a:pt x="89483" y="39067"/>
                </a:moveTo>
                <a:cubicBezTo>
                  <a:pt x="78189" y="39067"/>
                  <a:pt x="69019" y="48237"/>
                  <a:pt x="69019" y="59531"/>
                </a:cubicBezTo>
                <a:cubicBezTo>
                  <a:pt x="69019" y="70826"/>
                  <a:pt x="78189" y="79995"/>
                  <a:pt x="89483" y="79995"/>
                </a:cubicBezTo>
                <a:cubicBezTo>
                  <a:pt x="100777" y="79995"/>
                  <a:pt x="109947" y="70826"/>
                  <a:pt x="109947" y="59531"/>
                </a:cubicBezTo>
                <a:cubicBezTo>
                  <a:pt x="109947" y="48237"/>
                  <a:pt x="100777" y="39067"/>
                  <a:pt x="89483" y="39067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6" name="Text 34"/>
          <p:cNvSpPr/>
          <p:nvPr/>
        </p:nvSpPr>
        <p:spPr>
          <a:xfrm>
            <a:off x="7013575" y="4518825"/>
            <a:ext cx="2079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Pricing Engine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78575" y="5026825"/>
            <a:ext cx="5357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an adaptive pricing system that adjusts fares based on real-time demand and supply conditions.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8575" y="5566575"/>
            <a:ext cx="5294313" cy="381000"/>
          </a:xfrm>
          <a:custGeom>
            <a:avLst/>
            <a:gdLst/>
            <a:ahLst/>
            <a:cxnLst/>
            <a:rect l="l" t="t" r="r" b="b"/>
            <a:pathLst>
              <a:path w="5294313" h="381000">
                <a:moveTo>
                  <a:pt x="31749" y="0"/>
                </a:moveTo>
                <a:lnTo>
                  <a:pt x="5262564" y="0"/>
                </a:lnTo>
                <a:cubicBezTo>
                  <a:pt x="5280098" y="0"/>
                  <a:pt x="5294313" y="14214"/>
                  <a:pt x="5294313" y="31749"/>
                </a:cubicBezTo>
                <a:lnTo>
                  <a:pt x="5294313" y="349251"/>
                </a:lnTo>
                <a:cubicBezTo>
                  <a:pt x="5294313" y="366786"/>
                  <a:pt x="5280098" y="381000"/>
                  <a:pt x="52625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89700" y="5687219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69106"/>
                </a:moveTo>
                <a:cubicBezTo>
                  <a:pt x="127769" y="66005"/>
                  <a:pt x="127769" y="60970"/>
                  <a:pt x="124668" y="57869"/>
                </a:cubicBezTo>
                <a:lnTo>
                  <a:pt x="84981" y="18182"/>
                </a:lnTo>
                <a:cubicBezTo>
                  <a:pt x="81880" y="15081"/>
                  <a:pt x="76845" y="15081"/>
                  <a:pt x="73744" y="18182"/>
                </a:cubicBezTo>
                <a:cubicBezTo>
                  <a:pt x="70644" y="21282"/>
                  <a:pt x="70644" y="26318"/>
                  <a:pt x="73744" y="29418"/>
                </a:cubicBezTo>
                <a:lnTo>
                  <a:pt x="99888" y="55563"/>
                </a:lnTo>
                <a:lnTo>
                  <a:pt x="7938" y="55563"/>
                </a:lnTo>
                <a:cubicBezTo>
                  <a:pt x="3547" y="55563"/>
                  <a:pt x="0" y="59110"/>
                  <a:pt x="0" y="63500"/>
                </a:cubicBezTo>
                <a:cubicBezTo>
                  <a:pt x="0" y="67890"/>
                  <a:pt x="3547" y="71438"/>
                  <a:pt x="7938" y="71438"/>
                </a:cubicBezTo>
                <a:lnTo>
                  <a:pt x="99888" y="71438"/>
                </a:lnTo>
                <a:lnTo>
                  <a:pt x="73744" y="97582"/>
                </a:lnTo>
                <a:cubicBezTo>
                  <a:pt x="70644" y="100682"/>
                  <a:pt x="70644" y="105718"/>
                  <a:pt x="73744" y="108818"/>
                </a:cubicBezTo>
                <a:cubicBezTo>
                  <a:pt x="76845" y="111919"/>
                  <a:pt x="81880" y="111919"/>
                  <a:pt x="84981" y="108818"/>
                </a:cubicBezTo>
                <a:lnTo>
                  <a:pt x="124668" y="69131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0" name="Text 38"/>
          <p:cNvSpPr/>
          <p:nvPr/>
        </p:nvSpPr>
        <p:spPr>
          <a:xfrm>
            <a:off x="6672263" y="5661825"/>
            <a:ext cx="496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Surge pricing algorithms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3850" y="6315872"/>
            <a:ext cx="11545888" cy="806450"/>
          </a:xfrm>
          <a:custGeom>
            <a:avLst/>
            <a:gdLst/>
            <a:ahLst/>
            <a:cxnLst/>
            <a:rect l="l" t="t" r="r" b="b"/>
            <a:pathLst>
              <a:path w="11545888" h="806450">
                <a:moveTo>
                  <a:pt x="63500" y="0"/>
                </a:moveTo>
                <a:lnTo>
                  <a:pt x="11482388" y="0"/>
                </a:lnTo>
                <a:cubicBezTo>
                  <a:pt x="11517458" y="0"/>
                  <a:pt x="11545888" y="28430"/>
                  <a:pt x="11545888" y="63500"/>
                </a:cubicBezTo>
                <a:lnTo>
                  <a:pt x="11545888" y="742950"/>
                </a:lnTo>
                <a:cubicBezTo>
                  <a:pt x="11545888" y="778020"/>
                  <a:pt x="11517458" y="806450"/>
                  <a:pt x="11482388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4669" y="65762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3" name="Text 41"/>
          <p:cNvSpPr/>
          <p:nvPr/>
        </p:nvSpPr>
        <p:spPr>
          <a:xfrm>
            <a:off x="973137" y="6480969"/>
            <a:ext cx="475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Enhancement Potential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3137" y="6766719"/>
            <a:ext cx="473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improvements can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enhance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capabilities and business value.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1692" y="334945"/>
            <a:ext cx="1029956" cy="334945"/>
          </a:xfrm>
          <a:custGeom>
            <a:avLst/>
            <a:gdLst/>
            <a:ahLst/>
            <a:cxnLst/>
            <a:rect l="l" t="t" r="r" b="b"/>
            <a:pathLst>
              <a:path w="1029956" h="334945">
                <a:moveTo>
                  <a:pt x="0" y="0"/>
                </a:moveTo>
                <a:lnTo>
                  <a:pt x="1029956" y="0"/>
                </a:lnTo>
                <a:lnTo>
                  <a:pt x="1029956" y="334945"/>
                </a:lnTo>
                <a:lnTo>
                  <a:pt x="0" y="334945"/>
                </a:lnTo>
                <a:lnTo>
                  <a:pt x="0" y="0"/>
                </a:lnTo>
                <a:close/>
              </a:path>
            </a:pathLst>
          </a:custGeom>
          <a:solidFill>
            <a:srgbClr val="D8A252">
              <a:alpha val="1490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51692" y="334945"/>
            <a:ext cx="33495" cy="334945"/>
          </a:xfrm>
          <a:custGeom>
            <a:avLst/>
            <a:gdLst/>
            <a:ahLst/>
            <a:cxnLst/>
            <a:rect l="l" t="t" r="r" b="b"/>
            <a:pathLst>
              <a:path w="33495" h="334945">
                <a:moveTo>
                  <a:pt x="0" y="0"/>
                </a:moveTo>
                <a:lnTo>
                  <a:pt x="33495" y="0"/>
                </a:lnTo>
                <a:lnTo>
                  <a:pt x="33495" y="334945"/>
                </a:lnTo>
                <a:lnTo>
                  <a:pt x="0" y="334945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" name="Text 2"/>
          <p:cNvSpPr/>
          <p:nvPr/>
        </p:nvSpPr>
        <p:spPr>
          <a:xfrm>
            <a:off x="502418" y="401934"/>
            <a:ext cx="81224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spc="53" kern="0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21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4945" y="803868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1692" y="1406769"/>
            <a:ext cx="11505363" cy="611275"/>
          </a:xfrm>
          <a:custGeom>
            <a:avLst/>
            <a:gdLst/>
            <a:ahLst/>
            <a:cxnLst/>
            <a:rect l="l" t="t" r="r" b="b"/>
            <a:pathLst>
              <a:path w="11505363" h="611275">
                <a:moveTo>
                  <a:pt x="33492" y="0"/>
                </a:moveTo>
                <a:lnTo>
                  <a:pt x="11471871" y="0"/>
                </a:lnTo>
                <a:cubicBezTo>
                  <a:pt x="11490368" y="0"/>
                  <a:pt x="11505363" y="14995"/>
                  <a:pt x="11505363" y="33492"/>
                </a:cubicBezTo>
                <a:lnTo>
                  <a:pt x="11505363" y="577783"/>
                </a:lnTo>
                <a:cubicBezTo>
                  <a:pt x="11505363" y="596280"/>
                  <a:pt x="11490368" y="611275"/>
                  <a:pt x="11471871" y="611275"/>
                </a:cubicBezTo>
                <a:lnTo>
                  <a:pt x="33492" y="611275"/>
                </a:lnTo>
                <a:cubicBezTo>
                  <a:pt x="14995" y="611275"/>
                  <a:pt x="0" y="596280"/>
                  <a:pt x="0" y="577783"/>
                </a:cubicBezTo>
                <a:lnTo>
                  <a:pt x="0" y="33492"/>
                </a:lnTo>
                <a:cubicBezTo>
                  <a:pt x="0" y="15007"/>
                  <a:pt x="15007" y="0"/>
                  <a:pt x="3349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1692" y="1406769"/>
            <a:ext cx="33495" cy="611275"/>
          </a:xfrm>
          <a:custGeom>
            <a:avLst/>
            <a:gdLst/>
            <a:ahLst/>
            <a:cxnLst/>
            <a:rect l="l" t="t" r="r" b="b"/>
            <a:pathLst>
              <a:path w="33495" h="611275">
                <a:moveTo>
                  <a:pt x="33495" y="0"/>
                </a:moveTo>
                <a:lnTo>
                  <a:pt x="33495" y="0"/>
                </a:lnTo>
                <a:lnTo>
                  <a:pt x="33495" y="611275"/>
                </a:lnTo>
                <a:lnTo>
                  <a:pt x="33495" y="611275"/>
                </a:lnTo>
                <a:cubicBezTo>
                  <a:pt x="14996" y="611275"/>
                  <a:pt x="0" y="596279"/>
                  <a:pt x="0" y="577780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8" name="Text 6"/>
          <p:cNvSpPr/>
          <p:nvPr/>
        </p:nvSpPr>
        <p:spPr>
          <a:xfrm>
            <a:off x="535912" y="1574242"/>
            <a:ext cx="11237407" cy="276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how data science can transform raw taxi trip data into actionable predictive insights.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1644" y="2188029"/>
            <a:ext cx="5665596" cy="3295859"/>
          </a:xfrm>
          <a:custGeom>
            <a:avLst/>
            <a:gdLst/>
            <a:ahLst/>
            <a:cxnLst/>
            <a:rect l="l" t="t" r="r" b="b"/>
            <a:pathLst>
              <a:path w="5665596" h="3295859">
                <a:moveTo>
                  <a:pt x="67005" y="0"/>
                </a:moveTo>
                <a:lnTo>
                  <a:pt x="5598591" y="0"/>
                </a:lnTo>
                <a:cubicBezTo>
                  <a:pt x="5635597" y="0"/>
                  <a:pt x="5665596" y="29999"/>
                  <a:pt x="5665596" y="67005"/>
                </a:cubicBezTo>
                <a:lnTo>
                  <a:pt x="5665596" y="3228855"/>
                </a:lnTo>
                <a:cubicBezTo>
                  <a:pt x="5665596" y="3265860"/>
                  <a:pt x="5635597" y="3295859"/>
                  <a:pt x="5598591" y="3295859"/>
                </a:cubicBezTo>
                <a:lnTo>
                  <a:pt x="67005" y="3295859"/>
                </a:lnTo>
                <a:cubicBezTo>
                  <a:pt x="29999" y="3295859"/>
                  <a:pt x="0" y="3265860"/>
                  <a:pt x="0" y="3228855"/>
                </a:cubicBezTo>
                <a:lnTo>
                  <a:pt x="0" y="67005"/>
                </a:lnTo>
                <a:cubicBezTo>
                  <a:pt x="0" y="30024"/>
                  <a:pt x="30024" y="0"/>
                  <a:pt x="67005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9310" y="2395691"/>
            <a:ext cx="535912" cy="535912"/>
          </a:xfrm>
          <a:custGeom>
            <a:avLst/>
            <a:gdLst/>
            <a:ahLst/>
            <a:cxnLst/>
            <a:rect l="l" t="t" r="r" b="b"/>
            <a:pathLst>
              <a:path w="535912" h="535912">
                <a:moveTo>
                  <a:pt x="66989" y="0"/>
                </a:moveTo>
                <a:lnTo>
                  <a:pt x="468923" y="0"/>
                </a:lnTo>
                <a:cubicBezTo>
                  <a:pt x="505920" y="0"/>
                  <a:pt x="535912" y="29992"/>
                  <a:pt x="535912" y="66989"/>
                </a:cubicBezTo>
                <a:lnTo>
                  <a:pt x="535912" y="468923"/>
                </a:lnTo>
                <a:cubicBezTo>
                  <a:pt x="535912" y="505920"/>
                  <a:pt x="505920" y="535912"/>
                  <a:pt x="468923" y="535912"/>
                </a:cubicBezTo>
                <a:lnTo>
                  <a:pt x="66989" y="535912"/>
                </a:lnTo>
                <a:cubicBezTo>
                  <a:pt x="29992" y="535912"/>
                  <a:pt x="0" y="505920"/>
                  <a:pt x="0" y="468923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/>
              </a:gs>
              <a:gs pos="100000">
                <a:srgbClr val="788A9C"/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725156" y="2538043"/>
            <a:ext cx="188407" cy="251209"/>
          </a:xfrm>
          <a:custGeom>
            <a:avLst/>
            <a:gdLst/>
            <a:ahLst/>
            <a:cxnLst/>
            <a:rect l="l" t="t" r="r" b="b"/>
            <a:pathLst>
              <a:path w="188407" h="251209">
                <a:moveTo>
                  <a:pt x="122611" y="32775"/>
                </a:moveTo>
                <a:cubicBezTo>
                  <a:pt x="127714" y="25759"/>
                  <a:pt x="126144" y="15946"/>
                  <a:pt x="119128" y="10843"/>
                </a:cubicBezTo>
                <a:cubicBezTo>
                  <a:pt x="112112" y="5741"/>
                  <a:pt x="102299" y="7311"/>
                  <a:pt x="97196" y="14327"/>
                </a:cubicBezTo>
                <a:lnTo>
                  <a:pt x="45188" y="85813"/>
                </a:lnTo>
                <a:lnTo>
                  <a:pt x="26789" y="67414"/>
                </a:lnTo>
                <a:cubicBezTo>
                  <a:pt x="20656" y="61281"/>
                  <a:pt x="10696" y="61281"/>
                  <a:pt x="4563" y="67414"/>
                </a:cubicBezTo>
                <a:cubicBezTo>
                  <a:pt x="-1570" y="73547"/>
                  <a:pt x="-1570" y="83507"/>
                  <a:pt x="4563" y="89640"/>
                </a:cubicBezTo>
                <a:lnTo>
                  <a:pt x="35964" y="121041"/>
                </a:lnTo>
                <a:cubicBezTo>
                  <a:pt x="39202" y="124280"/>
                  <a:pt x="43716" y="125948"/>
                  <a:pt x="48279" y="125604"/>
                </a:cubicBezTo>
                <a:cubicBezTo>
                  <a:pt x="52842" y="125261"/>
                  <a:pt x="57062" y="122906"/>
                  <a:pt x="59760" y="119177"/>
                </a:cubicBezTo>
                <a:lnTo>
                  <a:pt x="122562" y="32824"/>
                </a:lnTo>
                <a:close/>
                <a:moveTo>
                  <a:pt x="185414" y="99502"/>
                </a:moveTo>
                <a:cubicBezTo>
                  <a:pt x="190516" y="92486"/>
                  <a:pt x="188946" y="82673"/>
                  <a:pt x="181930" y="77571"/>
                </a:cubicBezTo>
                <a:cubicBezTo>
                  <a:pt x="174914" y="72468"/>
                  <a:pt x="165101" y="74038"/>
                  <a:pt x="159998" y="81054"/>
                </a:cubicBezTo>
                <a:lnTo>
                  <a:pt x="76589" y="195717"/>
                </a:lnTo>
                <a:lnTo>
                  <a:pt x="42490" y="161618"/>
                </a:lnTo>
                <a:cubicBezTo>
                  <a:pt x="36357" y="155485"/>
                  <a:pt x="26397" y="155485"/>
                  <a:pt x="20264" y="161618"/>
                </a:cubicBezTo>
                <a:cubicBezTo>
                  <a:pt x="14130" y="167751"/>
                  <a:pt x="14130" y="177711"/>
                  <a:pt x="20264" y="183844"/>
                </a:cubicBezTo>
                <a:lnTo>
                  <a:pt x="67365" y="230945"/>
                </a:lnTo>
                <a:cubicBezTo>
                  <a:pt x="70603" y="234184"/>
                  <a:pt x="75117" y="235852"/>
                  <a:pt x="79680" y="235508"/>
                </a:cubicBezTo>
                <a:cubicBezTo>
                  <a:pt x="84243" y="235165"/>
                  <a:pt x="88463" y="232810"/>
                  <a:pt x="91161" y="229081"/>
                </a:cubicBezTo>
                <a:lnTo>
                  <a:pt x="185365" y="99551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2529669"/>
            <a:ext cx="1741714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9310" y="3099076"/>
            <a:ext cx="5250264" cy="569407"/>
          </a:xfrm>
          <a:custGeom>
            <a:avLst/>
            <a:gdLst/>
            <a:ahLst/>
            <a:cxnLst/>
            <a:rect l="l" t="t" r="r" b="b"/>
            <a:pathLst>
              <a:path w="5250264" h="569407">
                <a:moveTo>
                  <a:pt x="33492" y="0"/>
                </a:moveTo>
                <a:lnTo>
                  <a:pt x="5216771" y="0"/>
                </a:lnTo>
                <a:cubicBezTo>
                  <a:pt x="5235269" y="0"/>
                  <a:pt x="5250264" y="14995"/>
                  <a:pt x="5250264" y="33492"/>
                </a:cubicBezTo>
                <a:lnTo>
                  <a:pt x="5250264" y="535914"/>
                </a:lnTo>
                <a:cubicBezTo>
                  <a:pt x="5250264" y="554411"/>
                  <a:pt x="5235269" y="569407"/>
                  <a:pt x="5216771" y="569407"/>
                </a:cubicBezTo>
                <a:lnTo>
                  <a:pt x="33492" y="569407"/>
                </a:lnTo>
                <a:cubicBezTo>
                  <a:pt x="14995" y="569407"/>
                  <a:pt x="0" y="554411"/>
                  <a:pt x="0" y="535914"/>
                </a:cubicBezTo>
                <a:lnTo>
                  <a:pt x="0" y="33492"/>
                </a:lnTo>
                <a:cubicBezTo>
                  <a:pt x="0" y="14995"/>
                  <a:pt x="14995" y="0"/>
                  <a:pt x="3349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0727" y="3233054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109904" y="115137"/>
                </a:moveTo>
                <a:cubicBezTo>
                  <a:pt x="141697" y="115137"/>
                  <a:pt x="167473" y="89362"/>
                  <a:pt x="167473" y="57569"/>
                </a:cubicBezTo>
                <a:cubicBezTo>
                  <a:pt x="167473" y="25775"/>
                  <a:pt x="141697" y="0"/>
                  <a:pt x="109904" y="0"/>
                </a:cubicBezTo>
                <a:cubicBezTo>
                  <a:pt x="78110" y="0"/>
                  <a:pt x="52335" y="25775"/>
                  <a:pt x="52335" y="57569"/>
                </a:cubicBezTo>
                <a:cubicBezTo>
                  <a:pt x="52335" y="63685"/>
                  <a:pt x="53284" y="69606"/>
                  <a:pt x="55050" y="75134"/>
                </a:cubicBezTo>
                <a:lnTo>
                  <a:pt x="2290" y="127894"/>
                </a:lnTo>
                <a:cubicBezTo>
                  <a:pt x="818" y="129366"/>
                  <a:pt x="0" y="131361"/>
                  <a:pt x="0" y="133455"/>
                </a:cubicBezTo>
                <a:lnTo>
                  <a:pt x="0" y="159622"/>
                </a:lnTo>
                <a:cubicBezTo>
                  <a:pt x="0" y="163973"/>
                  <a:pt x="3500" y="167473"/>
                  <a:pt x="7850" y="167473"/>
                </a:cubicBezTo>
                <a:lnTo>
                  <a:pt x="34018" y="167473"/>
                </a:lnTo>
                <a:cubicBezTo>
                  <a:pt x="38368" y="167473"/>
                  <a:pt x="41868" y="163973"/>
                  <a:pt x="41868" y="159622"/>
                </a:cubicBezTo>
                <a:lnTo>
                  <a:pt x="41868" y="146538"/>
                </a:lnTo>
                <a:lnTo>
                  <a:pt x="54952" y="146538"/>
                </a:lnTo>
                <a:cubicBezTo>
                  <a:pt x="59302" y="146538"/>
                  <a:pt x="62802" y="143039"/>
                  <a:pt x="62802" y="138688"/>
                </a:cubicBezTo>
                <a:lnTo>
                  <a:pt x="62802" y="125604"/>
                </a:lnTo>
                <a:lnTo>
                  <a:pt x="75886" y="125604"/>
                </a:lnTo>
                <a:cubicBezTo>
                  <a:pt x="77979" y="125604"/>
                  <a:pt x="79975" y="124787"/>
                  <a:pt x="81447" y="123315"/>
                </a:cubicBezTo>
                <a:lnTo>
                  <a:pt x="92339" y="112422"/>
                </a:lnTo>
                <a:cubicBezTo>
                  <a:pt x="97867" y="114189"/>
                  <a:pt x="103787" y="115137"/>
                  <a:pt x="109904" y="115137"/>
                </a:cubicBezTo>
                <a:close/>
                <a:moveTo>
                  <a:pt x="122988" y="31401"/>
                </a:moveTo>
                <a:cubicBezTo>
                  <a:pt x="130209" y="31401"/>
                  <a:pt x="136071" y="37264"/>
                  <a:pt x="136071" y="44485"/>
                </a:cubicBezTo>
                <a:cubicBezTo>
                  <a:pt x="136071" y="51706"/>
                  <a:pt x="130209" y="57569"/>
                  <a:pt x="122988" y="57569"/>
                </a:cubicBezTo>
                <a:cubicBezTo>
                  <a:pt x="115766" y="57569"/>
                  <a:pt x="109904" y="51706"/>
                  <a:pt x="109904" y="44485"/>
                </a:cubicBezTo>
                <a:cubicBezTo>
                  <a:pt x="109904" y="37264"/>
                  <a:pt x="115766" y="31401"/>
                  <a:pt x="122988" y="31401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5" name="Text 13"/>
          <p:cNvSpPr/>
          <p:nvPr/>
        </p:nvSpPr>
        <p:spPr>
          <a:xfrm>
            <a:off x="959618" y="3199559"/>
            <a:ext cx="257070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Pricing Drivers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9618" y="3400526"/>
            <a:ext cx="256233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Trip distance and duration as strongest predictors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9310" y="3768966"/>
            <a:ext cx="5250264" cy="569407"/>
          </a:xfrm>
          <a:custGeom>
            <a:avLst/>
            <a:gdLst/>
            <a:ahLst/>
            <a:cxnLst/>
            <a:rect l="l" t="t" r="r" b="b"/>
            <a:pathLst>
              <a:path w="5250264" h="569407">
                <a:moveTo>
                  <a:pt x="33492" y="0"/>
                </a:moveTo>
                <a:lnTo>
                  <a:pt x="5216771" y="0"/>
                </a:lnTo>
                <a:cubicBezTo>
                  <a:pt x="5235269" y="0"/>
                  <a:pt x="5250264" y="14995"/>
                  <a:pt x="5250264" y="33492"/>
                </a:cubicBezTo>
                <a:lnTo>
                  <a:pt x="5250264" y="535914"/>
                </a:lnTo>
                <a:cubicBezTo>
                  <a:pt x="5250264" y="554411"/>
                  <a:pt x="5235269" y="569407"/>
                  <a:pt x="5216771" y="569407"/>
                </a:cubicBezTo>
                <a:lnTo>
                  <a:pt x="33492" y="569407"/>
                </a:lnTo>
                <a:cubicBezTo>
                  <a:pt x="14995" y="569407"/>
                  <a:pt x="0" y="554411"/>
                  <a:pt x="0" y="535914"/>
                </a:cubicBezTo>
                <a:lnTo>
                  <a:pt x="0" y="33492"/>
                </a:lnTo>
                <a:cubicBezTo>
                  <a:pt x="0" y="14995"/>
                  <a:pt x="14995" y="0"/>
                  <a:pt x="33492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70727" y="3902944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20934" y="20934"/>
                </a:moveTo>
                <a:cubicBezTo>
                  <a:pt x="20934" y="15144"/>
                  <a:pt x="16257" y="10467"/>
                  <a:pt x="10467" y="10467"/>
                </a:cubicBezTo>
                <a:cubicBezTo>
                  <a:pt x="4677" y="10467"/>
                  <a:pt x="0" y="15144"/>
                  <a:pt x="0" y="20934"/>
                </a:cubicBezTo>
                <a:lnTo>
                  <a:pt x="0" y="130838"/>
                </a:lnTo>
                <a:cubicBezTo>
                  <a:pt x="0" y="145296"/>
                  <a:pt x="11710" y="157005"/>
                  <a:pt x="26168" y="157005"/>
                </a:cubicBezTo>
                <a:lnTo>
                  <a:pt x="157005" y="157005"/>
                </a:lnTo>
                <a:cubicBezTo>
                  <a:pt x="162795" y="157005"/>
                  <a:pt x="167473" y="152328"/>
                  <a:pt x="167473" y="146538"/>
                </a:cubicBezTo>
                <a:cubicBezTo>
                  <a:pt x="167473" y="140749"/>
                  <a:pt x="162795" y="136071"/>
                  <a:pt x="157005" y="136071"/>
                </a:cubicBezTo>
                <a:lnTo>
                  <a:pt x="26168" y="136071"/>
                </a:lnTo>
                <a:cubicBezTo>
                  <a:pt x="23289" y="136071"/>
                  <a:pt x="20934" y="133716"/>
                  <a:pt x="20934" y="130838"/>
                </a:cubicBezTo>
                <a:lnTo>
                  <a:pt x="20934" y="20934"/>
                </a:lnTo>
                <a:close/>
                <a:moveTo>
                  <a:pt x="153931" y="49260"/>
                </a:moveTo>
                <a:cubicBezTo>
                  <a:pt x="158019" y="45172"/>
                  <a:pt x="158019" y="38532"/>
                  <a:pt x="153931" y="34443"/>
                </a:cubicBezTo>
                <a:cubicBezTo>
                  <a:pt x="149842" y="30354"/>
                  <a:pt x="143202" y="30354"/>
                  <a:pt x="139113" y="34443"/>
                </a:cubicBezTo>
                <a:lnTo>
                  <a:pt x="104670" y="68919"/>
                </a:lnTo>
                <a:lnTo>
                  <a:pt x="85895" y="50176"/>
                </a:lnTo>
                <a:cubicBezTo>
                  <a:pt x="81806" y="46088"/>
                  <a:pt x="75166" y="46088"/>
                  <a:pt x="71078" y="50176"/>
                </a:cubicBezTo>
                <a:lnTo>
                  <a:pt x="39677" y="81577"/>
                </a:lnTo>
                <a:cubicBezTo>
                  <a:pt x="35588" y="85666"/>
                  <a:pt x="35588" y="92306"/>
                  <a:pt x="39677" y="96395"/>
                </a:cubicBezTo>
                <a:cubicBezTo>
                  <a:pt x="43765" y="100484"/>
                  <a:pt x="50405" y="100484"/>
                  <a:pt x="54494" y="96395"/>
                </a:cubicBezTo>
                <a:lnTo>
                  <a:pt x="78503" y="72386"/>
                </a:lnTo>
                <a:lnTo>
                  <a:pt x="97278" y="91161"/>
                </a:lnTo>
                <a:cubicBezTo>
                  <a:pt x="101367" y="95250"/>
                  <a:pt x="108007" y="95250"/>
                  <a:pt x="112095" y="91161"/>
                </a:cubicBezTo>
                <a:lnTo>
                  <a:pt x="153964" y="49293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9" name="Text 17"/>
          <p:cNvSpPr/>
          <p:nvPr/>
        </p:nvSpPr>
        <p:spPr>
          <a:xfrm>
            <a:off x="959618" y="3869449"/>
            <a:ext cx="274654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Accurate Models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9618" y="4070417"/>
            <a:ext cx="273817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achieved highest prediction accuracy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9310" y="4438856"/>
            <a:ext cx="5250264" cy="569407"/>
          </a:xfrm>
          <a:custGeom>
            <a:avLst/>
            <a:gdLst/>
            <a:ahLst/>
            <a:cxnLst/>
            <a:rect l="l" t="t" r="r" b="b"/>
            <a:pathLst>
              <a:path w="5250264" h="569407">
                <a:moveTo>
                  <a:pt x="33492" y="0"/>
                </a:moveTo>
                <a:lnTo>
                  <a:pt x="5216771" y="0"/>
                </a:lnTo>
                <a:cubicBezTo>
                  <a:pt x="5235269" y="0"/>
                  <a:pt x="5250264" y="14995"/>
                  <a:pt x="5250264" y="33492"/>
                </a:cubicBezTo>
                <a:lnTo>
                  <a:pt x="5250264" y="535914"/>
                </a:lnTo>
                <a:cubicBezTo>
                  <a:pt x="5250264" y="554411"/>
                  <a:pt x="5235269" y="569407"/>
                  <a:pt x="5216771" y="569407"/>
                </a:cubicBezTo>
                <a:lnTo>
                  <a:pt x="33492" y="569407"/>
                </a:lnTo>
                <a:cubicBezTo>
                  <a:pt x="14995" y="569407"/>
                  <a:pt x="0" y="554411"/>
                  <a:pt x="0" y="535914"/>
                </a:cubicBezTo>
                <a:lnTo>
                  <a:pt x="0" y="33492"/>
                </a:lnTo>
                <a:cubicBezTo>
                  <a:pt x="0" y="14995"/>
                  <a:pt x="14995" y="0"/>
                  <a:pt x="33492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1662" y="4572834"/>
            <a:ext cx="125604" cy="167473"/>
          </a:xfrm>
          <a:custGeom>
            <a:avLst/>
            <a:gdLst/>
            <a:ahLst/>
            <a:cxnLst/>
            <a:rect l="l" t="t" r="r" b="b"/>
            <a:pathLst>
              <a:path w="125604" h="167473">
                <a:moveTo>
                  <a:pt x="95806" y="125604"/>
                </a:moveTo>
                <a:cubicBezTo>
                  <a:pt x="98194" y="118310"/>
                  <a:pt x="102969" y="111703"/>
                  <a:pt x="108367" y="106011"/>
                </a:cubicBezTo>
                <a:cubicBezTo>
                  <a:pt x="119062" y="94759"/>
                  <a:pt x="125604" y="79549"/>
                  <a:pt x="125604" y="62802"/>
                </a:cubicBezTo>
                <a:cubicBezTo>
                  <a:pt x="125604" y="28130"/>
                  <a:pt x="97474" y="0"/>
                  <a:pt x="62802" y="0"/>
                </a:cubicBezTo>
                <a:cubicBezTo>
                  <a:pt x="28130" y="0"/>
                  <a:pt x="0" y="28130"/>
                  <a:pt x="0" y="62802"/>
                </a:cubicBezTo>
                <a:cubicBezTo>
                  <a:pt x="0" y="79549"/>
                  <a:pt x="6542" y="94759"/>
                  <a:pt x="17238" y="106011"/>
                </a:cubicBezTo>
                <a:cubicBezTo>
                  <a:pt x="22635" y="111703"/>
                  <a:pt x="27443" y="118310"/>
                  <a:pt x="29798" y="125604"/>
                </a:cubicBezTo>
                <a:lnTo>
                  <a:pt x="95773" y="125604"/>
                </a:lnTo>
                <a:close/>
                <a:moveTo>
                  <a:pt x="94203" y="141305"/>
                </a:moveTo>
                <a:lnTo>
                  <a:pt x="31401" y="141305"/>
                </a:lnTo>
                <a:lnTo>
                  <a:pt x="31401" y="146538"/>
                </a:lnTo>
                <a:cubicBezTo>
                  <a:pt x="31401" y="160996"/>
                  <a:pt x="43111" y="172706"/>
                  <a:pt x="57569" y="172706"/>
                </a:cubicBezTo>
                <a:lnTo>
                  <a:pt x="68036" y="172706"/>
                </a:lnTo>
                <a:cubicBezTo>
                  <a:pt x="82493" y="172706"/>
                  <a:pt x="94203" y="160996"/>
                  <a:pt x="94203" y="146538"/>
                </a:cubicBezTo>
                <a:lnTo>
                  <a:pt x="94203" y="141305"/>
                </a:lnTo>
                <a:close/>
                <a:moveTo>
                  <a:pt x="60185" y="36635"/>
                </a:moveTo>
                <a:cubicBezTo>
                  <a:pt x="47167" y="36635"/>
                  <a:pt x="36635" y="47167"/>
                  <a:pt x="36635" y="60185"/>
                </a:cubicBezTo>
                <a:cubicBezTo>
                  <a:pt x="36635" y="64536"/>
                  <a:pt x="33135" y="68036"/>
                  <a:pt x="28784" y="68036"/>
                </a:cubicBezTo>
                <a:cubicBezTo>
                  <a:pt x="24434" y="68036"/>
                  <a:pt x="20934" y="64536"/>
                  <a:pt x="20934" y="60185"/>
                </a:cubicBezTo>
                <a:cubicBezTo>
                  <a:pt x="20934" y="38499"/>
                  <a:pt x="38499" y="20934"/>
                  <a:pt x="60185" y="20934"/>
                </a:cubicBezTo>
                <a:cubicBezTo>
                  <a:pt x="64536" y="20934"/>
                  <a:pt x="68036" y="24434"/>
                  <a:pt x="68036" y="28784"/>
                </a:cubicBezTo>
                <a:cubicBezTo>
                  <a:pt x="68036" y="33135"/>
                  <a:pt x="64536" y="36635"/>
                  <a:pt x="60185" y="36635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23" name="Text 21"/>
          <p:cNvSpPr/>
          <p:nvPr/>
        </p:nvSpPr>
        <p:spPr>
          <a:xfrm>
            <a:off x="959618" y="4539340"/>
            <a:ext cx="229437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Delivered Business Insights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9618" y="4740307"/>
            <a:ext cx="228600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recommendations for operations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6435" y="2188029"/>
            <a:ext cx="5665596" cy="3295859"/>
          </a:xfrm>
          <a:custGeom>
            <a:avLst/>
            <a:gdLst/>
            <a:ahLst/>
            <a:cxnLst/>
            <a:rect l="l" t="t" r="r" b="b"/>
            <a:pathLst>
              <a:path w="5665596" h="3295859">
                <a:moveTo>
                  <a:pt x="67005" y="0"/>
                </a:moveTo>
                <a:lnTo>
                  <a:pt x="5598591" y="0"/>
                </a:lnTo>
                <a:cubicBezTo>
                  <a:pt x="5635597" y="0"/>
                  <a:pt x="5665596" y="29999"/>
                  <a:pt x="5665596" y="67005"/>
                </a:cubicBezTo>
                <a:lnTo>
                  <a:pt x="5665596" y="3228855"/>
                </a:lnTo>
                <a:cubicBezTo>
                  <a:pt x="5665596" y="3265860"/>
                  <a:pt x="5635597" y="3295859"/>
                  <a:pt x="5598591" y="3295859"/>
                </a:cubicBezTo>
                <a:lnTo>
                  <a:pt x="67005" y="3295859"/>
                </a:lnTo>
                <a:cubicBezTo>
                  <a:pt x="29999" y="3295859"/>
                  <a:pt x="0" y="3265860"/>
                  <a:pt x="0" y="3228855"/>
                </a:cubicBezTo>
                <a:lnTo>
                  <a:pt x="0" y="67005"/>
                </a:lnTo>
                <a:cubicBezTo>
                  <a:pt x="0" y="30024"/>
                  <a:pt x="30024" y="0"/>
                  <a:pt x="67005" y="0"/>
                </a:cubicBezTo>
                <a:close/>
              </a:path>
            </a:pathLst>
          </a:custGeom>
          <a:solidFill>
            <a:srgbClr val="1A1D21"/>
          </a:solidFill>
          <a:ln w="2032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4101" y="2395691"/>
            <a:ext cx="535912" cy="535912"/>
          </a:xfrm>
          <a:custGeom>
            <a:avLst/>
            <a:gdLst/>
            <a:ahLst/>
            <a:cxnLst/>
            <a:rect l="l" t="t" r="r" b="b"/>
            <a:pathLst>
              <a:path w="535912" h="535912">
                <a:moveTo>
                  <a:pt x="66989" y="0"/>
                </a:moveTo>
                <a:lnTo>
                  <a:pt x="468923" y="0"/>
                </a:lnTo>
                <a:cubicBezTo>
                  <a:pt x="505920" y="0"/>
                  <a:pt x="535912" y="29992"/>
                  <a:pt x="535912" y="66989"/>
                </a:cubicBezTo>
                <a:lnTo>
                  <a:pt x="535912" y="468923"/>
                </a:lnTo>
                <a:cubicBezTo>
                  <a:pt x="535912" y="505920"/>
                  <a:pt x="505920" y="535912"/>
                  <a:pt x="468923" y="535912"/>
                </a:cubicBezTo>
                <a:lnTo>
                  <a:pt x="66989" y="535912"/>
                </a:lnTo>
                <a:cubicBezTo>
                  <a:pt x="29992" y="535912"/>
                  <a:pt x="0" y="505920"/>
                  <a:pt x="0" y="468923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538546" y="2538043"/>
            <a:ext cx="251209" cy="251209"/>
          </a:xfrm>
          <a:custGeom>
            <a:avLst/>
            <a:gdLst/>
            <a:ahLst/>
            <a:cxnLst/>
            <a:rect l="l" t="t" r="r" b="b"/>
            <a:pathLst>
              <a:path w="251209" h="251209">
                <a:moveTo>
                  <a:pt x="0" y="39251"/>
                </a:moveTo>
                <a:cubicBezTo>
                  <a:pt x="0" y="26249"/>
                  <a:pt x="10549" y="15701"/>
                  <a:pt x="23551" y="15701"/>
                </a:cubicBezTo>
                <a:lnTo>
                  <a:pt x="70652" y="15701"/>
                </a:lnTo>
                <a:cubicBezTo>
                  <a:pt x="83654" y="15701"/>
                  <a:pt x="94203" y="26249"/>
                  <a:pt x="94203" y="39251"/>
                </a:cubicBezTo>
                <a:lnTo>
                  <a:pt x="94203" y="47102"/>
                </a:lnTo>
                <a:lnTo>
                  <a:pt x="157005" y="47102"/>
                </a:lnTo>
                <a:lnTo>
                  <a:pt x="157005" y="39251"/>
                </a:lnTo>
                <a:cubicBezTo>
                  <a:pt x="157005" y="26249"/>
                  <a:pt x="167554" y="15701"/>
                  <a:pt x="180556" y="15701"/>
                </a:cubicBezTo>
                <a:lnTo>
                  <a:pt x="227658" y="15701"/>
                </a:lnTo>
                <a:cubicBezTo>
                  <a:pt x="240660" y="15701"/>
                  <a:pt x="251209" y="26249"/>
                  <a:pt x="251209" y="39251"/>
                </a:cubicBezTo>
                <a:lnTo>
                  <a:pt x="251209" y="86353"/>
                </a:lnTo>
                <a:cubicBezTo>
                  <a:pt x="251209" y="99355"/>
                  <a:pt x="240660" y="109904"/>
                  <a:pt x="227658" y="109904"/>
                </a:cubicBezTo>
                <a:lnTo>
                  <a:pt x="180556" y="109904"/>
                </a:lnTo>
                <a:cubicBezTo>
                  <a:pt x="167554" y="109904"/>
                  <a:pt x="157005" y="99355"/>
                  <a:pt x="157005" y="86353"/>
                </a:cubicBezTo>
                <a:lnTo>
                  <a:pt x="157005" y="78503"/>
                </a:lnTo>
                <a:lnTo>
                  <a:pt x="94203" y="78503"/>
                </a:lnTo>
                <a:lnTo>
                  <a:pt x="94203" y="86353"/>
                </a:lnTo>
                <a:cubicBezTo>
                  <a:pt x="94203" y="89935"/>
                  <a:pt x="93369" y="93369"/>
                  <a:pt x="91946" y="96411"/>
                </a:cubicBezTo>
                <a:lnTo>
                  <a:pt x="125604" y="141305"/>
                </a:lnTo>
                <a:lnTo>
                  <a:pt x="164856" y="141305"/>
                </a:lnTo>
                <a:cubicBezTo>
                  <a:pt x="177858" y="141305"/>
                  <a:pt x="188407" y="151854"/>
                  <a:pt x="188407" y="164856"/>
                </a:cubicBezTo>
                <a:lnTo>
                  <a:pt x="188407" y="211957"/>
                </a:lnTo>
                <a:cubicBezTo>
                  <a:pt x="188407" y="224959"/>
                  <a:pt x="177858" y="235508"/>
                  <a:pt x="164856" y="235508"/>
                </a:cubicBezTo>
                <a:lnTo>
                  <a:pt x="117754" y="235508"/>
                </a:lnTo>
                <a:cubicBezTo>
                  <a:pt x="104752" y="235508"/>
                  <a:pt x="94203" y="224959"/>
                  <a:pt x="94203" y="211957"/>
                </a:cubicBezTo>
                <a:lnTo>
                  <a:pt x="94203" y="164856"/>
                </a:lnTo>
                <a:cubicBezTo>
                  <a:pt x="94203" y="161274"/>
                  <a:pt x="95037" y="157840"/>
                  <a:pt x="96460" y="154798"/>
                </a:cubicBezTo>
                <a:lnTo>
                  <a:pt x="62802" y="109904"/>
                </a:lnTo>
                <a:lnTo>
                  <a:pt x="23551" y="109904"/>
                </a:lnTo>
                <a:cubicBezTo>
                  <a:pt x="10549" y="109904"/>
                  <a:pt x="0" y="99355"/>
                  <a:pt x="0" y="86353"/>
                </a:cubicBezTo>
                <a:lnTo>
                  <a:pt x="0" y="3925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7063992" y="2529669"/>
            <a:ext cx="1691473" cy="26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8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Overview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4101" y="3099076"/>
            <a:ext cx="5250264" cy="468923"/>
          </a:xfrm>
          <a:custGeom>
            <a:avLst/>
            <a:gdLst/>
            <a:ahLst/>
            <a:cxnLst/>
            <a:rect l="l" t="t" r="r" b="b"/>
            <a:pathLst>
              <a:path w="5250264" h="468923">
                <a:moveTo>
                  <a:pt x="33495" y="0"/>
                </a:moveTo>
                <a:lnTo>
                  <a:pt x="5216769" y="0"/>
                </a:lnTo>
                <a:cubicBezTo>
                  <a:pt x="5235267" y="0"/>
                  <a:pt x="5250264" y="14996"/>
                  <a:pt x="5250264" y="33495"/>
                </a:cubicBezTo>
                <a:lnTo>
                  <a:pt x="5250264" y="435428"/>
                </a:lnTo>
                <a:cubicBezTo>
                  <a:pt x="5250264" y="453927"/>
                  <a:pt x="5235267" y="468923"/>
                  <a:pt x="5216769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4585" y="3199559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33978" y="0"/>
                </a:moveTo>
                <a:lnTo>
                  <a:pt x="133978" y="0"/>
                </a:lnTo>
                <a:cubicBezTo>
                  <a:pt x="207923" y="0"/>
                  <a:pt x="267956" y="60034"/>
                  <a:pt x="267956" y="133978"/>
                </a:cubicBezTo>
                <a:lnTo>
                  <a:pt x="267956" y="133978"/>
                </a:lnTo>
                <a:cubicBezTo>
                  <a:pt x="267956" y="207923"/>
                  <a:pt x="207923" y="267956"/>
                  <a:pt x="133978" y="267956"/>
                </a:cubicBezTo>
                <a:lnTo>
                  <a:pt x="133978" y="267956"/>
                </a:lnTo>
                <a:cubicBezTo>
                  <a:pt x="60034" y="267956"/>
                  <a:pt x="0" y="207923"/>
                  <a:pt x="0" y="133978"/>
                </a:cubicBezTo>
                <a:lnTo>
                  <a:pt x="0" y="133978"/>
                </a:lnTo>
                <a:cubicBezTo>
                  <a:pt x="0" y="60034"/>
                  <a:pt x="60034" y="0"/>
                  <a:pt x="13397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605116" y="3249801"/>
            <a:ext cx="108857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63024" y="3233054"/>
            <a:ext cx="184219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&amp; Preprocessing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4101" y="3668482"/>
            <a:ext cx="5250264" cy="468923"/>
          </a:xfrm>
          <a:custGeom>
            <a:avLst/>
            <a:gdLst/>
            <a:ahLst/>
            <a:cxnLst/>
            <a:rect l="l" t="t" r="r" b="b"/>
            <a:pathLst>
              <a:path w="5250264" h="468923">
                <a:moveTo>
                  <a:pt x="33495" y="0"/>
                </a:moveTo>
                <a:lnTo>
                  <a:pt x="5216769" y="0"/>
                </a:lnTo>
                <a:cubicBezTo>
                  <a:pt x="5235267" y="0"/>
                  <a:pt x="5250264" y="14996"/>
                  <a:pt x="5250264" y="33495"/>
                </a:cubicBezTo>
                <a:lnTo>
                  <a:pt x="5250264" y="435428"/>
                </a:lnTo>
                <a:cubicBezTo>
                  <a:pt x="5250264" y="453927"/>
                  <a:pt x="5235267" y="468923"/>
                  <a:pt x="5216769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94585" y="3768966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33978" y="0"/>
                </a:moveTo>
                <a:lnTo>
                  <a:pt x="133978" y="0"/>
                </a:lnTo>
                <a:cubicBezTo>
                  <a:pt x="207923" y="0"/>
                  <a:pt x="267956" y="60034"/>
                  <a:pt x="267956" y="133978"/>
                </a:cubicBezTo>
                <a:lnTo>
                  <a:pt x="267956" y="133978"/>
                </a:lnTo>
                <a:cubicBezTo>
                  <a:pt x="267956" y="207923"/>
                  <a:pt x="207923" y="267956"/>
                  <a:pt x="133978" y="267956"/>
                </a:cubicBezTo>
                <a:lnTo>
                  <a:pt x="133978" y="267956"/>
                </a:lnTo>
                <a:cubicBezTo>
                  <a:pt x="60034" y="267956"/>
                  <a:pt x="0" y="207923"/>
                  <a:pt x="0" y="133978"/>
                </a:cubicBezTo>
                <a:lnTo>
                  <a:pt x="0" y="133978"/>
                </a:lnTo>
                <a:cubicBezTo>
                  <a:pt x="0" y="60034"/>
                  <a:pt x="60034" y="0"/>
                  <a:pt x="133978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5" name="Text 33"/>
          <p:cNvSpPr/>
          <p:nvPr/>
        </p:nvSpPr>
        <p:spPr>
          <a:xfrm>
            <a:off x="6594440" y="3819208"/>
            <a:ext cx="125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63024" y="3802460"/>
            <a:ext cx="120580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4101" y="4237889"/>
            <a:ext cx="5250264" cy="468923"/>
          </a:xfrm>
          <a:custGeom>
            <a:avLst/>
            <a:gdLst/>
            <a:ahLst/>
            <a:cxnLst/>
            <a:rect l="l" t="t" r="r" b="b"/>
            <a:pathLst>
              <a:path w="5250264" h="468923">
                <a:moveTo>
                  <a:pt x="33495" y="0"/>
                </a:moveTo>
                <a:lnTo>
                  <a:pt x="5216769" y="0"/>
                </a:lnTo>
                <a:cubicBezTo>
                  <a:pt x="5235267" y="0"/>
                  <a:pt x="5250264" y="14996"/>
                  <a:pt x="5250264" y="33495"/>
                </a:cubicBezTo>
                <a:lnTo>
                  <a:pt x="5250264" y="435428"/>
                </a:lnTo>
                <a:cubicBezTo>
                  <a:pt x="5250264" y="453927"/>
                  <a:pt x="5235267" y="468923"/>
                  <a:pt x="5216769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94585" y="4338373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33978" y="0"/>
                </a:moveTo>
                <a:lnTo>
                  <a:pt x="133978" y="0"/>
                </a:lnTo>
                <a:cubicBezTo>
                  <a:pt x="207923" y="0"/>
                  <a:pt x="267956" y="60034"/>
                  <a:pt x="267956" y="133978"/>
                </a:cubicBezTo>
                <a:lnTo>
                  <a:pt x="267956" y="133978"/>
                </a:lnTo>
                <a:cubicBezTo>
                  <a:pt x="267956" y="207923"/>
                  <a:pt x="207923" y="267956"/>
                  <a:pt x="133978" y="267956"/>
                </a:cubicBezTo>
                <a:lnTo>
                  <a:pt x="133978" y="267956"/>
                </a:lnTo>
                <a:cubicBezTo>
                  <a:pt x="60034" y="267956"/>
                  <a:pt x="0" y="207923"/>
                  <a:pt x="0" y="133978"/>
                </a:cubicBezTo>
                <a:lnTo>
                  <a:pt x="0" y="133978"/>
                </a:lnTo>
                <a:cubicBezTo>
                  <a:pt x="0" y="60034"/>
                  <a:pt x="60034" y="0"/>
                  <a:pt x="133978" y="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39" name="Text 37"/>
          <p:cNvSpPr/>
          <p:nvPr/>
        </p:nvSpPr>
        <p:spPr>
          <a:xfrm>
            <a:off x="6593917" y="4388614"/>
            <a:ext cx="125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63024" y="4371867"/>
            <a:ext cx="154912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4101" y="4807296"/>
            <a:ext cx="5250264" cy="468923"/>
          </a:xfrm>
          <a:custGeom>
            <a:avLst/>
            <a:gdLst/>
            <a:ahLst/>
            <a:cxnLst/>
            <a:rect l="l" t="t" r="r" b="b"/>
            <a:pathLst>
              <a:path w="5250264" h="468923">
                <a:moveTo>
                  <a:pt x="33495" y="0"/>
                </a:moveTo>
                <a:lnTo>
                  <a:pt x="5216769" y="0"/>
                </a:lnTo>
                <a:cubicBezTo>
                  <a:pt x="5235267" y="0"/>
                  <a:pt x="5250264" y="14996"/>
                  <a:pt x="5250264" y="33495"/>
                </a:cubicBezTo>
                <a:lnTo>
                  <a:pt x="5250264" y="435428"/>
                </a:lnTo>
                <a:cubicBezTo>
                  <a:pt x="5250264" y="453927"/>
                  <a:pt x="5235267" y="468923"/>
                  <a:pt x="5216769" y="468923"/>
                </a:cubicBezTo>
                <a:lnTo>
                  <a:pt x="33495" y="468923"/>
                </a:lnTo>
                <a:cubicBezTo>
                  <a:pt x="14996" y="468923"/>
                  <a:pt x="0" y="453927"/>
                  <a:pt x="0" y="435428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D8A252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94585" y="4907779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133978" y="0"/>
                </a:moveTo>
                <a:lnTo>
                  <a:pt x="133978" y="0"/>
                </a:lnTo>
                <a:cubicBezTo>
                  <a:pt x="207923" y="0"/>
                  <a:pt x="267956" y="60034"/>
                  <a:pt x="267956" y="133978"/>
                </a:cubicBezTo>
                <a:lnTo>
                  <a:pt x="267956" y="133978"/>
                </a:lnTo>
                <a:cubicBezTo>
                  <a:pt x="267956" y="207923"/>
                  <a:pt x="207923" y="267956"/>
                  <a:pt x="133978" y="267956"/>
                </a:cubicBezTo>
                <a:lnTo>
                  <a:pt x="133978" y="267956"/>
                </a:lnTo>
                <a:cubicBezTo>
                  <a:pt x="60034" y="267956"/>
                  <a:pt x="0" y="207923"/>
                  <a:pt x="0" y="133978"/>
                </a:cubicBezTo>
                <a:lnTo>
                  <a:pt x="0" y="133978"/>
                </a:lnTo>
                <a:cubicBezTo>
                  <a:pt x="0" y="60034"/>
                  <a:pt x="60034" y="0"/>
                  <a:pt x="13397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3" name="Text 41"/>
          <p:cNvSpPr/>
          <p:nvPr/>
        </p:nvSpPr>
        <p:spPr>
          <a:xfrm>
            <a:off x="6594022" y="4958021"/>
            <a:ext cx="125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63024" y="4941274"/>
            <a:ext cx="165797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1644" y="5664768"/>
            <a:ext cx="11510387" cy="850760"/>
          </a:xfrm>
          <a:custGeom>
            <a:avLst/>
            <a:gdLst/>
            <a:ahLst/>
            <a:cxnLst/>
            <a:rect l="l" t="t" r="r" b="b"/>
            <a:pathLst>
              <a:path w="11510387" h="850760">
                <a:moveTo>
                  <a:pt x="66989" y="0"/>
                </a:moveTo>
                <a:lnTo>
                  <a:pt x="11443398" y="0"/>
                </a:lnTo>
                <a:cubicBezTo>
                  <a:pt x="11480395" y="0"/>
                  <a:pt x="11510387" y="29992"/>
                  <a:pt x="11510387" y="66989"/>
                </a:cubicBezTo>
                <a:lnTo>
                  <a:pt x="11510387" y="783772"/>
                </a:lnTo>
                <a:cubicBezTo>
                  <a:pt x="11510387" y="820768"/>
                  <a:pt x="11480395" y="850760"/>
                  <a:pt x="11443398" y="850760"/>
                </a:cubicBezTo>
                <a:lnTo>
                  <a:pt x="66989" y="850760"/>
                </a:lnTo>
                <a:cubicBezTo>
                  <a:pt x="29992" y="850760"/>
                  <a:pt x="0" y="820768"/>
                  <a:pt x="0" y="783772"/>
                </a:cubicBezTo>
                <a:lnTo>
                  <a:pt x="0" y="66989"/>
                </a:lnTo>
                <a:cubicBezTo>
                  <a:pt x="0" y="29992"/>
                  <a:pt x="29992" y="0"/>
                  <a:pt x="6698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D8A252">
                  <a:alpha val="20000"/>
                </a:srgbClr>
              </a:gs>
            </a:gsLst>
            <a:lin ang="0" scaled="1"/>
          </a:gradFill>
          <a:ln w="20320">
            <a:solidFill>
              <a:srgbClr val="D8A2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3497" y="5939420"/>
            <a:ext cx="301451" cy="301451"/>
          </a:xfrm>
          <a:custGeom>
            <a:avLst/>
            <a:gdLst/>
            <a:ahLst/>
            <a:cxnLst/>
            <a:rect l="l" t="t" r="r" b="b"/>
            <a:pathLst>
              <a:path w="301451" h="301451">
                <a:moveTo>
                  <a:pt x="84960" y="0"/>
                </a:moveTo>
                <a:lnTo>
                  <a:pt x="216844" y="0"/>
                </a:lnTo>
                <a:cubicBezTo>
                  <a:pt x="232447" y="0"/>
                  <a:pt x="245164" y="12835"/>
                  <a:pt x="244575" y="28379"/>
                </a:cubicBezTo>
                <a:cubicBezTo>
                  <a:pt x="244458" y="31499"/>
                  <a:pt x="244340" y="34620"/>
                  <a:pt x="244163" y="37681"/>
                </a:cubicBezTo>
                <a:lnTo>
                  <a:pt x="273366" y="37681"/>
                </a:lnTo>
                <a:cubicBezTo>
                  <a:pt x="288733" y="37681"/>
                  <a:pt x="302275" y="50399"/>
                  <a:pt x="301097" y="67002"/>
                </a:cubicBezTo>
                <a:cubicBezTo>
                  <a:pt x="296682" y="128058"/>
                  <a:pt x="265477" y="161618"/>
                  <a:pt x="231622" y="179163"/>
                </a:cubicBezTo>
                <a:cubicBezTo>
                  <a:pt x="222320" y="183991"/>
                  <a:pt x="212841" y="187582"/>
                  <a:pt x="203832" y="190232"/>
                </a:cubicBezTo>
                <a:cubicBezTo>
                  <a:pt x="191939" y="207071"/>
                  <a:pt x="179575" y="215961"/>
                  <a:pt x="169743" y="220730"/>
                </a:cubicBezTo>
                <a:lnTo>
                  <a:pt x="169743" y="263769"/>
                </a:lnTo>
                <a:lnTo>
                  <a:pt x="207424" y="263769"/>
                </a:lnTo>
                <a:cubicBezTo>
                  <a:pt x="217845" y="263769"/>
                  <a:pt x="226265" y="272189"/>
                  <a:pt x="226265" y="282610"/>
                </a:cubicBezTo>
                <a:cubicBezTo>
                  <a:pt x="226265" y="293031"/>
                  <a:pt x="217845" y="301451"/>
                  <a:pt x="207424" y="301451"/>
                </a:cubicBezTo>
                <a:lnTo>
                  <a:pt x="94380" y="301451"/>
                </a:lnTo>
                <a:cubicBezTo>
                  <a:pt x="83959" y="301451"/>
                  <a:pt x="75539" y="293031"/>
                  <a:pt x="75539" y="282610"/>
                </a:cubicBezTo>
                <a:cubicBezTo>
                  <a:pt x="75539" y="272189"/>
                  <a:pt x="83959" y="263769"/>
                  <a:pt x="94380" y="263769"/>
                </a:cubicBezTo>
                <a:lnTo>
                  <a:pt x="132061" y="263769"/>
                </a:lnTo>
                <a:lnTo>
                  <a:pt x="132061" y="220730"/>
                </a:lnTo>
                <a:cubicBezTo>
                  <a:pt x="122641" y="216197"/>
                  <a:pt x="110924" y="207777"/>
                  <a:pt x="99502" y="192292"/>
                </a:cubicBezTo>
                <a:cubicBezTo>
                  <a:pt x="88669" y="189466"/>
                  <a:pt x="76893" y="185168"/>
                  <a:pt x="65412" y="178692"/>
                </a:cubicBezTo>
                <a:cubicBezTo>
                  <a:pt x="33560" y="160852"/>
                  <a:pt x="4828" y="127233"/>
                  <a:pt x="707" y="66884"/>
                </a:cubicBezTo>
                <a:cubicBezTo>
                  <a:pt x="-412" y="50340"/>
                  <a:pt x="13071" y="37622"/>
                  <a:pt x="28438" y="37622"/>
                </a:cubicBezTo>
                <a:lnTo>
                  <a:pt x="57641" y="37622"/>
                </a:lnTo>
                <a:cubicBezTo>
                  <a:pt x="57464" y="34561"/>
                  <a:pt x="57346" y="31499"/>
                  <a:pt x="57229" y="28320"/>
                </a:cubicBezTo>
                <a:cubicBezTo>
                  <a:pt x="56640" y="12717"/>
                  <a:pt x="69357" y="-59"/>
                  <a:pt x="84960" y="-59"/>
                </a:cubicBezTo>
                <a:close/>
                <a:moveTo>
                  <a:pt x="59760" y="65942"/>
                </a:moveTo>
                <a:lnTo>
                  <a:pt x="28909" y="65942"/>
                </a:lnTo>
                <a:cubicBezTo>
                  <a:pt x="32559" y="115811"/>
                  <a:pt x="55462" y="140775"/>
                  <a:pt x="79072" y="154022"/>
                </a:cubicBezTo>
                <a:cubicBezTo>
                  <a:pt x="70594" y="132061"/>
                  <a:pt x="63587" y="103388"/>
                  <a:pt x="59760" y="65942"/>
                </a:cubicBezTo>
                <a:close/>
                <a:moveTo>
                  <a:pt x="223733" y="151196"/>
                </a:moveTo>
                <a:cubicBezTo>
                  <a:pt x="247578" y="137184"/>
                  <a:pt x="269127" y="112279"/>
                  <a:pt x="272777" y="65942"/>
                </a:cubicBezTo>
                <a:lnTo>
                  <a:pt x="241985" y="65942"/>
                </a:lnTo>
                <a:cubicBezTo>
                  <a:pt x="238334" y="101798"/>
                  <a:pt x="231740" y="129647"/>
                  <a:pt x="223733" y="151196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47" name="Text 45"/>
          <p:cNvSpPr/>
          <p:nvPr/>
        </p:nvSpPr>
        <p:spPr>
          <a:xfrm>
            <a:off x="1026607" y="5838936"/>
            <a:ext cx="5610330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26607" y="6140387"/>
            <a:ext cx="559358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demonstrated the power of </a:t>
            </a:r>
            <a:pPr>
              <a:lnSpc>
                <a:spcPct val="130000"/>
              </a:lnSpc>
            </a:pPr>
            <a:r>
              <a:rPr lang="en-US" sz="1055" b="1" dirty="0">
                <a:solidFill>
                  <a:srgbClr val="D8A2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 in transportation</a:t>
            </a:r>
            <a:pPr>
              <a:lnSpc>
                <a:spcPct val="130000"/>
              </a:lnSpc>
            </a:pPr>
            <a:r>
              <a:rPr lang="en-US" sz="105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pricing optimization.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9b83a0e65a36f0d49232c0bc3844f08d76cb5e9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2687" b="126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86281" y="582941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8A252"/>
              </a:gs>
              <a:gs pos="100000">
                <a:srgbClr val="4A6C8C"/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845850" y="906791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485329" y="78246"/>
                </a:moveTo>
                <a:cubicBezTo>
                  <a:pt x="501290" y="89855"/>
                  <a:pt x="504862" y="112179"/>
                  <a:pt x="493254" y="128141"/>
                </a:cubicBezTo>
                <a:lnTo>
                  <a:pt x="207504" y="521047"/>
                </a:lnTo>
                <a:cubicBezTo>
                  <a:pt x="201364" y="529530"/>
                  <a:pt x="191877" y="534777"/>
                  <a:pt x="181384" y="535670"/>
                </a:cubicBezTo>
                <a:cubicBezTo>
                  <a:pt x="170892" y="536563"/>
                  <a:pt x="160734" y="532656"/>
                  <a:pt x="153367" y="525289"/>
                </a:cubicBezTo>
                <a:lnTo>
                  <a:pt x="10492" y="382414"/>
                </a:lnTo>
                <a:cubicBezTo>
                  <a:pt x="-3460" y="368461"/>
                  <a:pt x="-3460" y="345802"/>
                  <a:pt x="10492" y="331850"/>
                </a:cubicBezTo>
                <a:cubicBezTo>
                  <a:pt x="24445" y="317897"/>
                  <a:pt x="47104" y="317897"/>
                  <a:pt x="61057" y="331850"/>
                </a:cubicBezTo>
                <a:lnTo>
                  <a:pt x="174352" y="445145"/>
                </a:lnTo>
                <a:lnTo>
                  <a:pt x="435546" y="86060"/>
                </a:lnTo>
                <a:cubicBezTo>
                  <a:pt x="447154" y="70098"/>
                  <a:pt x="469478" y="66526"/>
                  <a:pt x="485440" y="7813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Text 3"/>
          <p:cNvSpPr/>
          <p:nvPr/>
        </p:nvSpPr>
        <p:spPr>
          <a:xfrm>
            <a:off x="4334113" y="2106941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281" y="302134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8" name="Text 5"/>
          <p:cNvSpPr/>
          <p:nvPr/>
        </p:nvSpPr>
        <p:spPr>
          <a:xfrm>
            <a:off x="4434126" y="3364241"/>
            <a:ext cx="3324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14055" y="4091951"/>
            <a:ext cx="1912620" cy="1226820"/>
          </a:xfrm>
          <a:custGeom>
            <a:avLst/>
            <a:gdLst/>
            <a:ahLst/>
            <a:cxnLst/>
            <a:rect l="l" t="t" r="r" b="b"/>
            <a:pathLst>
              <a:path w="1912620" h="1226820">
                <a:moveTo>
                  <a:pt x="76198" y="0"/>
                </a:moveTo>
                <a:lnTo>
                  <a:pt x="1836422" y="0"/>
                </a:lnTo>
                <a:cubicBezTo>
                  <a:pt x="1878505" y="0"/>
                  <a:pt x="1912620" y="34115"/>
                  <a:pt x="1912620" y="76198"/>
                </a:cubicBezTo>
                <a:lnTo>
                  <a:pt x="1912620" y="1150622"/>
                </a:lnTo>
                <a:cubicBezTo>
                  <a:pt x="1912620" y="1192705"/>
                  <a:pt x="1878505" y="1226820"/>
                  <a:pt x="183642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99034" y="4324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2147" y="42863"/>
                </a:moveTo>
                <a:cubicBezTo>
                  <a:pt x="14399" y="42863"/>
                  <a:pt x="0" y="57262"/>
                  <a:pt x="0" y="75009"/>
                </a:cubicBezTo>
                <a:cubicBezTo>
                  <a:pt x="0" y="85122"/>
                  <a:pt x="4755" y="94632"/>
                  <a:pt x="12859" y="100727"/>
                </a:cubicBezTo>
                <a:lnTo>
                  <a:pt x="152162" y="205204"/>
                </a:lnTo>
                <a:cubicBezTo>
                  <a:pt x="163614" y="213777"/>
                  <a:pt x="179286" y="213777"/>
                  <a:pt x="190738" y="205204"/>
                </a:cubicBezTo>
                <a:lnTo>
                  <a:pt x="330041" y="100727"/>
                </a:lnTo>
                <a:cubicBezTo>
                  <a:pt x="338145" y="94632"/>
                  <a:pt x="342900" y="85122"/>
                  <a:pt x="342900" y="75009"/>
                </a:cubicBezTo>
                <a:cubicBezTo>
                  <a:pt x="342900" y="57262"/>
                  <a:pt x="328501" y="42862"/>
                  <a:pt x="310753" y="42862"/>
                </a:cubicBezTo>
                <a:lnTo>
                  <a:pt x="32147" y="42863"/>
                </a:lnTo>
                <a:close/>
                <a:moveTo>
                  <a:pt x="0" y="131266"/>
                </a:moveTo>
                <a:lnTo>
                  <a:pt x="0" y="257175"/>
                </a:lnTo>
                <a:cubicBezTo>
                  <a:pt x="0" y="280816"/>
                  <a:pt x="19221" y="300038"/>
                  <a:pt x="42863" y="300038"/>
                </a:cubicBezTo>
                <a:lnTo>
                  <a:pt x="300038" y="300038"/>
                </a:lnTo>
                <a:cubicBezTo>
                  <a:pt x="323679" y="300038"/>
                  <a:pt x="342900" y="280816"/>
                  <a:pt x="342900" y="257175"/>
                </a:cubicBezTo>
                <a:lnTo>
                  <a:pt x="342900" y="131266"/>
                </a:lnTo>
                <a:lnTo>
                  <a:pt x="210026" y="230922"/>
                </a:lnTo>
                <a:cubicBezTo>
                  <a:pt x="187189" y="248067"/>
                  <a:pt x="155711" y="248067"/>
                  <a:pt x="132874" y="230922"/>
                </a:cubicBezTo>
                <a:lnTo>
                  <a:pt x="0" y="131266"/>
                </a:ln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1" name="Text 8"/>
          <p:cNvSpPr/>
          <p:nvPr/>
        </p:nvSpPr>
        <p:spPr>
          <a:xfrm>
            <a:off x="3103602" y="481965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39452" y="4091951"/>
            <a:ext cx="1912620" cy="1226820"/>
          </a:xfrm>
          <a:custGeom>
            <a:avLst/>
            <a:gdLst/>
            <a:ahLst/>
            <a:cxnLst/>
            <a:rect l="l" t="t" r="r" b="b"/>
            <a:pathLst>
              <a:path w="1912620" h="1226820">
                <a:moveTo>
                  <a:pt x="76198" y="0"/>
                </a:moveTo>
                <a:lnTo>
                  <a:pt x="1836422" y="0"/>
                </a:lnTo>
                <a:cubicBezTo>
                  <a:pt x="1878505" y="0"/>
                  <a:pt x="1912620" y="34115"/>
                  <a:pt x="1912620" y="76198"/>
                </a:cubicBezTo>
                <a:lnTo>
                  <a:pt x="1912620" y="1150622"/>
                </a:lnTo>
                <a:cubicBezTo>
                  <a:pt x="1912620" y="1192705"/>
                  <a:pt x="1878505" y="1226820"/>
                  <a:pt x="183642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 w="1016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03000" y="43243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57175" y="96441"/>
                </a:moveTo>
                <a:cubicBezTo>
                  <a:pt x="257175" y="161538"/>
                  <a:pt x="199579" y="214313"/>
                  <a:pt x="128588" y="214313"/>
                </a:cubicBezTo>
                <a:cubicBezTo>
                  <a:pt x="110706" y="214313"/>
                  <a:pt x="93695" y="210964"/>
                  <a:pt x="78224" y="204936"/>
                </a:cubicBezTo>
                <a:lnTo>
                  <a:pt x="23574" y="233869"/>
                </a:lnTo>
                <a:cubicBezTo>
                  <a:pt x="17346" y="237150"/>
                  <a:pt x="9711" y="236012"/>
                  <a:pt x="4688" y="231056"/>
                </a:cubicBezTo>
                <a:cubicBezTo>
                  <a:pt x="-335" y="226100"/>
                  <a:pt x="-1473" y="218398"/>
                  <a:pt x="1875" y="212169"/>
                </a:cubicBezTo>
                <a:lnTo>
                  <a:pt x="25718" y="167164"/>
                </a:lnTo>
                <a:cubicBezTo>
                  <a:pt x="9577" y="147474"/>
                  <a:pt x="0" y="122962"/>
                  <a:pt x="0" y="96441"/>
                </a:cubicBezTo>
                <a:cubicBezTo>
                  <a:pt x="0" y="31343"/>
                  <a:pt x="57596" y="-21431"/>
                  <a:pt x="128588" y="-21431"/>
                </a:cubicBezTo>
                <a:cubicBezTo>
                  <a:pt x="199579" y="-21431"/>
                  <a:pt x="257175" y="31343"/>
                  <a:pt x="257175" y="96441"/>
                </a:cubicBezTo>
                <a:close/>
                <a:moveTo>
                  <a:pt x="257175" y="342900"/>
                </a:moveTo>
                <a:cubicBezTo>
                  <a:pt x="194154" y="342900"/>
                  <a:pt x="141714" y="301310"/>
                  <a:pt x="130731" y="246459"/>
                </a:cubicBezTo>
                <a:cubicBezTo>
                  <a:pt x="211098" y="245455"/>
                  <a:pt x="280950" y="188260"/>
                  <a:pt x="288652" y="110706"/>
                </a:cubicBezTo>
                <a:cubicBezTo>
                  <a:pt x="344440" y="123565"/>
                  <a:pt x="385763" y="169843"/>
                  <a:pt x="385763" y="225028"/>
                </a:cubicBezTo>
                <a:cubicBezTo>
                  <a:pt x="385763" y="251549"/>
                  <a:pt x="376185" y="276061"/>
                  <a:pt x="360045" y="295751"/>
                </a:cubicBezTo>
                <a:lnTo>
                  <a:pt x="383887" y="340757"/>
                </a:lnTo>
                <a:cubicBezTo>
                  <a:pt x="387169" y="346985"/>
                  <a:pt x="386030" y="354620"/>
                  <a:pt x="381074" y="359643"/>
                </a:cubicBezTo>
                <a:cubicBezTo>
                  <a:pt x="376118" y="364666"/>
                  <a:pt x="368417" y="365805"/>
                  <a:pt x="362188" y="362456"/>
                </a:cubicBezTo>
                <a:lnTo>
                  <a:pt x="307538" y="333524"/>
                </a:lnTo>
                <a:cubicBezTo>
                  <a:pt x="292068" y="339551"/>
                  <a:pt x="275057" y="342900"/>
                  <a:pt x="257175" y="342900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4" name="Text 11"/>
          <p:cNvSpPr/>
          <p:nvPr/>
        </p:nvSpPr>
        <p:spPr>
          <a:xfrm>
            <a:off x="5329000" y="481965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for Questions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64849" y="4091951"/>
            <a:ext cx="1912620" cy="1226820"/>
          </a:xfrm>
          <a:custGeom>
            <a:avLst/>
            <a:gdLst/>
            <a:ahLst/>
            <a:cxnLst/>
            <a:rect l="l" t="t" r="r" b="b"/>
            <a:pathLst>
              <a:path w="1912620" h="1226820">
                <a:moveTo>
                  <a:pt x="76198" y="0"/>
                </a:moveTo>
                <a:lnTo>
                  <a:pt x="1836422" y="0"/>
                </a:lnTo>
                <a:cubicBezTo>
                  <a:pt x="1878505" y="0"/>
                  <a:pt x="1912620" y="34115"/>
                  <a:pt x="1912620" y="76198"/>
                </a:cubicBezTo>
                <a:lnTo>
                  <a:pt x="1912620" y="1150622"/>
                </a:lnTo>
                <a:cubicBezTo>
                  <a:pt x="1912620" y="1192705"/>
                  <a:pt x="1878505" y="1226820"/>
                  <a:pt x="1836422" y="1226820"/>
                </a:cubicBezTo>
                <a:lnTo>
                  <a:pt x="76198" y="1226820"/>
                </a:lnTo>
                <a:cubicBezTo>
                  <a:pt x="34143" y="1226820"/>
                  <a:pt x="0" y="1192677"/>
                  <a:pt x="0" y="11506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D8A252">
              <a:alpha val="20000"/>
            </a:srgbClr>
          </a:solidFill>
          <a:ln w="10160">
            <a:solidFill>
              <a:srgbClr val="D8A252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28397" y="43243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80089" y="57061"/>
                </a:moveTo>
                <a:lnTo>
                  <a:pt x="101999" y="143857"/>
                </a:lnTo>
                <a:cubicBezTo>
                  <a:pt x="98919" y="147273"/>
                  <a:pt x="99053" y="152564"/>
                  <a:pt x="102334" y="155845"/>
                </a:cubicBezTo>
                <a:cubicBezTo>
                  <a:pt x="122761" y="176272"/>
                  <a:pt x="155912" y="176272"/>
                  <a:pt x="176339" y="155845"/>
                </a:cubicBezTo>
                <a:lnTo>
                  <a:pt x="197636" y="134548"/>
                </a:lnTo>
                <a:cubicBezTo>
                  <a:pt x="200449" y="131735"/>
                  <a:pt x="203999" y="130195"/>
                  <a:pt x="207615" y="129927"/>
                </a:cubicBezTo>
                <a:cubicBezTo>
                  <a:pt x="212169" y="129525"/>
                  <a:pt x="216857" y="131065"/>
                  <a:pt x="220340" y="134548"/>
                </a:cubicBezTo>
                <a:lnTo>
                  <a:pt x="338614" y="251817"/>
                </a:lnTo>
                <a:lnTo>
                  <a:pt x="385763" y="214313"/>
                </a:lnTo>
                <a:lnTo>
                  <a:pt x="385763" y="21431"/>
                </a:lnTo>
                <a:lnTo>
                  <a:pt x="310753" y="64294"/>
                </a:lnTo>
                <a:lnTo>
                  <a:pt x="294814" y="53645"/>
                </a:lnTo>
                <a:cubicBezTo>
                  <a:pt x="284232" y="46613"/>
                  <a:pt x="271842" y="42863"/>
                  <a:pt x="259117" y="42863"/>
                </a:cubicBezTo>
                <a:lnTo>
                  <a:pt x="211968" y="42863"/>
                </a:lnTo>
                <a:cubicBezTo>
                  <a:pt x="211232" y="42863"/>
                  <a:pt x="210428" y="42863"/>
                  <a:pt x="209691" y="42929"/>
                </a:cubicBezTo>
                <a:cubicBezTo>
                  <a:pt x="198373" y="43532"/>
                  <a:pt x="187724" y="48622"/>
                  <a:pt x="180089" y="57061"/>
                </a:cubicBezTo>
                <a:close/>
                <a:moveTo>
                  <a:pt x="78090" y="122359"/>
                </a:moveTo>
                <a:lnTo>
                  <a:pt x="149617" y="42863"/>
                </a:lnTo>
                <a:lnTo>
                  <a:pt x="123096" y="42863"/>
                </a:lnTo>
                <a:cubicBezTo>
                  <a:pt x="106018" y="42863"/>
                  <a:pt x="89676" y="49627"/>
                  <a:pt x="77621" y="61682"/>
                </a:cubicBezTo>
                <a:lnTo>
                  <a:pt x="75009" y="64294"/>
                </a:lnTo>
                <a:lnTo>
                  <a:pt x="0" y="21431"/>
                </a:lnTo>
                <a:lnTo>
                  <a:pt x="0" y="214313"/>
                </a:lnTo>
                <a:lnTo>
                  <a:pt x="104745" y="301578"/>
                </a:lnTo>
                <a:cubicBezTo>
                  <a:pt x="120149" y="314437"/>
                  <a:pt x="139571" y="321469"/>
                  <a:pt x="159596" y="321469"/>
                </a:cubicBezTo>
                <a:lnTo>
                  <a:pt x="170111" y="321469"/>
                </a:lnTo>
                <a:lnTo>
                  <a:pt x="165422" y="316781"/>
                </a:lnTo>
                <a:cubicBezTo>
                  <a:pt x="159127" y="310485"/>
                  <a:pt x="159127" y="300305"/>
                  <a:pt x="165422" y="294077"/>
                </a:cubicBezTo>
                <a:cubicBezTo>
                  <a:pt x="171718" y="287848"/>
                  <a:pt x="181898" y="287782"/>
                  <a:pt x="188126" y="294077"/>
                </a:cubicBezTo>
                <a:lnTo>
                  <a:pt x="215585" y="321536"/>
                </a:lnTo>
                <a:lnTo>
                  <a:pt x="221613" y="321536"/>
                </a:lnTo>
                <a:cubicBezTo>
                  <a:pt x="234404" y="321536"/>
                  <a:pt x="246928" y="318656"/>
                  <a:pt x="258314" y="313298"/>
                </a:cubicBezTo>
                <a:lnTo>
                  <a:pt x="240432" y="295349"/>
                </a:lnTo>
                <a:cubicBezTo>
                  <a:pt x="234136" y="289054"/>
                  <a:pt x="234136" y="278874"/>
                  <a:pt x="240432" y="272646"/>
                </a:cubicBezTo>
                <a:cubicBezTo>
                  <a:pt x="246727" y="266417"/>
                  <a:pt x="256907" y="266350"/>
                  <a:pt x="263136" y="272646"/>
                </a:cubicBezTo>
                <a:lnTo>
                  <a:pt x="284567" y="294077"/>
                </a:lnTo>
                <a:lnTo>
                  <a:pt x="296287" y="282357"/>
                </a:lnTo>
                <a:cubicBezTo>
                  <a:pt x="302248" y="276396"/>
                  <a:pt x="303989" y="267757"/>
                  <a:pt x="301377" y="260189"/>
                </a:cubicBezTo>
                <a:lnTo>
                  <a:pt x="209022" y="168570"/>
                </a:lnTo>
                <a:lnTo>
                  <a:pt x="199043" y="178549"/>
                </a:lnTo>
                <a:cubicBezTo>
                  <a:pt x="166025" y="211567"/>
                  <a:pt x="112581" y="211567"/>
                  <a:pt x="79564" y="178549"/>
                </a:cubicBezTo>
                <a:cubicBezTo>
                  <a:pt x="64160" y="163145"/>
                  <a:pt x="63557" y="138432"/>
                  <a:pt x="78090" y="122292"/>
                </a:cubicBezTo>
                <a:close/>
              </a:path>
            </a:pathLst>
          </a:custGeom>
          <a:solidFill>
            <a:srgbClr val="D8A252"/>
          </a:solidFill>
          <a:ln/>
        </p:spPr>
      </p:sp>
      <p:sp>
        <p:nvSpPr>
          <p:cNvPr id="17" name="Text 14"/>
          <p:cNvSpPr/>
          <p:nvPr/>
        </p:nvSpPr>
        <p:spPr>
          <a:xfrm>
            <a:off x="7554396" y="481965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Collaborate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927991" y="5703577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by: Hossam Nady Mohamed &amp; Mohamed Naser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932754" y="6046477"/>
            <a:ext cx="432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Date: 14/2/2026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Taxi Fare Prediction Using Machine Learning</dc:title>
  <dc:subject>Taxi Fare Prediction Using Machine Learning</dc:subject>
  <dc:creator>Kimi</dc:creator>
  <cp:lastModifiedBy>Kimi</cp:lastModifiedBy>
  <cp:revision>1</cp:revision>
  <dcterms:created xsi:type="dcterms:W3CDTF">2026-02-13T06:53:52Z</dcterms:created>
  <dcterms:modified xsi:type="dcterms:W3CDTF">2026-02-13T06:53:52Z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{"Label":"Taxi Fare Prediction Using Machine Learning","ContentProducer":"001191110108MACG2KBH8F10000","ProduceID":"19c55bc6-fad2-8048-8000-000025fa7684","ReservedCode1":"","ContentPropagator":"001191110108MACG2KBH8F20000","PropagateID":"19c55bc6-fad2-8048-8000-000025fa7684","ReservedCode2":""}</vt:lpwstr>
  </property>
</Properties>
</file>